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charts/chart1.xml" ContentType="application/vnd.openxmlformats-officedocument.drawingml.chart+xml"/>
  <Override PartName="/ppt/charts/chart2.xml" ContentType="application/vnd.openxmlformats-officedocument.drawingml.chart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slideMasters/slideMaster17.xml" ContentType="application/vnd.openxmlformats-officedocument.presentationml.slideMaster+xml"/>
  <Override PartName="/ppt/slides/slide17.xml" ContentType="application/vnd.openxmlformats-officedocument.presentationml.slide+xml"/>
  <Override PartName="/ppt/slideMasters/slideMaster18.xml" ContentType="application/vnd.openxmlformats-officedocument.presentationml.slideMaster+xml"/>
  <Override PartName="/ppt/slides/slide18.xml" ContentType="application/vnd.openxmlformats-officedocument.presentationml.slide+xml"/>
  <Override PartName="/ppt/slideMasters/slideMaster19.xml" ContentType="application/vnd.openxmlformats-officedocument.presentationml.slideMaster+xml"/>
  <Override PartName="/ppt/slides/slide19.xml" ContentType="application/vnd.openxmlformats-officedocument.presentationml.slide+xml"/>
  <Override PartName="/ppt/slideMasters/slideMaster20.xml" ContentType="application/vnd.openxmlformats-officedocument.presentationml.slideMaster+xml"/>
  <Override PartName="/ppt/slides/slide20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</p:sldIdLst>
  <p:notesMasterIdLst>
    <p:notesMasterId r:id="rId22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521415D9-36F7-43E2-AB2F-B90AF26B5E84}">
      <p14:sectionLst xmlns:p14="http://schemas.microsoft.com/office/powerpoint/2010/main">
        <p14:section name="Pembuka" id="{94102b2e-79a9-0b3e-ee97-686f572d4ad2}">
          <p14:sldIdLst>
            <p14:sldId id="256"/>
            <p14:sldId id="257"/>
          </p14:sldIdLst>
        </p14:section>
        <p14:section name="Masalah" id="{9680cb9b-ee35-92ae-b111-fef1aa1598f2}">
          <p14:sldIdLst>
            <p14:sldId id="258"/>
            <p14:sldId id="259"/>
          </p14:sldIdLst>
        </p14:section>
        <p14:section name="Solusi" id="{829b1b3c-1ab8-b216-364f-204e48df63e2}">
          <p14:sldIdLst>
            <p14:sldId id="260"/>
            <p14:sldId id="261"/>
            <p14:sldId id="262"/>
          </p14:sldIdLst>
        </p14:section>
        <p14:section name="Teknis &amp; data" id="{692893a6-af8c-23b9-10ff-c6137a66acd9}">
          <p14:sldIdLst>
            <p14:sldId id="263"/>
            <p14:sldId id="264"/>
            <p14:sldId id="265"/>
          </p14:sldIdLst>
        </p14:section>
        <p14:section name="Hasil" id="{d694369f-abee-d948-bac3-9ca02abad5ea}">
          <p14:sldIdLst>
            <p14:sldId id="266"/>
            <p14:sldId id="267"/>
            <p14:sldId id="268"/>
          </p14:sldIdLst>
        </p14:section>
        <p14:section name="Rencana" id="{f4ddb6bc-b73b-c7c2-1543-143fb6265511}">
          <p14:sldIdLst>
            <p14:sldId id="269"/>
            <p14:sldId id="270"/>
          </p14:sldIdLst>
        </p14:section>
        <p14:section name="Dampak" id="{8c445ee7-901a-30db-61dc-bcd1af5c2c22}">
          <p14:sldIdLst>
            <p14:sldId id="271"/>
            <p14:sldId id="272"/>
            <p14:sldId id="273"/>
          </p14:sldIdLst>
        </p14:section>
        <p14:section name="Tim &amp; penutup" id="{68fc89b6-83ba-dca2-b925-1f488ce0c9dd}">
          <p14:sldIdLst>
            <p14:sldId id="274"/>
            <p14:sldId id="275"/>
          </p14:sldIdLst>
        </p14:section>
      </p14:sectionLst>
    </p:ex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slide" Target="slides/slide19.xml"/><Relationship Id="rId21" Type="http://schemas.openxmlformats.org/officeDocument/2006/relationships/slide" Target="slides/slide20.xml"/><Relationship Id="rId22" Type="http://schemas.openxmlformats.org/officeDocument/2006/relationships/notesMaster" Target="notesMasters/notesMaster1.xml"/><Relationship Id="rId23" Type="http://schemas.openxmlformats.org/officeDocument/2006/relationships/presProps" Target="presProps.xml"/><Relationship Id="rId24" Type="http://schemas.openxmlformats.org/officeDocument/2006/relationships/viewProps" Target="viewProps.xml"/><Relationship Id="rId25" Type="http://schemas.openxmlformats.org/officeDocument/2006/relationships/theme" Target="theme/theme1.xml"/><Relationship Id="rId26" Type="http://schemas.openxmlformats.org/officeDocument/2006/relationships/tableStyles" Target="tableStyles.xml"/></Relationships>
</file>

<file path=ppt/charts/_rels/chart1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1.xlsx"/></Relationships>
</file>

<file path=ppt/charts/_rels/chart2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2.xlsx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title>
      <c:tx>
        <c:rich>
          <a:bodyPr/>
          <a:lstStyle/>
          <a:p>
            <a:pPr>
              <a:defRPr sz="1500" b="0" i="0" u="none" strike="noStrike">
                <a:solidFill>
                  <a:srgbClr val="172A30"/>
                </a:solidFill>
                <a:latin typeface="+mj-lt"/>
              </a:defRPr>
            </a:pPr>
            <a:r>
              <a:rPr sz="1500" b="0" i="0" u="none" strike="noStrike">
                <a:solidFill>
                  <a:srgbClr val="172A30"/>
                </a:solidFill>
                <a:latin typeface="+mj-lt"/>
              </a:rPr>
              <a:t>Precision pada 10% skor tertinggi</a:t>
            </a:r>
          </a:p>
        </c:rich>
      </c:tx>
      <c:layout/>
      <c:overlay val="0"/>
    </c:title>
    <c:autoTitleDeleted val="0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Precision</c:v>
                </c:pt>
              </c:strCache>
            </c:strRef>
          </c:tx>
          <c:spPr>
            <a:solidFill>
              <a:srgbClr val="B9C7C9"/>
            </a:solidFill>
            <a:effectLst/>
          </c:spPr>
          <c:invertIfNegative val="0"/>
          <c:dLbls>
            <c:numFmt formatCode="#0\,0&quot;%&quot;" sourceLinked="0"/>
            <c:txPr>
              <a:bodyPr/>
              <a:lstStyle/>
              <a:p>
                <a:pPr>
                  <a:defRPr b="0" i="0" strike="noStrike" sz="1300" u="none">
                    <a:solidFill>
                      <a:srgbClr val="172A30"/>
                    </a:solidFill>
                    <a:latin typeface="+mn-lt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dPt>
            <c:idx val="0"/>
            <c:invertIfNegative val="0"/>
            <c:bubble3D val="0"/>
            <c:spPr>
              <a:solidFill>
                <a:srgbClr val="B9C7C9"/>
              </a:solidFill>
              <a:effectLst/>
            </c:spPr>
          </c:dPt>
          <c:dPt>
            <c:idx val="1"/>
            <c:invertIfNegative val="0"/>
            <c:bubble3D val="0"/>
            <c:spPr>
              <a:solidFill>
                <a:srgbClr val="B9C7C9"/>
              </a:solidFill>
              <a:effectLst/>
            </c:spPr>
          </c:dPt>
          <c:dPt>
            <c:idx val="2"/>
            <c:invertIfNegative val="0"/>
            <c:bubble3D val="0"/>
            <c:spPr>
              <a:solidFill>
                <a:srgbClr val="1B7F57"/>
              </a:solidFill>
              <a:effectLst/>
            </c:spPr>
          </c:dPt>
          <c:cat>
            <c:multiLvlStrRef>
              <c:f>Sheet1!$A$2:$A$4</c:f>
              <c:multiLvlStrCache>
                <c:ptCount val="3"/>
                <c:lvl>
                  <c:pt idx="0">
                    <c:v>Pilih acak</c:v>
                  </c:pt>
                  <c:pt idx="1">
                    <c:v>Aturan tunggal terbaik</c:v>
                  </c:pt>
                  <c:pt idx="2">
                    <c:v>PayRay</c:v>
                  </c:pt>
                </c:lvl>
              </c:multiLvlStrCache>
            </c:multiLvlStrRef>
          </c:cat>
          <c:val>
            <c:numRef>
              <c:f>Sheet1!$B$2:$B$4</c:f>
              <c:numCache>
                <c:formatCode>General</c:formatCode>
                <c:ptCount val="3"/>
                <c:pt idx="0">
                  <c:v>150</c:v>
                </c:pt>
                <c:pt idx="1">
                  <c:v>538</c:v>
                </c:pt>
                <c:pt idx="2">
                  <c:v>684</c:v>
                </c:pt>
              </c:numCache>
            </c:numRef>
          </c:val>
        </c:ser>
        <c:dLbls>
          <c:numFmt formatCode="#0\,0&quot;%&quot;" sourceLinked="0"/>
          <c:txPr>
            <a:bodyPr/>
            <a:lstStyle/>
            <a:p>
              <a:pPr>
                <a:defRPr b="0" i="0" strike="noStrike" sz="1300" u="none">
                  <a:solidFill>
                    <a:srgbClr val="172A30"/>
                  </a:solidFill>
                  <a:latin typeface="+mn-lt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55"/>
        <c:overlap val="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300" b="0" i="0" u="none" strike="noStrike">
                <a:solidFill>
                  <a:srgbClr val="172A30"/>
                </a:solidFill>
                <a:latin typeface="+mn-lt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  <c:max val="850"/>
          <c:min val="0"/>
        </c:scaling>
        <c:delete val="1"/>
        <c:axPos val="l"/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000000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charts/chart2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title>
      <c:tx>
        <c:rich>
          <a:bodyPr/>
          <a:lstStyle/>
          <a:p>
            <a:pPr>
              <a:defRPr sz="1500" b="0" i="0" u="none" strike="noStrike">
                <a:solidFill>
                  <a:srgbClr val="172A30"/>
                </a:solidFill>
                <a:latin typeface="+mj-lt"/>
              </a:defRPr>
            </a:pPr>
            <a:r>
              <a:rPr sz="1500" b="0" i="0" u="none" strike="noStrike">
                <a:solidFill>
                  <a:srgbClr val="172A30"/>
                </a:solidFill>
                <a:latin typeface="+mj-lt"/>
              </a:rPr>
              <a:t>Rp miliar/thn per 100 pemeriksaan</a:t>
            </a:r>
          </a:p>
        </c:rich>
      </c:tx>
      <c:layout/>
      <c:overlay val="0"/>
    </c:title>
    <c:autoTitleDeleted val="0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Iuran</c:v>
                </c:pt>
              </c:strCache>
            </c:strRef>
          </c:tx>
          <c:spPr>
            <a:solidFill>
              <a:srgbClr val="B9C7C9"/>
            </a:solidFill>
            <a:effectLst/>
          </c:spPr>
          <c:invertIfNegative val="0"/>
          <c:dLbls>
            <c:numFmt formatCode="0\,00" sourceLinked="0"/>
            <c:txPr>
              <a:bodyPr/>
              <a:lstStyle/>
              <a:p>
                <a:pPr>
                  <a:defRPr b="0" i="0" strike="noStrike" sz="1300" u="none">
                    <a:solidFill>
                      <a:srgbClr val="172A30"/>
                    </a:solidFill>
                    <a:latin typeface="+mn-lt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dPt>
            <c:idx val="0"/>
            <c:invertIfNegative val="0"/>
            <c:bubble3D val="0"/>
            <c:spPr>
              <a:solidFill>
                <a:srgbClr val="B9C7C9"/>
              </a:solidFill>
              <a:effectLst/>
            </c:spPr>
          </c:dPt>
          <c:dPt>
            <c:idx val="1"/>
            <c:invertIfNegative val="0"/>
            <c:bubble3D val="0"/>
            <c:spPr>
              <a:solidFill>
                <a:srgbClr val="1B7F57"/>
              </a:solidFill>
              <a:effectLst/>
            </c:spPr>
          </c:dPt>
          <c:cat>
            <c:multiLvlStrRef>
              <c:f>Sheet1!$A$2:$A$3</c:f>
              <c:multiLvlStrCache>
                <c:ptCount val="2"/>
                <c:lvl>
                  <c:pt idx="0">
                    <c:v>Pilih acak</c:v>
                  </c:pt>
                  <c:pt idx="1">
                    <c:v>PayRay</c:v>
                  </c:pt>
                </c:lvl>
              </c:multiLvlStrCache>
            </c:multiLvlStrRef>
          </c:cat>
          <c:val>
            <c:numRef>
              <c:f>Sheet1!$B$2:$B$3</c:f>
              <c:numCache>
                <c:formatCode>General</c:formatCode>
                <c:ptCount val="2"/>
                <c:pt idx="0">
                  <c:v>53</c:v>
                </c:pt>
                <c:pt idx="1">
                  <c:v>775</c:v>
                </c:pt>
              </c:numCache>
            </c:numRef>
          </c:val>
        </c:ser>
        <c:dLbls>
          <c:numFmt formatCode="0\,00" sourceLinked="0"/>
          <c:txPr>
            <a:bodyPr/>
            <a:lstStyle/>
            <a:p>
              <a:pPr>
                <a:defRPr b="0" i="0" strike="noStrike" sz="1300" u="none">
                  <a:solidFill>
                    <a:srgbClr val="172A30"/>
                  </a:solidFill>
                  <a:latin typeface="+mn-lt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55"/>
        <c:overlap val="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300" b="0" i="0" u="none" strike="noStrike">
                <a:solidFill>
                  <a:srgbClr val="172A30"/>
                </a:solidFill>
                <a:latin typeface="+mn-lt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  <c:max val="950"/>
          <c:min val="0"/>
        </c:scaling>
        <c:delete val="1"/>
        <c:axPos val="l"/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000000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_rels/notesSlide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.xml"/>
		</Relationships>
</file>

<file path=ppt/notesSlides/_rels/notesSlide1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8.xml"/>
		</Relationships>
</file>

<file path=ppt/notesSlides/_rels/notesSlide1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9.xml"/>
		</Relationships>
</file>

<file path=ppt/notesSlides/_rels/notesSlide2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0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Pembuka. PayRay = Pay + X-Ray: rontgen kepatuhan pemberi kerja. Fokus kategori Peserta JKN &amp; Pemberi Kerja.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Revisi: pembeda tidak lagi mengklaim 'bukan sampel', tetapi tiga hal yang bisa dibuktikan: alasan yang bisa dibaca, estimasi rupiah, dan perlindungan UMKM (aturan dibedakan per skala, PP 36/2021).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Tiga modus kebocoran yang menjadi sub-kategori fokus.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Angka Rp31,61 T BUKAN iuran yang bocor: BPK menyatakan pendapatan iuran PPU BU &amp; PN sebesar itu tidak dapat diyakini kebenarannya karena tidak didukung data memadai (IHPS II 2025). Celah verifikasi inilah yang diisi PayRay. Verifikasi angka di PDF IHPS II 2025 (bpk.go.id/ihps) sebelum submit. Peserta: Portal Data BPJS Kesehatan, rekap 30 Sep 2026. Tulungagung: ANTARA Jatim 20 Jun 2026, Kepala BPJS Kesehatan Cabang Tulungagung.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Revisi judul: tidak lagi 'dari sampel', supaya tidak mengklaim praktik internal BPJS yang tidak kita ketahui. Mesin prototype menilai 5.000 badan usaha dalam ±7 detik.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Revisi: 'pekerja masih aktif bekerja' ditandai fase lanjut karena butuh data BPJS TK. Setiap bullet = satu aturan transparan di mesin (engine/rules.py).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Contoh ini keluaran asli mesin (hasil/lembar_scan/BU04224.md), bukan karangan. Estimasi Rp212 jt vs kerugian sebenarnya Rp215 jt di data simulasi. Menggantikan contoh lama yang kontradiktif ('upah tidak naik 3 tahun' vs '92% tepat di UMK').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Revisi: rumus kalkulator kini memuat plafon upah iuran Rp12 jt (Perpres 64/2020, verifikasi sebelum submit) dan ada jawaban 'kenapa AI, bukan aturan saja'.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Baris baru: kepesertaan per segmen dari Portal Data BPJS (sudah di-scrape) dan upah BPS Sakernas Agustus 2025 (sekunder via CNBC; cocokkan ke bps.go.id). Kalibrasi: urutan rata-rata upah antarsektor di generator berkorelasi Spearman 0,90 dengan BPS.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Slide baru (to-do revisi). Generator: generator/ di repo. Pelanggaran disisipkan oleh anggota yang tidak membangun model, dengan seed rahasia; folder label terpisah. Audit kebocoran: AUC metadata ≈ 0,5, beda missingness antar kelas ≤ 0,7%.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Slide baru. Angka dari hasil_holdout/laporan_akurasi.md (seed dunia 2026, seed injeksi berbeda). Aturan tunggal terbaik = rasio pekerja vs OSS (53,8%). Data dev: 69,4% / 4,63×. Akui kelemahan bila ditanya: recall modus sulit 18–37%, salah tandai menengah/besar ±6%.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Tangkapan layar asli dari dashboard/index.html (HTML statis, dibangun dari output mesin; buka langsung di browser). Tombol Tandai wajar / Temuan terbukti menyimpan label umpan balik dan bisa diunduh sebagai CSV. Siklus umpan balik disimulasikan di engine/feedback.py: precision putaran 2 naik 21,8% → 26,8%, iuran tertangkap Rp1,60 M → Rp1,81 M (holdout). Waktu menyusun daftar: 5.000 badan usaha diskor dalam hitungan detik.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Revisi: penanda 'Saat ini: Ide' dihapus. Isi link demo, video, dan repo sebelum submit.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Status per 10 Okt 2026.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Fase lanjut termasuk cek 'pekerja masih aktif bekerja' dengan data BPJS TK.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Revisi: placeholder terisi. Precision 68,4% sedikit di bawah target 70%. Sampaikan jujur: target ≥70% dikejar lewat siklus umpan balik.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Pemberi kerja patuh dilindungi: hard negative dan aturan per skala menekan salah tandai UMKM ke 2,7%.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Revisi: footer kini konsisten dengan slide lain (dari layout).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Tim Plan with Us. Tidak ada Domain Expert di tim: validasi aturan sebaiknya lewat konsultasi pakar HR-payroll/jaminan sosial dan disebut di sini bila ada.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Penutup. Kontak: email ketua tim.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PAYRAY_LIGHT">
    <p:bg>
      <p:bgPr>
        <a:solidFill>
          <a:srgbClr val="F3F2E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85800" y="6327648"/>
            <a:ext cx="4572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5B6B70"/>
                </a:solidFill>
              </a:rPr>
              <a:t>PayRay · Healthkathon 2026</a:t>
            </a:r>
            <a:endParaRPr lang="en-US" sz="1100" dirty="0"/>
          </a:p>
        </p:txBody>
      </p:sp>
      <p:sp>
        <p:nvSpPr>
          <p:cNvPr id="3" name="Text 1"/>
          <p:cNvSpPr/>
          <p:nvPr>
            <p:ph idx="101" type="body" hasCustomPrompt="1"/>
          </p:nvPr>
        </p:nvSpPr>
        <p:spPr>
          <a:xfrm>
            <a:off x="685800" y="566928"/>
            <a:ext cx="10820095" cy="292608"/>
          </a:xfrm>
          <a:prstGeom prst="rect">
            <a:avLst/>
          </a:prstGeom>
          <a:noFill/>
          <a:ln/>
        </p:spPr>
        <p:txBody>
          <a:bodyPr wrap="square" rtlCol="0"/>
          <a:lstStyle>
            <a:lvl1pPr indent="0" marL="0">
              <a:buNone/>
              <a:defRPr lang="en-US" sz="1300" b="1" spc="200" kern="0" dirty="0">
                <a:solidFill>
                  <a:schemeClr val="accent1"/>
                </a:solidFill>
                <a:latin typeface="Source Sans 3" pitchFamily="34" charset="0"/>
                <a:ea typeface="Source Sans 3" pitchFamily="34" charset="-122"/>
                <a:cs typeface="Source Sans 3" pitchFamily="34" charset="-120"/>
              </a:defRPr>
            </a:lvl1pPr>
          </a:lstStyle>
          <a:p>
            <a:pPr indent="0" marL="0">
              <a:buNone/>
            </a:pPr>
            <a:endParaRPr lang="en-US" sz="1300" dirty="0"/>
          </a:p>
        </p:txBody>
      </p:sp>
      <p:sp>
        <p:nvSpPr>
          <p:cNvPr id="4" name="Text 1"/>
          <p:cNvSpPr/>
          <p:nvPr>
            <p:ph idx="102" type="title" hasCustomPrompt="1"/>
          </p:nvPr>
        </p:nvSpPr>
        <p:spPr>
          <a:xfrm>
            <a:off x="685800" y="868680"/>
            <a:ext cx="10820095" cy="86868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4000" b="1" dirty="0">
                <a:solidFill>
                  <a:schemeClr val="tx1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defRPr>
            </a:lvl1pPr>
          </a:lstStyle>
          <a:p>
            <a:pPr algn="l" indent="0" marL="0">
              <a:buNone/>
            </a:pPr>
            <a:endParaRPr lang="en-US" sz="4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957255" y="6327648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100">
                <a:solidFill>
                  <a:srgbClr val="5B6B70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1002</a:t>
            </a:fld>
            <a:endParaRPr lang="en-US"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PAYRAY_DARK">
    <p:bg>
      <p:bgPr>
        <a:solidFill>
          <a:srgbClr val="0E1C2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85800" y="6327648"/>
            <a:ext cx="4572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B9C7C9"/>
                </a:solidFill>
              </a:rPr>
              <a:t>PayRay · Healthkathon 2026</a:t>
            </a:r>
            <a:endParaRPr lang="en-US" sz="1100" dirty="0"/>
          </a:p>
        </p:txBody>
      </p:sp>
      <p:sp>
        <p:nvSpPr>
          <p:cNvPr id="3" name="Text 1"/>
          <p:cNvSpPr/>
          <p:nvPr>
            <p:ph idx="101" type="body" hasCustomPrompt="1"/>
          </p:nvPr>
        </p:nvSpPr>
        <p:spPr>
          <a:xfrm>
            <a:off x="685800" y="566928"/>
            <a:ext cx="10820095" cy="292608"/>
          </a:xfrm>
          <a:prstGeom prst="rect">
            <a:avLst/>
          </a:prstGeom>
          <a:noFill/>
          <a:ln/>
        </p:spPr>
        <p:txBody>
          <a:bodyPr wrap="square" rtlCol="0"/>
          <a:lstStyle>
            <a:lvl1pPr indent="0" marL="0">
              <a:buNone/>
              <a:defRPr lang="en-US" sz="1300" b="1" spc="200" kern="0" dirty="0">
                <a:solidFill>
                  <a:schemeClr val="accent2"/>
                </a:solidFill>
                <a:latin typeface="Source Sans 3" pitchFamily="34" charset="0"/>
                <a:ea typeface="Source Sans 3" pitchFamily="34" charset="-122"/>
                <a:cs typeface="Source Sans 3" pitchFamily="34" charset="-120"/>
              </a:defRPr>
            </a:lvl1pPr>
          </a:lstStyle>
          <a:p>
            <a:pPr indent="0" marL="0">
              <a:buNone/>
            </a:pPr>
            <a:endParaRPr lang="en-US" sz="1300" dirty="0"/>
          </a:p>
        </p:txBody>
      </p:sp>
      <p:sp>
        <p:nvSpPr>
          <p:cNvPr id="4" name="Text 1"/>
          <p:cNvSpPr/>
          <p:nvPr>
            <p:ph idx="102" type="title" hasCustomPrompt="1"/>
          </p:nvPr>
        </p:nvSpPr>
        <p:spPr>
          <a:xfrm>
            <a:off x="685800" y="868680"/>
            <a:ext cx="10820095" cy="86868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4000" b="1" dirty="0">
                <a:solidFill>
                  <a:schemeClr val="bg1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defRPr>
            </a:lvl1pPr>
          </a:lstStyle>
          <a:p>
            <a:pPr algn="l" indent="0" marL="0">
              <a:buNone/>
            </a:pPr>
            <a:endParaRPr lang="en-US" sz="4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957255" y="6327648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100">
                <a:solidFill>
                  <a:srgbClr val="B9C7C9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1003</a:t>
            </a:fld>
            <a:endParaRPr lang="en-US"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PAYRAY_COVER">
    <p:bg>
      <p:bgPr>
        <a:solidFill>
          <a:srgbClr val="0E1C2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957255" y="6327648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100">
                <a:solidFill>
                  <a:srgbClr val="5B6B70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null</a:t>
            </a:fld>
            <a:endParaRPr 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-1.png"/><Relationship Id="rId2" Type="http://schemas.openxmlformats.org/officeDocument/2006/relationships/image" Target="../media/image-3-2.png"/><Relationship Id="rId3" Type="http://schemas.openxmlformats.org/officeDocument/2006/relationships/image" Target="../media/image-3-3.png"/><Relationship Id="rId4" Type="http://schemas.openxmlformats.org/officeDocument/2006/relationships/slideLayout" Target="../slideLayouts/slideLayout2.xml"/><Relationship Id="rId5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6-1.png"/><Relationship Id="rId2" Type="http://schemas.openxmlformats.org/officeDocument/2006/relationships/image" Target="../media/image-6-2.png"/><Relationship Id="rId3" Type="http://schemas.openxmlformats.org/officeDocument/2006/relationships/image" Target="../media/image-6-3.png"/><Relationship Id="rId4" Type="http://schemas.openxmlformats.org/officeDocument/2006/relationships/slideLayout" Target="../slideLayouts/slideLayout2.xml"/><Relationship Id="rId5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0-1.png"/><Relationship Id="rId2" Type="http://schemas.openxmlformats.org/officeDocument/2006/relationships/image" Target="../media/image-10-2.png"/><Relationship Id="rId3" Type="http://schemas.openxmlformats.org/officeDocument/2006/relationships/image" Target="../media/image-10-3.png"/><Relationship Id="rId4" Type="http://schemas.openxmlformats.org/officeDocument/2006/relationships/image" Target="../media/image-10-4.png"/><Relationship Id="rId5" Type="http://schemas.openxmlformats.org/officeDocument/2006/relationships/slideLayout" Target="../slideLayouts/slideLayout2.xml"/><Relationship Id="rId6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1.xml"/><Relationship Id="rId2" Type="http://schemas.openxmlformats.org/officeDocument/2006/relationships/chart" Target="/ppt/charts/chart2.xml"/><Relationship Id="rId3" Type="http://schemas.openxmlformats.org/officeDocument/2006/relationships/slideLayout" Target="../slideLayouts/slideLayout2.xml"/><Relationship Id="rId4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2-1.png"/><Relationship Id="rId2" Type="http://schemas.openxmlformats.org/officeDocument/2006/relationships/image" Target="../media/image-12-2.png"/><Relationship Id="rId3" Type="http://schemas.openxmlformats.org/officeDocument/2006/relationships/image" Target="../media/image-12-3.png"/><Relationship Id="rId4" Type="http://schemas.openxmlformats.org/officeDocument/2006/relationships/image" Target="../media/image-12-4.png"/><Relationship Id="rId5" Type="http://schemas.openxmlformats.org/officeDocument/2006/relationships/image" Target="../media/image-12-5.png"/><Relationship Id="rId6" Type="http://schemas.openxmlformats.org/officeDocument/2006/relationships/image" Target="../media/image-12-6.png"/><Relationship Id="rId7" Type="http://schemas.openxmlformats.org/officeDocument/2006/relationships/slideLayout" Target="../slideLayouts/slideLayout2.xml"/><Relationship Id="rId8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3-1.png"/><Relationship Id="rId2" Type="http://schemas.openxmlformats.org/officeDocument/2006/relationships/image" Target="../media/image-13-2.png"/><Relationship Id="rId3" Type="http://schemas.openxmlformats.org/officeDocument/2006/relationships/image" Target="../media/image-13-3.png"/><Relationship Id="rId4" Type="http://schemas.openxmlformats.org/officeDocument/2006/relationships/image" Target="../media/image-13-4.png"/><Relationship Id="rId5" Type="http://schemas.openxmlformats.org/officeDocument/2006/relationships/slideLayout" Target="../slideLayouts/slideLayout2.xml"/><Relationship Id="rId6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6-1.pn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16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7-1.png"/><Relationship Id="rId2" Type="http://schemas.openxmlformats.org/officeDocument/2006/relationships/image" Target="../media/image-17-2.png"/><Relationship Id="rId3" Type="http://schemas.openxmlformats.org/officeDocument/2006/relationships/image" Target="../media/image-17-3.png"/><Relationship Id="rId4" Type="http://schemas.openxmlformats.org/officeDocument/2006/relationships/image" Target="../media/image-17-4.png"/><Relationship Id="rId5" Type="http://schemas.openxmlformats.org/officeDocument/2006/relationships/slideLayout" Target="../slideLayouts/slideLayout2.xml"/><Relationship Id="rId6" Type="http://schemas.openxmlformats.org/officeDocument/2006/relationships/notesSlide" Target="../notesSlides/notesSlide17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8-1.png"/><Relationship Id="rId2" Type="http://schemas.openxmlformats.org/officeDocument/2006/relationships/image" Target="../media/image-18-2.png"/><Relationship Id="rId3" Type="http://schemas.openxmlformats.org/officeDocument/2006/relationships/image" Target="../media/image-18-3.png"/><Relationship Id="rId4" Type="http://schemas.openxmlformats.org/officeDocument/2006/relationships/image" Target="../media/image-18-4.png"/><Relationship Id="rId5" Type="http://schemas.openxmlformats.org/officeDocument/2006/relationships/slideLayout" Target="../slideLayouts/slideLayout2.xml"/><Relationship Id="rId6" Type="http://schemas.openxmlformats.org/officeDocument/2006/relationships/notesSlide" Target="../notesSlides/notesSlide18.xml"/></Relationships>
</file>

<file path=ppt/slides/_rels/slide19.xml.rels><?xml version="1.0" encoding="UTF-8" standalone="yes"?>
<Relationships xmlns="http://schemas.openxmlformats.org/package/2006/relationships"><Relationship Id="rId2" Type="http://schemas.openxmlformats.org/officeDocument/2006/relationships/hyperlink" Target="https://www.linkedin.com/in/rachdiaaan" TargetMode="External"/><Relationship Id="rId4" Type="http://schemas.openxmlformats.org/officeDocument/2006/relationships/hyperlink" Target="https://www.linkedin.com/in/muhammad-al-ghani" TargetMode="External"/><Relationship Id="rId1" Type="http://schemas.openxmlformats.org/officeDocument/2006/relationships/image" Target="../media/image-19-1.png"/><Relationship Id="rId3" Type="http://schemas.openxmlformats.org/officeDocument/2006/relationships/image" Target="../media/image-19-2.png"/><Relationship Id="rId5" Type="http://schemas.openxmlformats.org/officeDocument/2006/relationships/slideLayout" Target="../slideLayouts/slideLayout2.xml"/><Relationship Id="rId6" Type="http://schemas.openxmlformats.org/officeDocument/2006/relationships/notesSlide" Target="../notesSlides/notesSlide19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20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ks-1"/>
          <p:cNvSpPr txBox="1"/>
          <p:nvPr/>
        </p:nvSpPr>
        <p:spPr>
          <a:xfrm>
            <a:off x="685800" y="1600200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b="1" spc="150" kern="0" dirty="0">
                <a:solidFill>
                  <a:schemeClr val="accent2"/>
                </a:solidFill>
              </a:rPr>
              <a:t>HEALTHKATHON 2026 · DETECT SMARTER, PROTECT JKN</a:t>
            </a:r>
            <a:endParaRPr lang="en-US" sz="1200" dirty="0"/>
          </a:p>
        </p:txBody>
      </p:sp>
      <p:sp>
        <p:nvSpPr>
          <p:cNvPr id="3" name="judul-cover"/>
          <p:cNvSpPr txBox="1"/>
          <p:nvPr/>
        </p:nvSpPr>
        <p:spPr>
          <a:xfrm>
            <a:off x="685800" y="1920240"/>
            <a:ext cx="6858000" cy="1325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200" b="1" dirty="0">
                <a:solidFill>
                  <a:schemeClr val="bg1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Pay</a:t>
            </a:r>
            <a:pPr indent="0" marL="0">
              <a:buNone/>
            </a:pPr>
            <a:r>
              <a:rPr lang="en-US" sz="9200" b="1" dirty="0">
                <a:solidFill>
                  <a:schemeClr val="accent2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Ray</a:t>
            </a:r>
            <a:endParaRPr lang="en-US" sz="9200" dirty="0"/>
          </a:p>
        </p:txBody>
      </p:sp>
      <p:sp>
        <p:nvSpPr>
          <p:cNvPr id="4" name="teks-2"/>
          <p:cNvSpPr txBox="1"/>
          <p:nvPr/>
        </p:nvSpPr>
        <p:spPr>
          <a:xfrm>
            <a:off x="685800" y="3383280"/>
            <a:ext cx="658368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800" b="1" dirty="0">
                <a:solidFill>
                  <a:schemeClr val="bg1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Rontgen kepatuhan pemberi kerja untuk JKN.</a:t>
            </a:r>
            <a:endParaRPr lang="en-US" sz="2800" dirty="0"/>
          </a:p>
        </p:txBody>
      </p:sp>
      <p:sp>
        <p:nvSpPr>
          <p:cNvPr id="5" name="teks-3"/>
          <p:cNvSpPr txBox="1"/>
          <p:nvPr/>
        </p:nvSpPr>
        <p:spPr>
          <a:xfrm>
            <a:off x="685800" y="4389120"/>
            <a:ext cx="640080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dirty="0">
                <a:solidFill>
                  <a:srgbClr val="B9C7C9"/>
                </a:solidFill>
              </a:rPr>
              <a:t>Skor risiko berbasis AI yang menemukan upah dan pekerja yang tidak dilaporkan, supaya pemeriksaan dimulai dari badan usaha yang paling berisiko.</a:t>
            </a:r>
            <a:endParaRPr lang="en-US" sz="1800" dirty="0"/>
          </a:p>
        </p:txBody>
      </p:sp>
      <p:sp>
        <p:nvSpPr>
          <p:cNvPr id="6" name="kategori-cover"/>
          <p:cNvSpPr txBox="1"/>
          <p:nvPr/>
        </p:nvSpPr>
        <p:spPr>
          <a:xfrm>
            <a:off x="685800" y="5989320"/>
            <a:ext cx="7315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B9C7C9"/>
                </a:solidFill>
              </a:rPr>
              <a:t>Kategori: </a:t>
            </a:r>
            <a:pPr indent="0" marL="0">
              <a:buNone/>
            </a:pPr>
            <a:r>
              <a:rPr lang="en-US" sz="1400" b="1" dirty="0">
                <a:solidFill>
                  <a:srgbClr val="B9C7C9"/>
                </a:solidFill>
              </a:rPr>
              <a:t>Peserta JKN &amp; Pemberi Kerja</a:t>
            </a:r>
            <a:pPr indent="0" marL="0">
              <a:buNone/>
            </a:pPr>
            <a:r>
              <a:rPr lang="en-US" sz="1400" dirty="0">
                <a:solidFill>
                  <a:srgbClr val="B9C7C9"/>
                </a:solidFill>
              </a:rPr>
              <a:t> · Tim Plan with Us</a:t>
            </a:r>
            <a:endParaRPr lang="en-US" sz="1400" dirty="0"/>
          </a:p>
        </p:txBody>
      </p:sp>
      <p:sp>
        <p:nvSpPr>
          <p:cNvPr id="7" name="radar-4"/>
          <p:cNvSpPr/>
          <p:nvPr/>
        </p:nvSpPr>
        <p:spPr>
          <a:xfrm>
            <a:off x="7315200" y="1463040"/>
            <a:ext cx="3566160" cy="3566160"/>
          </a:xfrm>
          <a:prstGeom prst="ellipse">
            <a:avLst/>
          </a:prstGeom>
          <a:ln w="9525">
            <a:solidFill>
              <a:schemeClr val="accent2">
                <a:alpha val="30000"/>
              </a:schemeClr>
            </a:solidFill>
            <a:prstDash val="solid"/>
          </a:ln>
        </p:spPr>
      </p:sp>
      <p:sp>
        <p:nvSpPr>
          <p:cNvPr id="8" name="radar-5"/>
          <p:cNvSpPr/>
          <p:nvPr/>
        </p:nvSpPr>
        <p:spPr>
          <a:xfrm>
            <a:off x="7707478" y="1855318"/>
            <a:ext cx="2781605" cy="2781605"/>
          </a:xfrm>
          <a:prstGeom prst="ellipse">
            <a:avLst/>
          </a:prstGeom>
          <a:ln w="9525">
            <a:solidFill>
              <a:schemeClr val="accent2">
                <a:alpha val="25000"/>
              </a:schemeClr>
            </a:solidFill>
            <a:prstDash val="solid"/>
          </a:ln>
        </p:spPr>
      </p:sp>
      <p:sp>
        <p:nvSpPr>
          <p:cNvPr id="9" name="radar-6"/>
          <p:cNvSpPr/>
          <p:nvPr/>
        </p:nvSpPr>
        <p:spPr>
          <a:xfrm>
            <a:off x="8099755" y="2247595"/>
            <a:ext cx="1997050" cy="1997050"/>
          </a:xfrm>
          <a:prstGeom prst="ellipse">
            <a:avLst/>
          </a:prstGeom>
          <a:ln w="9525">
            <a:solidFill>
              <a:schemeClr val="accent2">
                <a:alpha val="20000"/>
              </a:schemeClr>
            </a:solidFill>
            <a:prstDash val="solid"/>
          </a:ln>
        </p:spPr>
      </p:sp>
      <p:sp>
        <p:nvSpPr>
          <p:cNvPr id="10" name="dokumen-7"/>
          <p:cNvSpPr/>
          <p:nvPr/>
        </p:nvSpPr>
        <p:spPr>
          <a:xfrm>
            <a:off x="8367217" y="2247595"/>
            <a:ext cx="1462126" cy="1997050"/>
          </a:xfrm>
          <a:prstGeom prst="roundRect">
            <a:avLst>
              <a:gd name="adj" fmla="val 5003"/>
            </a:avLst>
          </a:prstGeom>
          <a:solidFill>
            <a:schemeClr val="accent3"/>
          </a:solidFill>
          <a:ln w="12700">
            <a:solidFill>
              <a:srgbClr val="5FC6A6"/>
            </a:solidFill>
            <a:prstDash val="solid"/>
          </a:ln>
        </p:spPr>
      </p:sp>
      <p:sp>
        <p:nvSpPr>
          <p:cNvPr id="11" name="baris-dokumen-8"/>
          <p:cNvSpPr/>
          <p:nvPr/>
        </p:nvSpPr>
        <p:spPr>
          <a:xfrm>
            <a:off x="8513521" y="2448763"/>
            <a:ext cx="959004" cy="64008"/>
          </a:xfrm>
          <a:prstGeom prst="roundRect">
            <a:avLst>
              <a:gd name="adj" fmla="val 42857"/>
            </a:avLst>
          </a:prstGeom>
          <a:solidFill>
            <a:srgbClr val="3E7F72"/>
          </a:solidFill>
          <a:ln/>
        </p:spPr>
      </p:sp>
      <p:sp>
        <p:nvSpPr>
          <p:cNvPr id="12" name="baris-dokumen-9"/>
          <p:cNvSpPr/>
          <p:nvPr/>
        </p:nvSpPr>
        <p:spPr>
          <a:xfrm>
            <a:off x="8513521" y="2631643"/>
            <a:ext cx="643235" cy="64008"/>
          </a:xfrm>
          <a:prstGeom prst="roundRect">
            <a:avLst>
              <a:gd name="adj" fmla="val 42857"/>
            </a:avLst>
          </a:prstGeom>
          <a:solidFill>
            <a:srgbClr val="3E7F72"/>
          </a:solidFill>
          <a:ln/>
        </p:spPr>
      </p:sp>
      <p:sp>
        <p:nvSpPr>
          <p:cNvPr id="13" name="baris-dokumen-10"/>
          <p:cNvSpPr/>
          <p:nvPr/>
        </p:nvSpPr>
        <p:spPr>
          <a:xfrm>
            <a:off x="8513521" y="2814523"/>
            <a:ext cx="842053" cy="64008"/>
          </a:xfrm>
          <a:prstGeom prst="roundRect">
            <a:avLst>
              <a:gd name="adj" fmla="val 42857"/>
            </a:avLst>
          </a:prstGeom>
          <a:solidFill>
            <a:srgbClr val="3E7F72"/>
          </a:solidFill>
          <a:ln/>
        </p:spPr>
      </p:sp>
      <p:sp>
        <p:nvSpPr>
          <p:cNvPr id="14" name="baris-dokumen-11"/>
          <p:cNvSpPr/>
          <p:nvPr/>
        </p:nvSpPr>
        <p:spPr>
          <a:xfrm>
            <a:off x="8513521" y="2997403"/>
            <a:ext cx="491197" cy="64008"/>
          </a:xfrm>
          <a:prstGeom prst="roundRect">
            <a:avLst>
              <a:gd name="adj" fmla="val 42857"/>
            </a:avLst>
          </a:prstGeom>
          <a:solidFill>
            <a:srgbClr val="3E7F72"/>
          </a:solidFill>
          <a:ln/>
        </p:spPr>
      </p:sp>
      <p:sp>
        <p:nvSpPr>
          <p:cNvPr id="15" name="baris-terdeteksi-12"/>
          <p:cNvSpPr/>
          <p:nvPr/>
        </p:nvSpPr>
        <p:spPr>
          <a:xfrm>
            <a:off x="8513521" y="3538728"/>
            <a:ext cx="584759" cy="73152"/>
          </a:xfrm>
          <a:prstGeom prst="roundRect">
            <a:avLst>
              <a:gd name="adj" fmla="val 37500"/>
            </a:avLst>
          </a:prstGeom>
          <a:solidFill>
            <a:schemeClr val="accent2"/>
          </a:solidFill>
          <a:ln/>
        </p:spPr>
      </p:sp>
      <p:sp>
        <p:nvSpPr>
          <p:cNvPr id="16" name="baris-terdeteksi-13"/>
          <p:cNvSpPr/>
          <p:nvPr/>
        </p:nvSpPr>
        <p:spPr>
          <a:xfrm>
            <a:off x="8513521" y="3721608"/>
            <a:ext cx="350855" cy="73152"/>
          </a:xfrm>
          <a:prstGeom prst="roundRect">
            <a:avLst>
              <a:gd name="adj" fmla="val 37500"/>
            </a:avLst>
          </a:prstGeom>
          <a:solidFill>
            <a:schemeClr val="accent2"/>
          </a:solidFill>
          <a:ln/>
        </p:spPr>
      </p:sp>
      <p:sp>
        <p:nvSpPr>
          <p:cNvPr id="17" name="cahaya-pindai-14"/>
          <p:cNvSpPr/>
          <p:nvPr/>
        </p:nvSpPr>
        <p:spPr>
          <a:xfrm>
            <a:off x="7493508" y="3447288"/>
            <a:ext cx="3209544" cy="310896"/>
          </a:xfrm>
          <a:prstGeom prst="rect">
            <a:avLst/>
          </a:prstGeom>
          <a:solidFill>
            <a:schemeClr val="accent2">
              <a:alpha val="18000"/>
            </a:schemeClr>
          </a:solidFill>
          <a:ln/>
        </p:spPr>
      </p:sp>
      <p:sp>
        <p:nvSpPr>
          <p:cNvPr id="18" name="garis-pindai-15"/>
          <p:cNvSpPr/>
          <p:nvPr/>
        </p:nvSpPr>
        <p:spPr>
          <a:xfrm>
            <a:off x="7493508" y="3602736"/>
            <a:ext cx="3209544" cy="0"/>
          </a:xfrm>
          <a:prstGeom prst="line">
            <a:avLst/>
          </a:prstGeom>
          <a:noFill/>
          <a:ln w="25400">
            <a:solidFill>
              <a:schemeClr val="accent2"/>
            </a:solidFill>
            <a:prstDash val="solid"/>
          </a:ln>
        </p:spPr>
      </p:sp>
      <p:sp>
        <p:nvSpPr>
          <p:cNvPr id="19" name="bracket-16"/>
          <p:cNvSpPr/>
          <p:nvPr/>
        </p:nvSpPr>
        <p:spPr>
          <a:xfrm>
            <a:off x="7636154" y="1783994"/>
            <a:ext cx="292608" cy="0"/>
          </a:xfrm>
          <a:prstGeom prst="line">
            <a:avLst/>
          </a:prstGeom>
          <a:noFill/>
          <a:ln w="28575">
            <a:solidFill>
              <a:schemeClr val="accent2"/>
            </a:solidFill>
            <a:prstDash val="solid"/>
          </a:ln>
        </p:spPr>
      </p:sp>
      <p:sp>
        <p:nvSpPr>
          <p:cNvPr id="20" name="bracket-17"/>
          <p:cNvSpPr/>
          <p:nvPr/>
        </p:nvSpPr>
        <p:spPr>
          <a:xfrm>
            <a:off x="7636154" y="1783994"/>
            <a:ext cx="0" cy="292608"/>
          </a:xfrm>
          <a:prstGeom prst="line">
            <a:avLst/>
          </a:prstGeom>
          <a:noFill/>
          <a:ln w="28575">
            <a:solidFill>
              <a:schemeClr val="accent2"/>
            </a:solidFill>
            <a:prstDash val="solid"/>
          </a:ln>
        </p:spPr>
      </p:sp>
      <p:sp>
        <p:nvSpPr>
          <p:cNvPr id="21" name="bracket-18"/>
          <p:cNvSpPr/>
          <p:nvPr/>
        </p:nvSpPr>
        <p:spPr>
          <a:xfrm>
            <a:off x="10267798" y="1783994"/>
            <a:ext cx="292608" cy="0"/>
          </a:xfrm>
          <a:prstGeom prst="line">
            <a:avLst/>
          </a:prstGeom>
          <a:noFill/>
          <a:ln w="28575">
            <a:solidFill>
              <a:schemeClr val="accent2"/>
            </a:solidFill>
            <a:prstDash val="solid"/>
          </a:ln>
        </p:spPr>
      </p:sp>
      <p:sp>
        <p:nvSpPr>
          <p:cNvPr id="22" name="bracket-19"/>
          <p:cNvSpPr/>
          <p:nvPr/>
        </p:nvSpPr>
        <p:spPr>
          <a:xfrm>
            <a:off x="10560406" y="1783994"/>
            <a:ext cx="0" cy="292608"/>
          </a:xfrm>
          <a:prstGeom prst="line">
            <a:avLst/>
          </a:prstGeom>
          <a:noFill/>
          <a:ln w="28575">
            <a:solidFill>
              <a:schemeClr val="accent2"/>
            </a:solidFill>
            <a:prstDash val="solid"/>
          </a:ln>
        </p:spPr>
      </p:sp>
      <p:sp>
        <p:nvSpPr>
          <p:cNvPr id="23" name="bracket-20"/>
          <p:cNvSpPr/>
          <p:nvPr/>
        </p:nvSpPr>
        <p:spPr>
          <a:xfrm>
            <a:off x="7636154" y="4708246"/>
            <a:ext cx="292608" cy="0"/>
          </a:xfrm>
          <a:prstGeom prst="line">
            <a:avLst/>
          </a:prstGeom>
          <a:noFill/>
          <a:ln w="28575">
            <a:solidFill>
              <a:schemeClr val="accent2"/>
            </a:solidFill>
            <a:prstDash val="solid"/>
          </a:ln>
        </p:spPr>
      </p:sp>
      <p:sp>
        <p:nvSpPr>
          <p:cNvPr id="24" name="bracket-21"/>
          <p:cNvSpPr/>
          <p:nvPr/>
        </p:nvSpPr>
        <p:spPr>
          <a:xfrm>
            <a:off x="7636154" y="4415638"/>
            <a:ext cx="0" cy="292608"/>
          </a:xfrm>
          <a:prstGeom prst="line">
            <a:avLst/>
          </a:prstGeom>
          <a:noFill/>
          <a:ln w="28575">
            <a:solidFill>
              <a:schemeClr val="accent2"/>
            </a:solidFill>
            <a:prstDash val="solid"/>
          </a:ln>
        </p:spPr>
      </p:sp>
      <p:sp>
        <p:nvSpPr>
          <p:cNvPr id="25" name="bracket-22"/>
          <p:cNvSpPr/>
          <p:nvPr/>
        </p:nvSpPr>
        <p:spPr>
          <a:xfrm>
            <a:off x="10267798" y="4708246"/>
            <a:ext cx="292608" cy="0"/>
          </a:xfrm>
          <a:prstGeom prst="line">
            <a:avLst/>
          </a:prstGeom>
          <a:noFill/>
          <a:ln w="28575">
            <a:solidFill>
              <a:schemeClr val="accent2"/>
            </a:solidFill>
            <a:prstDash val="solid"/>
          </a:ln>
        </p:spPr>
      </p:sp>
      <p:sp>
        <p:nvSpPr>
          <p:cNvPr id="26" name="bracket-23"/>
          <p:cNvSpPr/>
          <p:nvPr/>
        </p:nvSpPr>
        <p:spPr>
          <a:xfrm>
            <a:off x="10560406" y="4415638"/>
            <a:ext cx="0" cy="292608"/>
          </a:xfrm>
          <a:prstGeom prst="line">
            <a:avLst/>
          </a:prstGeom>
          <a:noFill/>
          <a:ln w="28575">
            <a:solidFill>
              <a:schemeClr val="accent2"/>
            </a:solidFill>
            <a:prstDash val="solid"/>
          </a:ln>
        </p:spPr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body" hasCustomPrompt="1"/>
          </p:nvPr>
        </p:nvSpPr>
        <p:spPr>
          <a:xfrm>
            <a:off x="685800" y="566928"/>
            <a:ext cx="10820095" cy="292608"/>
          </a:xfrm>
          <a:prstGeom prst="rect">
            <a:avLst/>
          </a:prstGeom>
          <a:noFill/>
          <a:ln/>
        </p:spPr>
        <p:txBody>
          <a:bodyPr wrap="square" lIns="0" tIns="0" rIns="0" bIns="0" rtlCol="0"/>
          <a:lstStyle/>
          <a:p>
            <a:pPr indent="0" marL="0">
              <a:buNone/>
            </a:pPr>
            <a:r>
              <a:rPr lang="en-US" sz="1300" b="1" spc="200" kern="0" dirty="0">
                <a:solidFill>
                  <a:schemeClr val="accent1"/>
                </a:solidFill>
                <a:latin typeface="Source Sans 3" pitchFamily="34" charset="0"/>
                <a:ea typeface="Source Sans 3" pitchFamily="34" charset="-122"/>
                <a:cs typeface="Source Sans 3" pitchFamily="34" charset="-120"/>
              </a:rPr>
              <a:t>01 · IDENTITAS &amp; POSITIONING</a:t>
            </a:r>
            <a:endParaRPr lang="en-US" sz="1300" dirty="0"/>
          </a:p>
        </p:txBody>
      </p:sp>
      <p:sp>
        <p:nvSpPr>
          <p:cNvPr id="3" name="Text 1"/>
          <p:cNvSpPr/>
          <p:nvPr>
            <p:ph idx="102" type="title" hasCustomPrompt="1"/>
          </p:nvPr>
        </p:nvSpPr>
        <p:spPr>
          <a:xfrm>
            <a:off x="685800" y="868680"/>
            <a:ext cx="10820095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4000" b="1" dirty="0">
                <a:solidFill>
                  <a:schemeClr val="tx1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PayRay dalam satu kalimat</a:t>
            </a:r>
            <a:endParaRPr lang="en-US" sz="4000" dirty="0"/>
          </a:p>
        </p:txBody>
      </p:sp>
      <p:sp>
        <p:nvSpPr>
          <p:cNvPr id="4" name="kalimat-utama"/>
          <p:cNvSpPr txBox="1"/>
          <p:nvPr/>
        </p:nvSpPr>
        <p:spPr>
          <a:xfrm>
            <a:off x="685800" y="1874520"/>
            <a:ext cx="1033272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600" b="1" dirty="0">
                <a:solidFill>
                  <a:schemeClr val="tx1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PayRay memberi skor risiko kepatuhan ke </a:t>
            </a:r>
            <a:pPr indent="0" marL="0">
              <a:buNone/>
            </a:pPr>
            <a:r>
              <a:rPr lang="en-US" sz="2600" b="1" dirty="0">
                <a:solidFill>
                  <a:schemeClr val="accent1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seluruh</a:t>
            </a:r>
            <a:pPr indent="0" marL="0">
              <a:buNone/>
            </a:pPr>
            <a:r>
              <a:rPr lang="en-US" sz="2600" b="1" dirty="0">
                <a:solidFill>
                  <a:schemeClr val="tx1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 badan usaha setiap periode, sehingga petugas BPJS Kesehatan memeriksa yang paling berisiko lebih dulu.</a:t>
            </a:r>
            <a:endParaRPr lang="en-US" sz="2600" dirty="0"/>
          </a:p>
        </p:txBody>
      </p:sp>
      <p:sp>
        <p:nvSpPr>
          <p:cNvPr id="5" name="kartu-24"/>
          <p:cNvSpPr/>
          <p:nvPr/>
        </p:nvSpPr>
        <p:spPr>
          <a:xfrm>
            <a:off x="685800" y="3429000"/>
            <a:ext cx="3423818" cy="2514600"/>
          </a:xfrm>
          <a:prstGeom prst="roundRect">
            <a:avLst>
              <a:gd name="adj" fmla="val 4364"/>
            </a:avLst>
          </a:prstGeom>
          <a:solidFill>
            <a:schemeClr val="bg1"/>
          </a:solidFill>
          <a:ln w="9525">
            <a:solidFill>
              <a:srgbClr val="DEDCD4"/>
            </a:solidFill>
            <a:prstDash val="solid"/>
          </a:ln>
        </p:spPr>
      </p:sp>
      <p:sp>
        <p:nvSpPr>
          <p:cNvPr id="6" name="teks-25"/>
          <p:cNvSpPr txBox="1"/>
          <p:nvPr/>
        </p:nvSpPr>
        <p:spPr>
          <a:xfrm>
            <a:off x="960120" y="3703320"/>
            <a:ext cx="287517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b="1" spc="150" kern="0" dirty="0">
                <a:solidFill>
                  <a:schemeClr val="accent1"/>
                </a:solidFill>
              </a:rPr>
              <a:t>KATEGORI</a:t>
            </a:r>
            <a:endParaRPr lang="en-US" sz="1200" dirty="0"/>
          </a:p>
        </p:txBody>
      </p:sp>
      <p:sp>
        <p:nvSpPr>
          <p:cNvPr id="7" name="teks-26"/>
          <p:cNvSpPr txBox="1"/>
          <p:nvPr/>
        </p:nvSpPr>
        <p:spPr>
          <a:xfrm>
            <a:off x="960120" y="4114800"/>
            <a:ext cx="2875178" cy="1645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600"/>
              </a:spcAft>
              <a:buNone/>
            </a:pPr>
            <a:r>
              <a:rPr lang="en-US" sz="1800" b="1" dirty="0">
                <a:solidFill>
                  <a:schemeClr val="tx1"/>
                </a:solidFill>
              </a:rPr>
              <a:t>Peserta JKN &amp; Pemberi Kerja</a:t>
            </a:r>
            <a:endParaRPr lang="en-US" sz="1800" dirty="0"/>
          </a:p>
        </p:txBody>
      </p:sp>
      <p:sp>
        <p:nvSpPr>
          <p:cNvPr id="8" name="kartu-27"/>
          <p:cNvSpPr/>
          <p:nvPr/>
        </p:nvSpPr>
        <p:spPr>
          <a:xfrm>
            <a:off x="4383938" y="3429000"/>
            <a:ext cx="3423818" cy="2514600"/>
          </a:xfrm>
          <a:prstGeom prst="roundRect">
            <a:avLst>
              <a:gd name="adj" fmla="val 4364"/>
            </a:avLst>
          </a:prstGeom>
          <a:solidFill>
            <a:schemeClr val="bg1"/>
          </a:solidFill>
          <a:ln w="9525">
            <a:solidFill>
              <a:srgbClr val="DEDCD4"/>
            </a:solidFill>
            <a:prstDash val="solid"/>
          </a:ln>
        </p:spPr>
      </p:sp>
      <p:sp>
        <p:nvSpPr>
          <p:cNvPr id="9" name="teks-28"/>
          <p:cNvSpPr txBox="1"/>
          <p:nvPr/>
        </p:nvSpPr>
        <p:spPr>
          <a:xfrm>
            <a:off x="4658258" y="3703320"/>
            <a:ext cx="287517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b="1" spc="150" kern="0" dirty="0">
                <a:solidFill>
                  <a:schemeClr val="accent1"/>
                </a:solidFill>
              </a:rPr>
              <a:t>SUB-KATEGORI FOKUS</a:t>
            </a:r>
            <a:endParaRPr lang="en-US" sz="1200" dirty="0"/>
          </a:p>
        </p:txBody>
      </p:sp>
      <p:sp>
        <p:nvSpPr>
          <p:cNvPr id="10" name="teks-29"/>
          <p:cNvSpPr txBox="1"/>
          <p:nvPr/>
        </p:nvSpPr>
        <p:spPr>
          <a:xfrm>
            <a:off x="4658258" y="4114800"/>
            <a:ext cx="2875178" cy="1645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600"/>
              </a:spcAft>
              <a:buNone/>
            </a:pPr>
            <a:r>
              <a:rPr lang="en-US" sz="1800" b="1" dirty="0">
                <a:solidFill>
                  <a:schemeClr val="tx1"/>
                </a:solidFill>
              </a:rPr>
              <a:t>Under-reporting Upah</a:t>
            </a:r>
            <a:endParaRPr lang="en-US" sz="1800" dirty="0"/>
          </a:p>
          <a:p>
            <a:pPr indent="0" marL="0">
              <a:spcAft>
                <a:spcPts val="600"/>
              </a:spcAft>
              <a:buNone/>
            </a:pPr>
            <a:r>
              <a:rPr lang="en-US" sz="1800" b="1" dirty="0">
                <a:solidFill>
                  <a:schemeClr val="tx1"/>
                </a:solidFill>
              </a:rPr>
              <a:t>Pendaftaran Pekerja Sebagian</a:t>
            </a:r>
            <a:endParaRPr lang="en-US" sz="1800" dirty="0"/>
          </a:p>
          <a:p>
            <a:pPr indent="0" marL="0">
              <a:spcAft>
                <a:spcPts val="600"/>
              </a:spcAft>
              <a:buNone/>
            </a:pPr>
            <a:r>
              <a:rPr lang="en-US" sz="1800" b="1" dirty="0">
                <a:solidFill>
                  <a:schemeClr val="tx1"/>
                </a:solidFill>
              </a:rPr>
              <a:t>Misklasifikasi Status Kerja</a:t>
            </a:r>
            <a:endParaRPr lang="en-US" sz="1800" dirty="0"/>
          </a:p>
        </p:txBody>
      </p:sp>
      <p:sp>
        <p:nvSpPr>
          <p:cNvPr id="11" name="kartu-30"/>
          <p:cNvSpPr/>
          <p:nvPr/>
        </p:nvSpPr>
        <p:spPr>
          <a:xfrm>
            <a:off x="8082077" y="3429000"/>
            <a:ext cx="3423818" cy="2514600"/>
          </a:xfrm>
          <a:prstGeom prst="roundRect">
            <a:avLst>
              <a:gd name="adj" fmla="val 4364"/>
            </a:avLst>
          </a:prstGeom>
          <a:solidFill>
            <a:schemeClr val="bg1"/>
          </a:solidFill>
          <a:ln w="9525">
            <a:solidFill>
              <a:srgbClr val="DEDCD4"/>
            </a:solidFill>
            <a:prstDash val="solid"/>
          </a:ln>
        </p:spPr>
      </p:sp>
      <p:sp>
        <p:nvSpPr>
          <p:cNvPr id="12" name="teks-31"/>
          <p:cNvSpPr txBox="1"/>
          <p:nvPr/>
        </p:nvSpPr>
        <p:spPr>
          <a:xfrm>
            <a:off x="8356397" y="3703320"/>
            <a:ext cx="287517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b="1" spc="150" kern="0" dirty="0">
                <a:solidFill>
                  <a:schemeClr val="accent1"/>
                </a:solidFill>
              </a:rPr>
              <a:t>PEMBEDA</a:t>
            </a:r>
            <a:endParaRPr lang="en-US" sz="1200" dirty="0"/>
          </a:p>
        </p:txBody>
      </p:sp>
      <p:sp>
        <p:nvSpPr>
          <p:cNvPr id="13" name="teks-32"/>
          <p:cNvSpPr txBox="1"/>
          <p:nvPr/>
        </p:nvSpPr>
        <p:spPr>
          <a:xfrm>
            <a:off x="8356397" y="4114800"/>
            <a:ext cx="2875178" cy="1691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203200" indent="-203200">
              <a:spcAft>
                <a:spcPts val="600"/>
              </a:spcAft>
              <a:buSzPct val="100000"/>
              <a:buChar char="•"/>
            </a:pPr>
            <a:r>
              <a:rPr lang="en-US" sz="1600" dirty="0">
                <a:solidFill>
                  <a:schemeClr val="tx1"/>
                </a:solidFill>
              </a:rPr>
              <a:t>Alasan yang bisa dibaca petugas</a:t>
            </a:r>
            <a:endParaRPr lang="en-US" sz="1600" dirty="0"/>
          </a:p>
          <a:p>
            <a:pPr marL="203200" indent="-203200">
              <a:spcAft>
                <a:spcPts val="600"/>
              </a:spcAft>
              <a:buSzPct val="100000"/>
              <a:buChar char="•"/>
            </a:pPr>
            <a:r>
              <a:rPr lang="en-US" sz="1600" dirty="0">
                <a:solidFill>
                  <a:schemeClr val="tx1"/>
                </a:solidFill>
              </a:rPr>
              <a:t>Estimasi potensi iuran dalam rupiah</a:t>
            </a:r>
            <a:endParaRPr lang="en-US" sz="1600" dirty="0"/>
          </a:p>
          <a:p>
            <a:pPr marL="203200" indent="-203200">
              <a:spcAft>
                <a:spcPts val="600"/>
              </a:spcAft>
              <a:buSzPct val="100000"/>
              <a:buChar char="•"/>
            </a:pPr>
            <a:r>
              <a:rPr lang="en-US" sz="1600" dirty="0">
                <a:solidFill>
                  <a:schemeClr val="tx1"/>
                </a:solidFill>
              </a:rPr>
              <a:t>Aturan dibedakan per skala usaha: UMKM terlindungi</a:t>
            </a:r>
            <a:endParaRPr lang="en-US" sz="16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957255" y="6327648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100">
                <a:solidFill>
                  <a:srgbClr val="5B6B70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2</a:t>
            </a:fld>
            <a:endParaRPr lang="en-US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body" hasCustomPrompt="1"/>
          </p:nvPr>
        </p:nvSpPr>
        <p:spPr>
          <a:xfrm>
            <a:off x="685800" y="566928"/>
            <a:ext cx="10820095" cy="292608"/>
          </a:xfrm>
          <a:prstGeom prst="rect">
            <a:avLst/>
          </a:prstGeom>
          <a:noFill/>
          <a:ln/>
        </p:spPr>
        <p:txBody>
          <a:bodyPr wrap="square" lIns="0" tIns="0" rIns="0" bIns="0" rtlCol="0"/>
          <a:lstStyle/>
          <a:p>
            <a:pPr indent="0" marL="0">
              <a:buNone/>
            </a:pPr>
            <a:r>
              <a:rPr lang="en-US" sz="1300" b="1" spc="200" kern="0" dirty="0">
                <a:solidFill>
                  <a:schemeClr val="accent1"/>
                </a:solidFill>
                <a:latin typeface="Source Sans 3" pitchFamily="34" charset="0"/>
                <a:ea typeface="Source Sans 3" pitchFamily="34" charset="-122"/>
                <a:cs typeface="Source Sans 3" pitchFamily="34" charset="-120"/>
              </a:rPr>
              <a:t>02 · MASALAH</a:t>
            </a:r>
            <a:endParaRPr lang="en-US" sz="1300" dirty="0"/>
          </a:p>
        </p:txBody>
      </p:sp>
      <p:sp>
        <p:nvSpPr>
          <p:cNvPr id="3" name="Text 1"/>
          <p:cNvSpPr/>
          <p:nvPr>
            <p:ph idx="102" type="title" hasCustomPrompt="1"/>
          </p:nvPr>
        </p:nvSpPr>
        <p:spPr>
          <a:xfrm>
            <a:off x="685800" y="868680"/>
            <a:ext cx="10820095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4000" b="1" dirty="0">
                <a:solidFill>
                  <a:schemeClr val="tx1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Iuran PPU bocor lewat laporan</a:t>
            </a:r>
            <a:endParaRPr lang="en-US" sz="4000" dirty="0"/>
          </a:p>
        </p:txBody>
      </p:sp>
      <p:sp>
        <p:nvSpPr>
          <p:cNvPr id="4" name="pengantar-masalah"/>
          <p:cNvSpPr txBox="1"/>
          <p:nvPr/>
        </p:nvSpPr>
        <p:spPr>
          <a:xfrm>
            <a:off x="685800" y="1828800"/>
            <a:ext cx="104241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dirty="0">
                <a:solidFill>
                  <a:schemeClr val="accent5"/>
                </a:solidFill>
              </a:rPr>
              <a:t>Iuran pekerja penerima upah (PPU) dihitung 5% dari upah: </a:t>
            </a:r>
            <a:pPr indent="0" marL="0">
              <a:buNone/>
            </a:pPr>
            <a:r>
              <a:rPr lang="en-US" sz="1800" b="1" dirty="0">
                <a:solidFill>
                  <a:schemeClr val="accent5"/>
                </a:solidFill>
              </a:rPr>
              <a:t>4% pemberi kerja</a:t>
            </a:r>
            <a:pPr indent="0" marL="0">
              <a:buNone/>
            </a:pPr>
            <a:r>
              <a:rPr lang="en-US" sz="1800" dirty="0">
                <a:solidFill>
                  <a:schemeClr val="accent5"/>
                </a:solidFill>
              </a:rPr>
              <a:t> dan </a:t>
            </a:r>
            <a:pPr indent="0" marL="0">
              <a:buNone/>
            </a:pPr>
            <a:r>
              <a:rPr lang="en-US" sz="1800" b="1" dirty="0">
                <a:solidFill>
                  <a:schemeClr val="accent5"/>
                </a:solidFill>
              </a:rPr>
              <a:t>1% pekerja</a:t>
            </a:r>
            <a:pPr indent="0" marL="0">
              <a:buNone/>
            </a:pPr>
            <a:r>
              <a:rPr lang="en-US" sz="1800" dirty="0">
                <a:solidFill>
                  <a:schemeClr val="accent5"/>
                </a:solidFill>
              </a:rPr>
              <a:t>. Setiap rupiah upah atau setiap pekerja yang tidak dilaporkan langsung mengurangi iuran yang masuk.</a:t>
            </a:r>
            <a:endParaRPr lang="en-US" sz="1800" dirty="0"/>
          </a:p>
        </p:txBody>
      </p:sp>
      <p:sp>
        <p:nvSpPr>
          <p:cNvPr id="5" name="kartu-33"/>
          <p:cNvSpPr/>
          <p:nvPr/>
        </p:nvSpPr>
        <p:spPr>
          <a:xfrm>
            <a:off x="685800" y="2880360"/>
            <a:ext cx="3423818" cy="2971800"/>
          </a:xfrm>
          <a:prstGeom prst="roundRect">
            <a:avLst>
              <a:gd name="adj" fmla="val 3692"/>
            </a:avLst>
          </a:prstGeom>
          <a:solidFill>
            <a:schemeClr val="bg1"/>
          </a:solidFill>
          <a:ln w="9525">
            <a:solidFill>
              <a:srgbClr val="DEDCD4"/>
            </a:solidFill>
            <a:prstDash val="solid"/>
          </a:ln>
        </p:spPr>
      </p:sp>
      <p:sp>
        <p:nvSpPr>
          <p:cNvPr id="6" name="lingkar-ikon-34"/>
          <p:cNvSpPr/>
          <p:nvPr/>
        </p:nvSpPr>
        <p:spPr>
          <a:xfrm>
            <a:off x="960120" y="3154680"/>
            <a:ext cx="566928" cy="566928"/>
          </a:xfrm>
          <a:prstGeom prst="ellipse">
            <a:avLst/>
          </a:prstGeom>
          <a:solidFill>
            <a:schemeClr val="accent6"/>
          </a:solidFill>
          <a:ln/>
        </p:spPr>
      </p:sp>
      <p:pic>
        <p:nvPicPr>
          <p:cNvPr id="7" name="ikon-35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96183" y="3290743"/>
            <a:ext cx="294803" cy="294803"/>
          </a:xfrm>
          <a:prstGeom prst="rect">
            <a:avLst/>
          </a:prstGeom>
        </p:spPr>
      </p:pic>
      <p:sp>
        <p:nvSpPr>
          <p:cNvPr id="8" name="teks-36"/>
          <p:cNvSpPr txBox="1"/>
          <p:nvPr/>
        </p:nvSpPr>
        <p:spPr>
          <a:xfrm>
            <a:off x="3103778" y="3200400"/>
            <a:ext cx="7315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2600" b="1" dirty="0">
                <a:solidFill>
                  <a:schemeClr val="accent1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01</a:t>
            </a:r>
            <a:endParaRPr lang="en-US" sz="2600" dirty="0"/>
          </a:p>
        </p:txBody>
      </p:sp>
      <p:sp>
        <p:nvSpPr>
          <p:cNvPr id="9" name="teks-37"/>
          <p:cNvSpPr txBox="1"/>
          <p:nvPr/>
        </p:nvSpPr>
        <p:spPr>
          <a:xfrm>
            <a:off x="960120" y="3886200"/>
            <a:ext cx="2875178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000" b="1" dirty="0">
                <a:solidFill>
                  <a:schemeClr val="tx1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Under-reporting upah</a:t>
            </a:r>
            <a:endParaRPr lang="en-US" sz="2000" dirty="0"/>
          </a:p>
        </p:txBody>
      </p:sp>
      <p:sp>
        <p:nvSpPr>
          <p:cNvPr id="10" name="teks-38"/>
          <p:cNvSpPr txBox="1"/>
          <p:nvPr/>
        </p:nvSpPr>
        <p:spPr>
          <a:xfrm>
            <a:off x="960120" y="4663440"/>
            <a:ext cx="2875178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700" dirty="0">
                <a:solidFill>
                  <a:schemeClr val="accent5"/>
                </a:solidFill>
              </a:rPr>
              <a:t>Upah dilaporkan setara UMK, padahal upah riil lebih tinggi.</a:t>
            </a:r>
            <a:endParaRPr lang="en-US" sz="1700" dirty="0"/>
          </a:p>
        </p:txBody>
      </p:sp>
      <p:sp>
        <p:nvSpPr>
          <p:cNvPr id="11" name="kartu-39"/>
          <p:cNvSpPr/>
          <p:nvPr/>
        </p:nvSpPr>
        <p:spPr>
          <a:xfrm>
            <a:off x="4383938" y="2880360"/>
            <a:ext cx="3423818" cy="2971800"/>
          </a:xfrm>
          <a:prstGeom prst="roundRect">
            <a:avLst>
              <a:gd name="adj" fmla="val 3692"/>
            </a:avLst>
          </a:prstGeom>
          <a:solidFill>
            <a:schemeClr val="bg1"/>
          </a:solidFill>
          <a:ln w="9525">
            <a:solidFill>
              <a:srgbClr val="DEDCD4"/>
            </a:solidFill>
            <a:prstDash val="solid"/>
          </a:ln>
        </p:spPr>
      </p:sp>
      <p:sp>
        <p:nvSpPr>
          <p:cNvPr id="12" name="lingkar-ikon-40"/>
          <p:cNvSpPr/>
          <p:nvPr/>
        </p:nvSpPr>
        <p:spPr>
          <a:xfrm>
            <a:off x="4658258" y="3154680"/>
            <a:ext cx="566928" cy="566928"/>
          </a:xfrm>
          <a:prstGeom prst="ellipse">
            <a:avLst/>
          </a:prstGeom>
          <a:solidFill>
            <a:schemeClr val="accent6"/>
          </a:solidFill>
          <a:ln/>
        </p:spPr>
      </p:sp>
      <p:pic>
        <p:nvPicPr>
          <p:cNvPr id="13" name="ikon-4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794321" y="3290743"/>
            <a:ext cx="294803" cy="294803"/>
          </a:xfrm>
          <a:prstGeom prst="rect">
            <a:avLst/>
          </a:prstGeom>
        </p:spPr>
      </p:pic>
      <p:sp>
        <p:nvSpPr>
          <p:cNvPr id="14" name="teks-42"/>
          <p:cNvSpPr txBox="1"/>
          <p:nvPr/>
        </p:nvSpPr>
        <p:spPr>
          <a:xfrm>
            <a:off x="6801917" y="3200400"/>
            <a:ext cx="7315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2600" b="1" dirty="0">
                <a:solidFill>
                  <a:schemeClr val="accent1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02</a:t>
            </a:r>
            <a:endParaRPr lang="en-US" sz="2600" dirty="0"/>
          </a:p>
        </p:txBody>
      </p:sp>
      <p:sp>
        <p:nvSpPr>
          <p:cNvPr id="15" name="teks-43"/>
          <p:cNvSpPr txBox="1"/>
          <p:nvPr/>
        </p:nvSpPr>
        <p:spPr>
          <a:xfrm>
            <a:off x="4658258" y="3886200"/>
            <a:ext cx="2875178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000" b="1" dirty="0">
                <a:solidFill>
                  <a:schemeClr val="tx1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Pendaftaran sebagian</a:t>
            </a:r>
            <a:endParaRPr lang="en-US" sz="2000" dirty="0"/>
          </a:p>
        </p:txBody>
      </p:sp>
      <p:sp>
        <p:nvSpPr>
          <p:cNvPr id="16" name="teks-44"/>
          <p:cNvSpPr txBox="1"/>
          <p:nvPr/>
        </p:nvSpPr>
        <p:spPr>
          <a:xfrm>
            <a:off x="4658258" y="4663440"/>
            <a:ext cx="2875178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700" dirty="0">
                <a:solidFill>
                  <a:schemeClr val="accent5"/>
                </a:solidFill>
              </a:rPr>
              <a:t>Hanya sebagian karyawan yang didaftarkan untuk menekan beban iuran.</a:t>
            </a:r>
            <a:endParaRPr lang="en-US" sz="1700" dirty="0"/>
          </a:p>
        </p:txBody>
      </p:sp>
      <p:sp>
        <p:nvSpPr>
          <p:cNvPr id="17" name="kartu-45"/>
          <p:cNvSpPr/>
          <p:nvPr/>
        </p:nvSpPr>
        <p:spPr>
          <a:xfrm>
            <a:off x="8082077" y="2880360"/>
            <a:ext cx="3423818" cy="2971800"/>
          </a:xfrm>
          <a:prstGeom prst="roundRect">
            <a:avLst>
              <a:gd name="adj" fmla="val 3692"/>
            </a:avLst>
          </a:prstGeom>
          <a:solidFill>
            <a:schemeClr val="bg1"/>
          </a:solidFill>
          <a:ln w="9525">
            <a:solidFill>
              <a:srgbClr val="DEDCD4"/>
            </a:solidFill>
            <a:prstDash val="solid"/>
          </a:ln>
        </p:spPr>
      </p:sp>
      <p:sp>
        <p:nvSpPr>
          <p:cNvPr id="18" name="lingkar-ikon-46"/>
          <p:cNvSpPr/>
          <p:nvPr/>
        </p:nvSpPr>
        <p:spPr>
          <a:xfrm>
            <a:off x="8356397" y="3154680"/>
            <a:ext cx="566928" cy="566928"/>
          </a:xfrm>
          <a:prstGeom prst="ellipse">
            <a:avLst/>
          </a:prstGeom>
          <a:solidFill>
            <a:schemeClr val="accent6"/>
          </a:solidFill>
          <a:ln/>
        </p:spPr>
      </p:sp>
      <p:pic>
        <p:nvPicPr>
          <p:cNvPr id="19" name="ikon-47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492460" y="3290743"/>
            <a:ext cx="294803" cy="294803"/>
          </a:xfrm>
          <a:prstGeom prst="rect">
            <a:avLst/>
          </a:prstGeom>
        </p:spPr>
      </p:pic>
      <p:sp>
        <p:nvSpPr>
          <p:cNvPr id="20" name="teks-48"/>
          <p:cNvSpPr txBox="1"/>
          <p:nvPr/>
        </p:nvSpPr>
        <p:spPr>
          <a:xfrm>
            <a:off x="10500055" y="3200400"/>
            <a:ext cx="7315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2600" b="1" dirty="0">
                <a:solidFill>
                  <a:schemeClr val="accent1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03</a:t>
            </a:r>
            <a:endParaRPr lang="en-US" sz="2600" dirty="0"/>
          </a:p>
        </p:txBody>
      </p:sp>
      <p:sp>
        <p:nvSpPr>
          <p:cNvPr id="21" name="teks-49"/>
          <p:cNvSpPr txBox="1"/>
          <p:nvPr/>
        </p:nvSpPr>
        <p:spPr>
          <a:xfrm>
            <a:off x="8356397" y="3886200"/>
            <a:ext cx="2875178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000" b="1" dirty="0">
                <a:solidFill>
                  <a:schemeClr val="tx1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Misklasifikasi status</a:t>
            </a:r>
            <a:endParaRPr lang="en-US" sz="2000" dirty="0"/>
          </a:p>
        </p:txBody>
      </p:sp>
      <p:sp>
        <p:nvSpPr>
          <p:cNvPr id="22" name="teks-50"/>
          <p:cNvSpPr txBox="1"/>
          <p:nvPr/>
        </p:nvSpPr>
        <p:spPr>
          <a:xfrm>
            <a:off x="8356397" y="4663440"/>
            <a:ext cx="2875178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700" dirty="0">
                <a:solidFill>
                  <a:schemeClr val="accent5"/>
                </a:solidFill>
              </a:rPr>
              <a:t>Pekerja dipindah ke segmen mandiri (PBPU) agar lepas dari porsi 4%.</a:t>
            </a:r>
            <a:endParaRPr lang="en-US" sz="17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957255" y="6327648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100">
                <a:solidFill>
                  <a:srgbClr val="5B6B70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3</a:t>
            </a:fld>
            <a:endParaRPr lang="en-US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body" hasCustomPrompt="1"/>
          </p:nvPr>
        </p:nvSpPr>
        <p:spPr>
          <a:xfrm>
            <a:off x="685800" y="566928"/>
            <a:ext cx="10820095" cy="292608"/>
          </a:xfrm>
          <a:prstGeom prst="rect">
            <a:avLst/>
          </a:prstGeom>
          <a:noFill/>
          <a:ln/>
        </p:spPr>
        <p:txBody>
          <a:bodyPr wrap="square" lIns="0" tIns="0" rIns="0" bIns="0" rtlCol="0"/>
          <a:lstStyle/>
          <a:p>
            <a:pPr indent="0" marL="0">
              <a:buNone/>
            </a:pPr>
            <a:r>
              <a:rPr lang="en-US" sz="1300" b="1" spc="200" kern="0" dirty="0">
                <a:solidFill>
                  <a:schemeClr val="accent1"/>
                </a:solidFill>
                <a:latin typeface="Source Sans 3" pitchFamily="34" charset="0"/>
                <a:ea typeface="Source Sans 3" pitchFamily="34" charset="-122"/>
                <a:cs typeface="Source Sans 3" pitchFamily="34" charset="-120"/>
              </a:rPr>
              <a:t>02 · URGENSI</a:t>
            </a:r>
            <a:endParaRPr lang="en-US" sz="1300" dirty="0"/>
          </a:p>
        </p:txBody>
      </p:sp>
      <p:sp>
        <p:nvSpPr>
          <p:cNvPr id="3" name="Text 1"/>
          <p:cNvSpPr/>
          <p:nvPr>
            <p:ph idx="102" type="title" hasCustomPrompt="1"/>
          </p:nvPr>
        </p:nvSpPr>
        <p:spPr>
          <a:xfrm>
            <a:off x="685800" y="868680"/>
            <a:ext cx="10820095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4000" b="1" dirty="0">
                <a:solidFill>
                  <a:schemeClr val="tx1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Skala masalahnya</a:t>
            </a:r>
            <a:endParaRPr lang="en-US" sz="4000" dirty="0"/>
          </a:p>
        </p:txBody>
      </p:sp>
      <p:sp>
        <p:nvSpPr>
          <p:cNvPr id="4" name="kartu-51"/>
          <p:cNvSpPr/>
          <p:nvPr/>
        </p:nvSpPr>
        <p:spPr>
          <a:xfrm>
            <a:off x="685800" y="1874520"/>
            <a:ext cx="3423818" cy="2240280"/>
          </a:xfrm>
          <a:prstGeom prst="roundRect">
            <a:avLst>
              <a:gd name="adj" fmla="val 4898"/>
            </a:avLst>
          </a:prstGeom>
          <a:solidFill>
            <a:schemeClr val="bg1"/>
          </a:solidFill>
          <a:ln w="9525">
            <a:solidFill>
              <a:srgbClr val="DEDCD4"/>
            </a:solidFill>
            <a:prstDash val="solid"/>
          </a:ln>
        </p:spPr>
      </p:sp>
      <p:sp>
        <p:nvSpPr>
          <p:cNvPr id="5" name="teks-52"/>
          <p:cNvSpPr txBox="1"/>
          <p:nvPr/>
        </p:nvSpPr>
        <p:spPr>
          <a:xfrm>
            <a:off x="960120" y="2103120"/>
            <a:ext cx="2875178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4600" b="1" dirty="0">
                <a:solidFill>
                  <a:schemeClr val="accent1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282,8 jt</a:t>
            </a:r>
            <a:endParaRPr lang="en-US" sz="4600" dirty="0"/>
          </a:p>
        </p:txBody>
      </p:sp>
      <p:sp>
        <p:nvSpPr>
          <p:cNvPr id="6" name="teks-53"/>
          <p:cNvSpPr txBox="1"/>
          <p:nvPr/>
        </p:nvSpPr>
        <p:spPr>
          <a:xfrm>
            <a:off x="960120" y="2926080"/>
            <a:ext cx="2875178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dirty="0">
                <a:solidFill>
                  <a:schemeClr val="tx1"/>
                </a:solidFill>
              </a:rPr>
              <a:t>peserta JKN per 30 September 2026</a:t>
            </a:r>
            <a:endParaRPr lang="en-US" sz="1600" dirty="0"/>
          </a:p>
        </p:txBody>
      </p:sp>
      <p:sp>
        <p:nvSpPr>
          <p:cNvPr id="7" name="teks-54"/>
          <p:cNvSpPr txBox="1"/>
          <p:nvPr/>
        </p:nvSpPr>
        <p:spPr>
          <a:xfrm>
            <a:off x="960120" y="3749040"/>
            <a:ext cx="287517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chemeClr val="accent5"/>
                </a:solidFill>
              </a:rPr>
              <a:t>Sumber: Portal Data BPJS Kesehatan</a:t>
            </a:r>
            <a:endParaRPr lang="en-US" sz="1200" dirty="0"/>
          </a:p>
        </p:txBody>
      </p:sp>
      <p:sp>
        <p:nvSpPr>
          <p:cNvPr id="8" name="kartu-55"/>
          <p:cNvSpPr/>
          <p:nvPr/>
        </p:nvSpPr>
        <p:spPr>
          <a:xfrm>
            <a:off x="4383938" y="1874520"/>
            <a:ext cx="3423818" cy="2240280"/>
          </a:xfrm>
          <a:prstGeom prst="roundRect">
            <a:avLst>
              <a:gd name="adj" fmla="val 4898"/>
            </a:avLst>
          </a:prstGeom>
          <a:solidFill>
            <a:schemeClr val="bg1"/>
          </a:solidFill>
          <a:ln w="9525">
            <a:solidFill>
              <a:srgbClr val="DEDCD4"/>
            </a:solidFill>
            <a:prstDash val="solid"/>
          </a:ln>
        </p:spPr>
      </p:sp>
      <p:sp>
        <p:nvSpPr>
          <p:cNvPr id="9" name="teks-56"/>
          <p:cNvSpPr txBox="1"/>
          <p:nvPr/>
        </p:nvSpPr>
        <p:spPr>
          <a:xfrm>
            <a:off x="4658258" y="2103120"/>
            <a:ext cx="2875178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4600" b="1" dirty="0">
                <a:solidFill>
                  <a:schemeClr val="accent1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47,0 jt</a:t>
            </a:r>
            <a:endParaRPr lang="en-US" sz="4600" dirty="0"/>
          </a:p>
        </p:txBody>
      </p:sp>
      <p:sp>
        <p:nvSpPr>
          <p:cNvPr id="10" name="teks-57"/>
          <p:cNvSpPr txBox="1"/>
          <p:nvPr/>
        </p:nvSpPr>
        <p:spPr>
          <a:xfrm>
            <a:off x="4658258" y="2926080"/>
            <a:ext cx="2875178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dirty="0">
                <a:solidFill>
                  <a:schemeClr val="tx1"/>
                </a:solidFill>
              </a:rPr>
              <a:t>peserta PPU Badan Usaha, 16,6% peserta JKN, segmen yang dilindungi PayRay</a:t>
            </a:r>
            <a:endParaRPr lang="en-US" sz="1600" dirty="0"/>
          </a:p>
        </p:txBody>
      </p:sp>
      <p:sp>
        <p:nvSpPr>
          <p:cNvPr id="11" name="teks-58"/>
          <p:cNvSpPr txBox="1"/>
          <p:nvPr/>
        </p:nvSpPr>
        <p:spPr>
          <a:xfrm>
            <a:off x="4658258" y="3749040"/>
            <a:ext cx="287517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chemeClr val="accent5"/>
                </a:solidFill>
              </a:rPr>
              <a:t>Sumber: Portal Data BPJS Kesehatan</a:t>
            </a:r>
            <a:endParaRPr lang="en-US" sz="1200" dirty="0"/>
          </a:p>
        </p:txBody>
      </p:sp>
      <p:sp>
        <p:nvSpPr>
          <p:cNvPr id="12" name="kartu-59"/>
          <p:cNvSpPr/>
          <p:nvPr/>
        </p:nvSpPr>
        <p:spPr>
          <a:xfrm>
            <a:off x="8082077" y="1874520"/>
            <a:ext cx="3423818" cy="2240280"/>
          </a:xfrm>
          <a:prstGeom prst="roundRect">
            <a:avLst>
              <a:gd name="adj" fmla="val 4898"/>
            </a:avLst>
          </a:prstGeom>
          <a:solidFill>
            <a:schemeClr val="bg1"/>
          </a:solidFill>
          <a:ln w="9525">
            <a:solidFill>
              <a:srgbClr val="DEDCD4"/>
            </a:solidFill>
            <a:prstDash val="solid"/>
          </a:ln>
        </p:spPr>
      </p:sp>
      <p:sp>
        <p:nvSpPr>
          <p:cNvPr id="13" name="teks-60"/>
          <p:cNvSpPr txBox="1"/>
          <p:nvPr/>
        </p:nvSpPr>
        <p:spPr>
          <a:xfrm>
            <a:off x="8356397" y="2103120"/>
            <a:ext cx="2875178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4600" b="1" dirty="0">
                <a:solidFill>
                  <a:schemeClr val="accent1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Rp31,61 T</a:t>
            </a:r>
            <a:endParaRPr lang="en-US" sz="4600" dirty="0"/>
          </a:p>
        </p:txBody>
      </p:sp>
      <p:sp>
        <p:nvSpPr>
          <p:cNvPr id="14" name="teks-61"/>
          <p:cNvSpPr txBox="1"/>
          <p:nvPr/>
        </p:nvSpPr>
        <p:spPr>
          <a:xfrm>
            <a:off x="8356397" y="2926080"/>
            <a:ext cx="2875178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dirty="0">
                <a:solidFill>
                  <a:schemeClr val="tx1"/>
                </a:solidFill>
              </a:rPr>
              <a:t>pendapatan iuran PPU badan usaha &amp; penyelenggara negara tidak didukung data memadai</a:t>
            </a:r>
            <a:endParaRPr lang="en-US" sz="1600" dirty="0"/>
          </a:p>
        </p:txBody>
      </p:sp>
      <p:sp>
        <p:nvSpPr>
          <p:cNvPr id="15" name="teks-62"/>
          <p:cNvSpPr txBox="1"/>
          <p:nvPr/>
        </p:nvSpPr>
        <p:spPr>
          <a:xfrm>
            <a:off x="8356397" y="3749040"/>
            <a:ext cx="287517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chemeClr val="accent5"/>
                </a:solidFill>
              </a:rPr>
              <a:t>Sumber: BPK, IHPS II Tahun 2025</a:t>
            </a:r>
            <a:endParaRPr lang="en-US" sz="1200" dirty="0"/>
          </a:p>
        </p:txBody>
      </p:sp>
      <p:sp>
        <p:nvSpPr>
          <p:cNvPr id="16" name="kartu-63"/>
          <p:cNvSpPr/>
          <p:nvPr/>
        </p:nvSpPr>
        <p:spPr>
          <a:xfrm>
            <a:off x="685800" y="4389120"/>
            <a:ext cx="10820095" cy="1600200"/>
          </a:xfrm>
          <a:prstGeom prst="roundRect">
            <a:avLst>
              <a:gd name="adj" fmla="val 6857"/>
            </a:avLst>
          </a:prstGeom>
          <a:solidFill>
            <a:schemeClr val="accent6"/>
          </a:solidFill>
          <a:ln/>
        </p:spPr>
      </p:sp>
      <p:sp>
        <p:nvSpPr>
          <p:cNvPr id="17" name="teks-64"/>
          <p:cNvSpPr txBox="1"/>
          <p:nvPr/>
        </p:nvSpPr>
        <p:spPr>
          <a:xfrm>
            <a:off x="1005840" y="4617720"/>
            <a:ext cx="10180015" cy="1234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800"/>
              </a:spcAft>
              <a:buNone/>
            </a:pPr>
            <a:r>
              <a:rPr lang="en-US" sz="1700" dirty="0">
                <a:solidFill>
                  <a:schemeClr val="tx1"/>
                </a:solidFill>
              </a:rPr>
              <a:t>Di Tulungagung, baru 416 dari 1.092 badan usaha terdata yang mendaftarkan pekerjanya (ANTARA, Juni 2026). </a:t>
            </a:r>
            <a:pPr indent="0" marL="0">
              <a:spcAft>
                <a:spcPts val="800"/>
              </a:spcAft>
              <a:buNone/>
            </a:pPr>
            <a:r>
              <a:rPr lang="en-US" sz="1700" dirty="0">
                <a:solidFill>
                  <a:schemeClr val="tx1"/>
                </a:solidFill>
              </a:rPr>
              <a:t>Kapasitas pemeriksaan terbatas; tanpa prioritas berbasis data, sebagian ketidakpatuhan tidak terpantau.</a:t>
            </a:r>
            <a:endParaRPr lang="en-US" sz="1700" dirty="0"/>
          </a:p>
          <a:p>
            <a:pPr indent="0" marL="0">
              <a:spcAft>
                <a:spcPts val="800"/>
              </a:spcAft>
              <a:buNone/>
            </a:pPr>
            <a:r>
              <a:rPr lang="en-US" sz="1700" b="1" i="1" dirty="0">
                <a:solidFill>
                  <a:schemeClr val="accent1"/>
                </a:solidFill>
              </a:rPr>
              <a:t>Kami membingkainya sebagai efisiensi dan integritas, bukan tuduhan.</a:t>
            </a:r>
            <a:endParaRPr lang="en-US" sz="17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957255" y="6327648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100">
                <a:solidFill>
                  <a:srgbClr val="5B6B70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4</a:t>
            </a:fld>
            <a:endParaRPr lang="en-US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body" hasCustomPrompt="1"/>
          </p:nvPr>
        </p:nvSpPr>
        <p:spPr>
          <a:xfrm>
            <a:off x="685800" y="566928"/>
            <a:ext cx="10820095" cy="292608"/>
          </a:xfrm>
          <a:prstGeom prst="rect">
            <a:avLst/>
          </a:prstGeom>
          <a:noFill/>
          <a:ln/>
        </p:spPr>
        <p:txBody>
          <a:bodyPr wrap="square" lIns="0" tIns="0" rIns="0" bIns="0" rtlCol="0"/>
          <a:lstStyle/>
          <a:p>
            <a:pPr indent="0" marL="0">
              <a:buNone/>
            </a:pPr>
            <a:r>
              <a:rPr lang="en-US" sz="1300" b="1" spc="200" kern="0" dirty="0">
                <a:solidFill>
                  <a:schemeClr val="accent2"/>
                </a:solidFill>
                <a:latin typeface="Source Sans 3" pitchFamily="34" charset="0"/>
                <a:ea typeface="Source Sans 3" pitchFamily="34" charset="-122"/>
                <a:cs typeface="Source Sans 3" pitchFamily="34" charset="-120"/>
              </a:rPr>
              <a:t>03 · SOLUSI</a:t>
            </a:r>
            <a:endParaRPr lang="en-US" sz="1300" dirty="0"/>
          </a:p>
        </p:txBody>
      </p:sp>
      <p:sp>
        <p:nvSpPr>
          <p:cNvPr id="3" name="Text 1"/>
          <p:cNvSpPr/>
          <p:nvPr>
            <p:ph idx="102" type="title" hasCustomPrompt="1"/>
          </p:nvPr>
        </p:nvSpPr>
        <p:spPr>
          <a:xfrm>
            <a:off x="685800" y="868680"/>
            <a:ext cx="10820095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4000" b="1" dirty="0">
                <a:solidFill>
                  <a:schemeClr val="bg1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Prioritas pemeriksaan berbasis data</a:t>
            </a:r>
            <a:endParaRPr lang="en-US" sz="4000" dirty="0"/>
          </a:p>
        </p:txBody>
      </p:sp>
      <p:sp>
        <p:nvSpPr>
          <p:cNvPr id="4" name="kartu-65"/>
          <p:cNvSpPr/>
          <p:nvPr/>
        </p:nvSpPr>
        <p:spPr>
          <a:xfrm>
            <a:off x="685800" y="2103120"/>
            <a:ext cx="4937760" cy="3291840"/>
          </a:xfrm>
          <a:prstGeom prst="roundRect">
            <a:avLst>
              <a:gd name="adj" fmla="val 3333"/>
            </a:avLst>
          </a:prstGeom>
          <a:solidFill>
            <a:schemeClr val="accent3"/>
          </a:solidFill>
          <a:ln/>
        </p:spPr>
      </p:sp>
      <p:sp>
        <p:nvSpPr>
          <p:cNvPr id="5" name="teks-66"/>
          <p:cNvSpPr txBox="1"/>
          <p:nvPr/>
        </p:nvSpPr>
        <p:spPr>
          <a:xfrm>
            <a:off x="1051560" y="2377440"/>
            <a:ext cx="42062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b="1" spc="150" kern="0" dirty="0">
                <a:solidFill>
                  <a:schemeClr val="accent1"/>
                </a:solidFill>
              </a:rPr>
              <a:t>HARI INI</a:t>
            </a:r>
            <a:endParaRPr lang="en-US" sz="1200" dirty="0"/>
          </a:p>
        </p:txBody>
      </p:sp>
      <p:sp>
        <p:nvSpPr>
          <p:cNvPr id="6" name="teks-67"/>
          <p:cNvSpPr txBox="1"/>
          <p:nvPr/>
        </p:nvSpPr>
        <p:spPr>
          <a:xfrm>
            <a:off x="1051560" y="2788920"/>
            <a:ext cx="4206240" cy="2377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203200" indent="-203200">
              <a:spcAft>
                <a:spcPts val="1000"/>
              </a:spcAft>
              <a:buSzPct val="100000"/>
              <a:buChar char="•"/>
            </a:pPr>
            <a:r>
              <a:rPr lang="en-US" sz="1700" dirty="0">
                <a:solidFill>
                  <a:srgbClr val="B9C7C9"/>
                </a:solidFill>
              </a:rPr>
              <a:t>Target pemeriksaan bergantung pada kapasitas dan informasi yang tersedia</a:t>
            </a:r>
            <a:endParaRPr lang="en-US" sz="1700" dirty="0"/>
          </a:p>
          <a:p>
            <a:pPr marL="203200" indent="-203200">
              <a:spcAft>
                <a:spcPts val="1000"/>
              </a:spcAft>
              <a:buSzPct val="100000"/>
              <a:buChar char="•"/>
            </a:pPr>
            <a:r>
              <a:rPr lang="en-US" sz="1700" dirty="0">
                <a:solidFill>
                  <a:srgbClr val="B9C7C9"/>
                </a:solidFill>
              </a:rPr>
              <a:t>Ketidakpatuhan sering baru terlihat setelah iuran lama bocor</a:t>
            </a:r>
            <a:endParaRPr lang="en-US" sz="1700" dirty="0"/>
          </a:p>
          <a:p>
            <a:pPr marL="203200" indent="-203200">
              <a:spcAft>
                <a:spcPts val="1000"/>
              </a:spcAft>
              <a:buSzPct val="100000"/>
              <a:buChar char="•"/>
            </a:pPr>
            <a:r>
              <a:rPr lang="en-US" sz="1700" dirty="0">
                <a:solidFill>
                  <a:srgbClr val="B9C7C9"/>
                </a:solidFill>
              </a:rPr>
              <a:t>Sulit membandingkan ribuan badan usaha sekaligus</a:t>
            </a:r>
            <a:endParaRPr lang="en-US" sz="1700" dirty="0"/>
          </a:p>
        </p:txBody>
      </p:sp>
      <p:sp>
        <p:nvSpPr>
          <p:cNvPr id="7" name="panah-solusi"/>
          <p:cNvSpPr/>
          <p:nvPr/>
        </p:nvSpPr>
        <p:spPr>
          <a:xfrm>
            <a:off x="5870448" y="3520440"/>
            <a:ext cx="502920" cy="365760"/>
          </a:xfrm>
          <a:prstGeom prst="rightArrow">
            <a:avLst/>
          </a:prstGeom>
          <a:solidFill>
            <a:schemeClr val="accent2"/>
          </a:solidFill>
          <a:ln/>
        </p:spPr>
      </p:sp>
      <p:sp>
        <p:nvSpPr>
          <p:cNvPr id="8" name="kartu-68"/>
          <p:cNvSpPr/>
          <p:nvPr/>
        </p:nvSpPr>
        <p:spPr>
          <a:xfrm>
            <a:off x="6565392" y="2103120"/>
            <a:ext cx="4937760" cy="3291840"/>
          </a:xfrm>
          <a:prstGeom prst="roundRect">
            <a:avLst>
              <a:gd name="adj" fmla="val 3333"/>
            </a:avLst>
          </a:prstGeom>
          <a:solidFill>
            <a:schemeClr val="accent1">
              <a:alpha val="45000"/>
            </a:schemeClr>
          </a:solidFill>
          <a:ln w="9525">
            <a:solidFill>
              <a:srgbClr val="A6CE39"/>
            </a:solidFill>
            <a:prstDash val="solid"/>
          </a:ln>
        </p:spPr>
      </p:sp>
      <p:sp>
        <p:nvSpPr>
          <p:cNvPr id="9" name="teks-69"/>
          <p:cNvSpPr txBox="1"/>
          <p:nvPr/>
        </p:nvSpPr>
        <p:spPr>
          <a:xfrm>
            <a:off x="6931152" y="2377440"/>
            <a:ext cx="42062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b="1" spc="150" kern="0" dirty="0">
                <a:solidFill>
                  <a:schemeClr val="accent2"/>
                </a:solidFill>
              </a:rPr>
              <a:t>DENGAN PAYRAY</a:t>
            </a:r>
            <a:endParaRPr lang="en-US" sz="1200" dirty="0"/>
          </a:p>
        </p:txBody>
      </p:sp>
      <p:sp>
        <p:nvSpPr>
          <p:cNvPr id="10" name="teks-70"/>
          <p:cNvSpPr txBox="1"/>
          <p:nvPr/>
        </p:nvSpPr>
        <p:spPr>
          <a:xfrm>
            <a:off x="6931152" y="2788920"/>
            <a:ext cx="4206240" cy="2377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203200" indent="-203200">
              <a:spcAft>
                <a:spcPts val="1000"/>
              </a:spcAft>
              <a:buSzPct val="100000"/>
              <a:buChar char="•"/>
            </a:pPr>
            <a:r>
              <a:rPr lang="en-US" sz="1700" dirty="0">
                <a:solidFill>
                  <a:schemeClr val="bg1"/>
                </a:solidFill>
              </a:rPr>
              <a:t>Semua badan usaha diskor otomatis setiap periode, &lt; 1 menit untuk 5.000</a:t>
            </a:r>
            <a:endParaRPr lang="en-US" sz="1700" dirty="0"/>
          </a:p>
          <a:p>
            <a:pPr marL="203200" indent="-203200">
              <a:spcAft>
                <a:spcPts val="1000"/>
              </a:spcAft>
              <a:buSzPct val="100000"/>
              <a:buChar char="•"/>
            </a:pPr>
            <a:r>
              <a:rPr lang="en-US" sz="1700" dirty="0">
                <a:solidFill>
                  <a:schemeClr val="bg1"/>
                </a:solidFill>
              </a:rPr>
              <a:t>Petugas mulai dari prioritas tertinggi, berdasarkan skor dan keyakinan</a:t>
            </a:r>
            <a:endParaRPr lang="en-US" sz="1700" dirty="0"/>
          </a:p>
          <a:p>
            <a:pPr marL="203200" indent="-203200">
              <a:spcAft>
                <a:spcPts val="1000"/>
              </a:spcAft>
              <a:buSzPct val="100000"/>
              <a:buChar char="•"/>
            </a:pPr>
            <a:r>
              <a:rPr lang="en-US" sz="1700" dirty="0">
                <a:solidFill>
                  <a:schemeClr val="bg1"/>
                </a:solidFill>
              </a:rPr>
              <a:t>Setiap skor disertai alasan dan estimasi potensi iuran dalam rupiah</a:t>
            </a:r>
            <a:endParaRPr lang="en-US" sz="17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957255" y="6327648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100">
                <a:solidFill>
                  <a:srgbClr val="B9C7C9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5</a:t>
            </a:fld>
            <a:endParaRPr lang="en-US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body" hasCustomPrompt="1"/>
          </p:nvPr>
        </p:nvSpPr>
        <p:spPr>
          <a:xfrm>
            <a:off x="685800" y="566928"/>
            <a:ext cx="10820095" cy="292608"/>
          </a:xfrm>
          <a:prstGeom prst="rect">
            <a:avLst/>
          </a:prstGeom>
          <a:noFill/>
          <a:ln/>
        </p:spPr>
        <p:txBody>
          <a:bodyPr wrap="square" lIns="0" tIns="0" rIns="0" bIns="0" rtlCol="0"/>
          <a:lstStyle/>
          <a:p>
            <a:pPr indent="0" marL="0">
              <a:buNone/>
            </a:pPr>
            <a:r>
              <a:rPr lang="en-US" sz="1300" b="1" spc="200" kern="0" dirty="0">
                <a:solidFill>
                  <a:schemeClr val="accent1"/>
                </a:solidFill>
                <a:latin typeface="Source Sans 3" pitchFamily="34" charset="0"/>
                <a:ea typeface="Source Sans 3" pitchFamily="34" charset="-122"/>
                <a:cs typeface="Source Sans 3" pitchFamily="34" charset="-120"/>
              </a:rPr>
              <a:t>03 · CARA KERJA</a:t>
            </a:r>
            <a:endParaRPr lang="en-US" sz="1300" dirty="0"/>
          </a:p>
        </p:txBody>
      </p:sp>
      <p:sp>
        <p:nvSpPr>
          <p:cNvPr id="3" name="Text 1"/>
          <p:cNvSpPr/>
          <p:nvPr>
            <p:ph idx="102" type="title" hasCustomPrompt="1"/>
          </p:nvPr>
        </p:nvSpPr>
        <p:spPr>
          <a:xfrm>
            <a:off x="685800" y="868680"/>
            <a:ext cx="10820095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4000" b="1" dirty="0">
                <a:solidFill>
                  <a:schemeClr val="tx1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Tiga sudut pandang scan</a:t>
            </a:r>
            <a:endParaRPr lang="en-US" sz="4000" dirty="0"/>
          </a:p>
        </p:txBody>
      </p:sp>
      <p:sp>
        <p:nvSpPr>
          <p:cNvPr id="4" name="kartu-71"/>
          <p:cNvSpPr/>
          <p:nvPr/>
        </p:nvSpPr>
        <p:spPr>
          <a:xfrm>
            <a:off x="685800" y="1874520"/>
            <a:ext cx="3423818" cy="4069080"/>
          </a:xfrm>
          <a:prstGeom prst="roundRect">
            <a:avLst>
              <a:gd name="adj" fmla="val 3205"/>
            </a:avLst>
          </a:prstGeom>
          <a:solidFill>
            <a:schemeClr val="bg1"/>
          </a:solidFill>
          <a:ln w="9525">
            <a:solidFill>
              <a:srgbClr val="DEDCD4"/>
            </a:solidFill>
            <a:prstDash val="solid"/>
          </a:ln>
        </p:spPr>
      </p:sp>
      <p:sp>
        <p:nvSpPr>
          <p:cNvPr id="5" name="lingkar-ikon-72"/>
          <p:cNvSpPr/>
          <p:nvPr/>
        </p:nvSpPr>
        <p:spPr>
          <a:xfrm>
            <a:off x="960120" y="2148840"/>
            <a:ext cx="566928" cy="566928"/>
          </a:xfrm>
          <a:prstGeom prst="ellipse">
            <a:avLst/>
          </a:prstGeom>
          <a:solidFill>
            <a:schemeClr val="accent6"/>
          </a:solidFill>
          <a:ln/>
        </p:spPr>
      </p:sp>
      <p:pic>
        <p:nvPicPr>
          <p:cNvPr id="6" name="ikon-73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96183" y="2284903"/>
            <a:ext cx="294803" cy="294803"/>
          </a:xfrm>
          <a:prstGeom prst="rect">
            <a:avLst/>
          </a:prstGeom>
        </p:spPr>
      </p:pic>
      <p:sp>
        <p:nvSpPr>
          <p:cNvPr id="7" name="teks-74"/>
          <p:cNvSpPr txBox="1"/>
          <p:nvPr/>
        </p:nvSpPr>
        <p:spPr>
          <a:xfrm>
            <a:off x="960120" y="2880360"/>
            <a:ext cx="2875178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100" b="1" dirty="0">
                <a:solidFill>
                  <a:schemeClr val="tx1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Scan Upah</a:t>
            </a:r>
            <a:endParaRPr lang="en-US" sz="2100" dirty="0"/>
          </a:p>
        </p:txBody>
      </p:sp>
      <p:sp>
        <p:nvSpPr>
          <p:cNvPr id="8" name="teks-75"/>
          <p:cNvSpPr txBox="1"/>
          <p:nvPr/>
        </p:nvSpPr>
        <p:spPr>
          <a:xfrm>
            <a:off x="960120" y="3310128"/>
            <a:ext cx="2875178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chemeClr val="accent1"/>
                </a:solidFill>
              </a:rPr>
              <a:t>Under-reporting Upah</a:t>
            </a:r>
            <a:endParaRPr lang="en-US" sz="1500" dirty="0"/>
          </a:p>
        </p:txBody>
      </p:sp>
      <p:sp>
        <p:nvSpPr>
          <p:cNvPr id="9" name="teks-76"/>
          <p:cNvSpPr txBox="1"/>
          <p:nvPr/>
        </p:nvSpPr>
        <p:spPr>
          <a:xfrm>
            <a:off x="960120" y="3749040"/>
            <a:ext cx="2875178" cy="2057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203200" indent="-203200">
              <a:spcAft>
                <a:spcPts val="700"/>
              </a:spcAft>
              <a:buSzPct val="100000"/>
              <a:buChar char="•"/>
            </a:pPr>
            <a:r>
              <a:rPr lang="en-US" sz="1500" dirty="0">
                <a:solidFill>
                  <a:schemeClr val="tx1"/>
                </a:solidFill>
              </a:rPr>
              <a:t>Bunching tepat di UMK vs sektor sejenis</a:t>
            </a:r>
            <a:endParaRPr lang="en-US" sz="1500" dirty="0"/>
          </a:p>
          <a:p>
            <a:pPr marL="203200" indent="-203200">
              <a:spcAft>
                <a:spcPts val="700"/>
              </a:spcAft>
              <a:buSzPct val="100000"/>
              <a:buChar char="•"/>
            </a:pPr>
            <a:r>
              <a:rPr lang="en-US" sz="1500" dirty="0">
                <a:solidFill>
                  <a:schemeClr val="tx1"/>
                </a:solidFill>
              </a:rPr>
              <a:t>Tidak ada staf di atas UMK</a:t>
            </a:r>
            <a:endParaRPr lang="en-US" sz="1500" dirty="0"/>
          </a:p>
          <a:p>
            <a:pPr marL="203200" indent="-203200">
              <a:spcAft>
                <a:spcPts val="700"/>
              </a:spcAft>
              <a:buSzPct val="100000"/>
              <a:buChar char="•"/>
            </a:pPr>
            <a:r>
              <a:rPr lang="en-US" sz="1500" dirty="0">
                <a:solidFill>
                  <a:schemeClr val="tx1"/>
                </a:solidFill>
              </a:rPr>
              <a:t>Upah beku saat UMK naik</a:t>
            </a:r>
            <a:endParaRPr lang="en-US" sz="1500" dirty="0"/>
          </a:p>
          <a:p>
            <a:pPr marL="203200" indent="-203200">
              <a:spcAft>
                <a:spcPts val="700"/>
              </a:spcAft>
              <a:buSzPct val="100000"/>
              <a:buChar char="•"/>
            </a:pPr>
            <a:r>
              <a:rPr lang="en-US" sz="1500" dirty="0">
                <a:solidFill>
                  <a:schemeClr val="tx1"/>
                </a:solidFill>
              </a:rPr>
              <a:t>Upah teratas jauh di bawah sektor &amp; wilayah</a:t>
            </a:r>
            <a:endParaRPr lang="en-US" sz="1500" dirty="0"/>
          </a:p>
        </p:txBody>
      </p:sp>
      <p:sp>
        <p:nvSpPr>
          <p:cNvPr id="10" name="kartu-77"/>
          <p:cNvSpPr/>
          <p:nvPr/>
        </p:nvSpPr>
        <p:spPr>
          <a:xfrm>
            <a:off x="4383938" y="1874520"/>
            <a:ext cx="3423818" cy="4069080"/>
          </a:xfrm>
          <a:prstGeom prst="roundRect">
            <a:avLst>
              <a:gd name="adj" fmla="val 3205"/>
            </a:avLst>
          </a:prstGeom>
          <a:solidFill>
            <a:schemeClr val="bg1"/>
          </a:solidFill>
          <a:ln w="9525">
            <a:solidFill>
              <a:srgbClr val="DEDCD4"/>
            </a:solidFill>
            <a:prstDash val="solid"/>
          </a:ln>
        </p:spPr>
      </p:sp>
      <p:sp>
        <p:nvSpPr>
          <p:cNvPr id="11" name="lingkar-ikon-78"/>
          <p:cNvSpPr/>
          <p:nvPr/>
        </p:nvSpPr>
        <p:spPr>
          <a:xfrm>
            <a:off x="4658258" y="2148840"/>
            <a:ext cx="566928" cy="566928"/>
          </a:xfrm>
          <a:prstGeom prst="ellipse">
            <a:avLst/>
          </a:prstGeom>
          <a:solidFill>
            <a:schemeClr val="accent6"/>
          </a:solidFill>
          <a:ln/>
        </p:spPr>
      </p:sp>
      <p:pic>
        <p:nvPicPr>
          <p:cNvPr id="12" name="ikon-79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794321" y="2284903"/>
            <a:ext cx="294803" cy="294803"/>
          </a:xfrm>
          <a:prstGeom prst="rect">
            <a:avLst/>
          </a:prstGeom>
        </p:spPr>
      </p:pic>
      <p:sp>
        <p:nvSpPr>
          <p:cNvPr id="13" name="teks-80"/>
          <p:cNvSpPr txBox="1"/>
          <p:nvPr/>
        </p:nvSpPr>
        <p:spPr>
          <a:xfrm>
            <a:off x="4658258" y="2880360"/>
            <a:ext cx="2875178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100" b="1" dirty="0">
                <a:solidFill>
                  <a:schemeClr val="tx1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Scan Headcount</a:t>
            </a:r>
            <a:endParaRPr lang="en-US" sz="2100" dirty="0"/>
          </a:p>
        </p:txBody>
      </p:sp>
      <p:sp>
        <p:nvSpPr>
          <p:cNvPr id="14" name="teks-81"/>
          <p:cNvSpPr txBox="1"/>
          <p:nvPr/>
        </p:nvSpPr>
        <p:spPr>
          <a:xfrm>
            <a:off x="4658258" y="3310128"/>
            <a:ext cx="2875178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chemeClr val="accent1"/>
                </a:solidFill>
              </a:rPr>
              <a:t>Pendaftaran Pekerja Sebagian</a:t>
            </a:r>
            <a:endParaRPr lang="en-US" sz="1500" dirty="0"/>
          </a:p>
        </p:txBody>
      </p:sp>
      <p:sp>
        <p:nvSpPr>
          <p:cNvPr id="15" name="teks-82"/>
          <p:cNvSpPr txBox="1"/>
          <p:nvPr/>
        </p:nvSpPr>
        <p:spPr>
          <a:xfrm>
            <a:off x="4658258" y="3749040"/>
            <a:ext cx="2875178" cy="2057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203200" indent="-203200">
              <a:spcAft>
                <a:spcPts val="700"/>
              </a:spcAft>
              <a:buSzPct val="100000"/>
              <a:buChar char="•"/>
            </a:pPr>
            <a:r>
              <a:rPr lang="en-US" sz="1500" dirty="0">
                <a:solidFill>
                  <a:schemeClr val="tx1"/>
                </a:solidFill>
              </a:rPr>
              <a:t>Pekerja terdaftar vs rencana tenaga kerja di NIB/OSS</a:t>
            </a:r>
            <a:endParaRPr lang="en-US" sz="1500" dirty="0"/>
          </a:p>
          <a:p>
            <a:pPr marL="203200" indent="-203200">
              <a:spcAft>
                <a:spcPts val="700"/>
              </a:spcAft>
              <a:buSzPct val="100000"/>
              <a:buChar char="•"/>
            </a:pPr>
            <a:r>
              <a:rPr lang="en-US" sz="1500" dirty="0">
                <a:solidFill>
                  <a:schemeClr val="tx1"/>
                </a:solidFill>
              </a:rPr>
              <a:t>Pola jumlah pekerja per sektor (KBLI) &amp; skala</a:t>
            </a:r>
            <a:endParaRPr lang="en-US" sz="1500" dirty="0"/>
          </a:p>
          <a:p>
            <a:pPr marL="203200" indent="-203200">
              <a:spcAft>
                <a:spcPts val="700"/>
              </a:spcAft>
              <a:buSzPct val="100000"/>
              <a:buChar char="•"/>
            </a:pPr>
            <a:r>
              <a:rPr lang="en-US" sz="1500" dirty="0">
                <a:solidFill>
                  <a:schemeClr val="tx1"/>
                </a:solidFill>
              </a:rPr>
              <a:t>Fase lanjut: dicocokkan dengan BPJS Ketenagakerjaan</a:t>
            </a:r>
            <a:endParaRPr lang="en-US" sz="1500" dirty="0"/>
          </a:p>
        </p:txBody>
      </p:sp>
      <p:sp>
        <p:nvSpPr>
          <p:cNvPr id="16" name="kartu-83"/>
          <p:cNvSpPr/>
          <p:nvPr/>
        </p:nvSpPr>
        <p:spPr>
          <a:xfrm>
            <a:off x="8082077" y="1874520"/>
            <a:ext cx="3423818" cy="4069080"/>
          </a:xfrm>
          <a:prstGeom prst="roundRect">
            <a:avLst>
              <a:gd name="adj" fmla="val 3205"/>
            </a:avLst>
          </a:prstGeom>
          <a:solidFill>
            <a:schemeClr val="bg1"/>
          </a:solidFill>
          <a:ln w="9525">
            <a:solidFill>
              <a:srgbClr val="DEDCD4"/>
            </a:solidFill>
            <a:prstDash val="solid"/>
          </a:ln>
        </p:spPr>
      </p:sp>
      <p:sp>
        <p:nvSpPr>
          <p:cNvPr id="17" name="lingkar-ikon-84"/>
          <p:cNvSpPr/>
          <p:nvPr/>
        </p:nvSpPr>
        <p:spPr>
          <a:xfrm>
            <a:off x="8356397" y="2148840"/>
            <a:ext cx="566928" cy="566928"/>
          </a:xfrm>
          <a:prstGeom prst="ellipse">
            <a:avLst/>
          </a:prstGeom>
          <a:solidFill>
            <a:schemeClr val="accent6"/>
          </a:solidFill>
          <a:ln/>
        </p:spPr>
      </p:sp>
      <p:pic>
        <p:nvPicPr>
          <p:cNvPr id="18" name="ikon-85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492460" y="2284903"/>
            <a:ext cx="294803" cy="294803"/>
          </a:xfrm>
          <a:prstGeom prst="rect">
            <a:avLst/>
          </a:prstGeom>
        </p:spPr>
      </p:pic>
      <p:sp>
        <p:nvSpPr>
          <p:cNvPr id="19" name="teks-86"/>
          <p:cNvSpPr txBox="1"/>
          <p:nvPr/>
        </p:nvSpPr>
        <p:spPr>
          <a:xfrm>
            <a:off x="8356397" y="2880360"/>
            <a:ext cx="2875178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100" b="1" dirty="0">
                <a:solidFill>
                  <a:schemeClr val="tx1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Scan Status</a:t>
            </a:r>
            <a:endParaRPr lang="en-US" sz="2100" dirty="0"/>
          </a:p>
        </p:txBody>
      </p:sp>
      <p:sp>
        <p:nvSpPr>
          <p:cNvPr id="20" name="teks-87"/>
          <p:cNvSpPr txBox="1"/>
          <p:nvPr/>
        </p:nvSpPr>
        <p:spPr>
          <a:xfrm>
            <a:off x="8356397" y="3310128"/>
            <a:ext cx="2875178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chemeClr val="accent1"/>
                </a:solidFill>
              </a:rPr>
              <a:t>Misklasifikasi Status Kerja</a:t>
            </a:r>
            <a:endParaRPr lang="en-US" sz="1500" dirty="0"/>
          </a:p>
        </p:txBody>
      </p:sp>
      <p:sp>
        <p:nvSpPr>
          <p:cNvPr id="21" name="teks-88"/>
          <p:cNvSpPr txBox="1"/>
          <p:nvPr/>
        </p:nvSpPr>
        <p:spPr>
          <a:xfrm>
            <a:off x="8356397" y="3749040"/>
            <a:ext cx="2875178" cy="2057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203200" indent="-203200">
              <a:spcAft>
                <a:spcPts val="700"/>
              </a:spcAft>
              <a:buSzPct val="100000"/>
              <a:buChar char="•"/>
            </a:pPr>
            <a:r>
              <a:rPr lang="en-US" sz="1500" dirty="0">
                <a:solidFill>
                  <a:schemeClr val="tx1"/>
                </a:solidFill>
              </a:rPr>
              <a:t>Klaster keluar PPU lalu terdaftar PBPU ≤ 30 hari</a:t>
            </a:r>
            <a:endParaRPr lang="en-US" sz="1500" dirty="0"/>
          </a:p>
          <a:p>
            <a:pPr marL="203200" indent="-203200">
              <a:spcAft>
                <a:spcPts val="700"/>
              </a:spcAft>
              <a:buSzPct val="100000"/>
              <a:buChar char="•"/>
            </a:pPr>
            <a:r>
              <a:rPr lang="en-US" sz="1500" dirty="0">
                <a:solidFill>
                  <a:schemeClr val="tx1"/>
                </a:solidFill>
              </a:rPr>
              <a:t>Dari satu pemberi kerja, dalam 3 bulan, bukan PHK</a:t>
            </a:r>
            <a:endParaRPr lang="en-US" sz="1500" dirty="0"/>
          </a:p>
          <a:p>
            <a:pPr marL="203200" indent="-203200">
              <a:spcAft>
                <a:spcPts val="700"/>
              </a:spcAft>
              <a:buSzPct val="100000"/>
              <a:buChar char="•"/>
            </a:pPr>
            <a:r>
              <a:rPr lang="en-US" sz="1500" dirty="0">
                <a:solidFill>
                  <a:schemeClr val="tx1"/>
                </a:solidFill>
              </a:rPr>
              <a:t>Fase lanjut: cek pekerja masih aktif bekerja (data BPJS TK)</a:t>
            </a:r>
            <a:endParaRPr lang="en-US" sz="15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957255" y="6327648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100">
                <a:solidFill>
                  <a:srgbClr val="5B6B70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6</a:t>
            </a:fld>
            <a:endParaRPr lang="en-US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body" hasCustomPrompt="1"/>
          </p:nvPr>
        </p:nvSpPr>
        <p:spPr>
          <a:xfrm>
            <a:off x="685800" y="566928"/>
            <a:ext cx="10820095" cy="292608"/>
          </a:xfrm>
          <a:prstGeom prst="rect">
            <a:avLst/>
          </a:prstGeom>
          <a:noFill/>
          <a:ln/>
        </p:spPr>
        <p:txBody>
          <a:bodyPr wrap="square" lIns="0" tIns="0" rIns="0" bIns="0" rtlCol="0"/>
          <a:lstStyle/>
          <a:p>
            <a:pPr indent="0" marL="0">
              <a:buNone/>
            </a:pPr>
            <a:r>
              <a:rPr lang="en-US" sz="1300" b="1" spc="200" kern="0" dirty="0">
                <a:solidFill>
                  <a:schemeClr val="accent1"/>
                </a:solidFill>
                <a:latin typeface="Source Sans 3" pitchFamily="34" charset="0"/>
                <a:ea typeface="Source Sans 3" pitchFamily="34" charset="-122"/>
                <a:cs typeface="Source Sans 3" pitchFamily="34" charset="-120"/>
              </a:rPr>
              <a:t>03 · OUTPUT</a:t>
            </a:r>
            <a:endParaRPr lang="en-US" sz="1300" dirty="0"/>
          </a:p>
        </p:txBody>
      </p:sp>
      <p:sp>
        <p:nvSpPr>
          <p:cNvPr id="3" name="Text 1"/>
          <p:cNvSpPr/>
          <p:nvPr>
            <p:ph idx="102" type="title" hasCustomPrompt="1"/>
          </p:nvPr>
        </p:nvSpPr>
        <p:spPr>
          <a:xfrm>
            <a:off x="685800" y="868680"/>
            <a:ext cx="10820095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4000" b="1" dirty="0">
                <a:solidFill>
                  <a:schemeClr val="tx1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Lembar hasil scan untuk petugas</a:t>
            </a:r>
            <a:endParaRPr lang="en-US" sz="4000" dirty="0"/>
          </a:p>
        </p:txBody>
      </p:sp>
      <p:sp>
        <p:nvSpPr>
          <p:cNvPr id="4" name="kartu-89"/>
          <p:cNvSpPr/>
          <p:nvPr/>
        </p:nvSpPr>
        <p:spPr>
          <a:xfrm>
            <a:off x="685800" y="1828800"/>
            <a:ext cx="6537960" cy="4206240"/>
          </a:xfrm>
          <a:prstGeom prst="roundRect">
            <a:avLst>
              <a:gd name="adj" fmla="val 2609"/>
            </a:avLst>
          </a:prstGeom>
          <a:solidFill>
            <a:schemeClr val="bg1"/>
          </a:solidFill>
          <a:ln w="9525">
            <a:solidFill>
              <a:srgbClr val="DEDCD4"/>
            </a:solidFill>
            <a:prstDash val="solid"/>
          </a:ln>
        </p:spPr>
      </p:sp>
      <p:sp>
        <p:nvSpPr>
          <p:cNvPr id="5" name="teks-90"/>
          <p:cNvSpPr txBox="1"/>
          <p:nvPr/>
        </p:nvSpPr>
        <p:spPr>
          <a:xfrm>
            <a:off x="1005840" y="2103120"/>
            <a:ext cx="42062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100" b="1" dirty="0">
                <a:solidFill>
                  <a:schemeClr val="tx1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PT Cahaya Mandiri</a:t>
            </a:r>
            <a:endParaRPr lang="en-US" sz="2100" dirty="0"/>
          </a:p>
        </p:txBody>
      </p:sp>
      <p:sp>
        <p:nvSpPr>
          <p:cNvPr id="6" name="lencana-risiko"/>
          <p:cNvSpPr/>
          <p:nvPr/>
        </p:nvSpPr>
        <p:spPr>
          <a:xfrm>
            <a:off x="5440680" y="2103120"/>
            <a:ext cx="1463040" cy="384048"/>
          </a:xfrm>
          <a:prstGeom prst="roundRect">
            <a:avLst>
              <a:gd name="adj" fmla="val 47619"/>
            </a:avLst>
          </a:prstGeom>
          <a:solidFill>
            <a:srgbClr val="FBE3D6"/>
          </a:solidFill>
          <a:ln/>
        </p:spPr>
      </p:sp>
      <p:sp>
        <p:nvSpPr>
          <p:cNvPr id="7" name="teks-91"/>
          <p:cNvSpPr txBox="1"/>
          <p:nvPr/>
        </p:nvSpPr>
        <p:spPr>
          <a:xfrm>
            <a:off x="5440680" y="2103120"/>
            <a:ext cx="14630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9A3B12"/>
                </a:solidFill>
              </a:rPr>
              <a:t>Risiko Tinggi</a:t>
            </a:r>
            <a:endParaRPr lang="en-US" sz="1400" dirty="0"/>
          </a:p>
        </p:txBody>
      </p:sp>
      <p:sp>
        <p:nvSpPr>
          <p:cNvPr id="8" name="teks-92"/>
          <p:cNvSpPr txBox="1"/>
          <p:nvPr/>
        </p:nvSpPr>
        <p:spPr>
          <a:xfrm>
            <a:off x="1005840" y="2560320"/>
            <a:ext cx="58978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chemeClr val="accent5"/>
                </a:solidFill>
              </a:rPr>
              <a:t>Keluaran asli mesin PayRay, data sintetis · Industri alas kaki · 49 pekerja dilaporkan</a:t>
            </a:r>
            <a:endParaRPr lang="en-US" sz="1300" dirty="0"/>
          </a:p>
        </p:txBody>
      </p:sp>
      <p:sp>
        <p:nvSpPr>
          <p:cNvPr id="9" name="skor"/>
          <p:cNvSpPr txBox="1"/>
          <p:nvPr/>
        </p:nvSpPr>
        <p:spPr>
          <a:xfrm>
            <a:off x="1005840" y="2880360"/>
            <a:ext cx="23774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400" b="1" dirty="0">
                <a:solidFill>
                  <a:schemeClr val="tx1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99</a:t>
            </a:r>
            <a:pPr indent="0" marL="0">
              <a:buNone/>
            </a:pPr>
            <a:r>
              <a:rPr lang="en-US" sz="4400" b="1" dirty="0">
                <a:solidFill>
                  <a:schemeClr val="accent5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/100</a:t>
            </a:r>
            <a:endParaRPr lang="en-US" sz="4400" dirty="0"/>
          </a:p>
        </p:txBody>
      </p:sp>
      <p:sp>
        <p:nvSpPr>
          <p:cNvPr id="10" name="lencana-keyakinan"/>
          <p:cNvSpPr/>
          <p:nvPr/>
        </p:nvSpPr>
        <p:spPr>
          <a:xfrm>
            <a:off x="3383280" y="3072384"/>
            <a:ext cx="1783080" cy="365760"/>
          </a:xfrm>
          <a:prstGeom prst="roundRect">
            <a:avLst>
              <a:gd name="adj" fmla="val 50000"/>
            </a:avLst>
          </a:prstGeom>
          <a:solidFill>
            <a:schemeClr val="accent6"/>
          </a:solidFill>
          <a:ln/>
        </p:spPr>
      </p:sp>
      <p:sp>
        <p:nvSpPr>
          <p:cNvPr id="11" name="teks-93"/>
          <p:cNvSpPr txBox="1"/>
          <p:nvPr/>
        </p:nvSpPr>
        <p:spPr>
          <a:xfrm>
            <a:off x="3383280" y="3072384"/>
            <a:ext cx="17830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chemeClr val="accent1"/>
                </a:solidFill>
              </a:rPr>
              <a:t>Keyakinan: tinggi</a:t>
            </a:r>
            <a:endParaRPr lang="en-US" sz="1400" dirty="0"/>
          </a:p>
        </p:txBody>
      </p:sp>
      <p:sp>
        <p:nvSpPr>
          <p:cNvPr id="12" name="teks-94"/>
          <p:cNvSpPr txBox="1"/>
          <p:nvPr/>
        </p:nvSpPr>
        <p:spPr>
          <a:xfrm>
            <a:off x="1005840" y="3703320"/>
            <a:ext cx="2743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b="1" spc="150" kern="0" dirty="0">
                <a:solidFill>
                  <a:schemeClr val="accent1"/>
                </a:solidFill>
              </a:rPr>
              <a:t>ALASAN UTAMA</a:t>
            </a:r>
            <a:endParaRPr lang="en-US" sz="1200" dirty="0"/>
          </a:p>
        </p:txBody>
      </p:sp>
      <p:sp>
        <p:nvSpPr>
          <p:cNvPr id="13" name="teks-95"/>
          <p:cNvSpPr txBox="1"/>
          <p:nvPr/>
        </p:nvSpPr>
        <p:spPr>
          <a:xfrm>
            <a:off x="1005840" y="4023360"/>
            <a:ext cx="589788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400"/>
              </a:spcAft>
              <a:buSzPct val="100000"/>
              <a:buFont typeface="+mj-lt"/>
              <a:buAutoNum type="arabicPeriod" startAt="1"/>
            </a:pPr>
            <a:r>
              <a:rPr lang="en-US" sz="1500" dirty="0">
                <a:solidFill>
                  <a:schemeClr val="tx1"/>
                </a:solidFill>
              </a:rPr>
              <a:t>24 pekerja pindah ke PBPU ≤ 30 hari, dalam 3 bulan, bukan PHK (46%)</a:t>
            </a:r>
            <a:endParaRPr lang="en-US" sz="1500" dirty="0"/>
          </a:p>
          <a:p>
            <a:pPr marL="342900" indent="-342900">
              <a:spcAft>
                <a:spcPts val="400"/>
              </a:spcAft>
              <a:buSzPct val="100000"/>
              <a:buFont typeface="+mj-lt"/>
              <a:buAutoNum type="arabicPeriod" startAt="1"/>
            </a:pPr>
            <a:r>
              <a:rPr lang="en-US" sz="1500" dirty="0">
                <a:solidFill>
                  <a:schemeClr val="tx1"/>
                </a:solidFill>
              </a:rPr>
              <a:t>Terdaftar 48 pekerja, rencana tenaga kerja di OSS 112 (43%)</a:t>
            </a:r>
            <a:endParaRPr lang="en-US" sz="1500" dirty="0"/>
          </a:p>
          <a:p>
            <a:pPr marL="342900" indent="-342900">
              <a:spcAft>
                <a:spcPts val="400"/>
              </a:spcAft>
              <a:buSzPct val="100000"/>
              <a:buFont typeface="+mj-lt"/>
              <a:buAutoNum type="arabicPeriod" startAt="1"/>
            </a:pPr>
            <a:r>
              <a:rPr lang="en-US" sz="1500" dirty="0">
                <a:solidFill>
                  <a:schemeClr val="tx1"/>
                </a:solidFill>
              </a:rPr>
              <a:t>Kombinasi pola tidak biasa dibanding usaha seskala</a:t>
            </a:r>
            <a:endParaRPr lang="en-US" sz="1500" dirty="0"/>
          </a:p>
        </p:txBody>
      </p:sp>
      <p:sp>
        <p:nvSpPr>
          <p:cNvPr id="14" name="pemisah"/>
          <p:cNvSpPr/>
          <p:nvPr/>
        </p:nvSpPr>
        <p:spPr>
          <a:xfrm>
            <a:off x="1005840" y="5074920"/>
            <a:ext cx="5897880" cy="0"/>
          </a:xfrm>
          <a:prstGeom prst="line">
            <a:avLst/>
          </a:prstGeom>
          <a:noFill/>
          <a:ln w="9525">
            <a:solidFill>
              <a:srgbClr val="DEDCD4"/>
            </a:solidFill>
            <a:prstDash val="solid"/>
          </a:ln>
        </p:spPr>
      </p:sp>
      <p:sp>
        <p:nvSpPr>
          <p:cNvPr id="15" name="teks-96"/>
          <p:cNvSpPr txBox="1"/>
          <p:nvPr/>
        </p:nvSpPr>
        <p:spPr>
          <a:xfrm>
            <a:off x="1005840" y="5230368"/>
            <a:ext cx="32918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chemeClr val="accent5"/>
                </a:solidFill>
              </a:rPr>
              <a:t>Estimasi potensi iuran tak tertagih</a:t>
            </a:r>
            <a:endParaRPr lang="en-US" sz="1400" dirty="0"/>
          </a:p>
        </p:txBody>
      </p:sp>
      <p:sp>
        <p:nvSpPr>
          <p:cNvPr id="16" name="teks-97"/>
          <p:cNvSpPr txBox="1"/>
          <p:nvPr/>
        </p:nvSpPr>
        <p:spPr>
          <a:xfrm>
            <a:off x="4160520" y="5184648"/>
            <a:ext cx="27432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2400" b="1" dirty="0">
                <a:solidFill>
                  <a:schemeClr val="tx1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± Rp212 jt/thn</a:t>
            </a:r>
            <a:endParaRPr lang="en-US" sz="2400" dirty="0"/>
          </a:p>
        </p:txBody>
      </p:sp>
      <p:sp>
        <p:nvSpPr>
          <p:cNvPr id="17" name="teks-98"/>
          <p:cNvSpPr txBox="1"/>
          <p:nvPr/>
        </p:nvSpPr>
        <p:spPr>
          <a:xfrm>
            <a:off x="1005840" y="5669280"/>
            <a:ext cx="58978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1200" dirty="0">
                <a:solidFill>
                  <a:schemeClr val="accent1"/>
                </a:solidFill>
              </a:rPr>
              <a:t>Kerugian sebenarnya di simulasi: Rp215 jt/thn</a:t>
            </a:r>
            <a:endParaRPr lang="en-US" sz="1200" dirty="0"/>
          </a:p>
        </p:txBody>
      </p:sp>
      <p:sp>
        <p:nvSpPr>
          <p:cNvPr id="18" name="teks-99"/>
          <p:cNvSpPr txBox="1"/>
          <p:nvPr/>
        </p:nvSpPr>
        <p:spPr>
          <a:xfrm>
            <a:off x="7635240" y="1874520"/>
            <a:ext cx="3870655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b="1" dirty="0">
                <a:solidFill>
                  <a:schemeClr val="tx1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Skor + keyakinan</a:t>
            </a:r>
            <a:endParaRPr lang="en-US" sz="1800" dirty="0"/>
          </a:p>
        </p:txBody>
      </p:sp>
      <p:sp>
        <p:nvSpPr>
          <p:cNvPr id="19" name="teks-100"/>
          <p:cNvSpPr txBox="1"/>
          <p:nvPr/>
        </p:nvSpPr>
        <p:spPr>
          <a:xfrm>
            <a:off x="7635240" y="2258568"/>
            <a:ext cx="3870655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chemeClr val="accent5"/>
                </a:solidFill>
              </a:rPr>
              <a:t>Skor dengan keyakinan rendah tidak diprioritaskan.</a:t>
            </a:r>
            <a:endParaRPr lang="en-US" sz="1500" dirty="0"/>
          </a:p>
        </p:txBody>
      </p:sp>
      <p:sp>
        <p:nvSpPr>
          <p:cNvPr id="20" name="teks-101"/>
          <p:cNvSpPr txBox="1"/>
          <p:nvPr/>
        </p:nvSpPr>
        <p:spPr>
          <a:xfrm>
            <a:off x="7635240" y="2898648"/>
            <a:ext cx="3870655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b="1" dirty="0">
                <a:solidFill>
                  <a:schemeClr val="tx1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Alasan yang bisa dibaca</a:t>
            </a:r>
            <a:endParaRPr lang="en-US" sz="1800" dirty="0"/>
          </a:p>
        </p:txBody>
      </p:sp>
      <p:sp>
        <p:nvSpPr>
          <p:cNvPr id="21" name="teks-102"/>
          <p:cNvSpPr txBox="1"/>
          <p:nvPr/>
        </p:nvSpPr>
        <p:spPr>
          <a:xfrm>
            <a:off x="7635240" y="3282696"/>
            <a:ext cx="3870655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chemeClr val="accent5"/>
                </a:solidFill>
              </a:rPr>
              <a:t>Bukan kotak hitam: setiap skor punya bukti.</a:t>
            </a:r>
            <a:endParaRPr lang="en-US" sz="1500" dirty="0"/>
          </a:p>
        </p:txBody>
      </p:sp>
      <p:sp>
        <p:nvSpPr>
          <p:cNvPr id="22" name="teks-103"/>
          <p:cNvSpPr txBox="1"/>
          <p:nvPr/>
        </p:nvSpPr>
        <p:spPr>
          <a:xfrm>
            <a:off x="7635240" y="3922776"/>
            <a:ext cx="3870655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b="1" dirty="0">
                <a:solidFill>
                  <a:schemeClr val="tx1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Estimasi dalam rupiah</a:t>
            </a:r>
            <a:endParaRPr lang="en-US" sz="1800" dirty="0"/>
          </a:p>
        </p:txBody>
      </p:sp>
      <p:sp>
        <p:nvSpPr>
          <p:cNvPr id="23" name="teks-104"/>
          <p:cNvSpPr txBox="1"/>
          <p:nvPr/>
        </p:nvSpPr>
        <p:spPr>
          <a:xfrm>
            <a:off x="7635240" y="4306824"/>
            <a:ext cx="3870655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chemeClr val="accent5"/>
                </a:solidFill>
              </a:rPr>
              <a:t>Prioritas berdasarkan nilai, bukan skor saja.</a:t>
            </a:r>
            <a:endParaRPr lang="en-US" sz="1500" dirty="0"/>
          </a:p>
        </p:txBody>
      </p:sp>
      <p:sp>
        <p:nvSpPr>
          <p:cNvPr id="24" name="teks-105"/>
          <p:cNvSpPr txBox="1"/>
          <p:nvPr/>
        </p:nvSpPr>
        <p:spPr>
          <a:xfrm>
            <a:off x="7635240" y="4946904"/>
            <a:ext cx="3870655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b="1" dirty="0">
                <a:solidFill>
                  <a:schemeClr val="tx1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Keputusan di petugas</a:t>
            </a:r>
            <a:endParaRPr lang="en-US" sz="1800" dirty="0"/>
          </a:p>
        </p:txBody>
      </p:sp>
      <p:sp>
        <p:nvSpPr>
          <p:cNvPr id="25" name="teks-106"/>
          <p:cNvSpPr txBox="1"/>
          <p:nvPr/>
        </p:nvSpPr>
        <p:spPr>
          <a:xfrm>
            <a:off x="7635240" y="5330952"/>
            <a:ext cx="3870655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chemeClr val="accent5"/>
                </a:solidFill>
              </a:rPr>
              <a:t>PayRay mengurutkan, manusia memutuskan.</a:t>
            </a:r>
            <a:endParaRPr lang="en-US" sz="15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957255" y="6327648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100">
                <a:solidFill>
                  <a:srgbClr val="5B6B70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7</a:t>
            </a:fld>
            <a:endParaRPr lang="en-US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body" hasCustomPrompt="1"/>
          </p:nvPr>
        </p:nvSpPr>
        <p:spPr>
          <a:xfrm>
            <a:off x="685800" y="566928"/>
            <a:ext cx="10820095" cy="292608"/>
          </a:xfrm>
          <a:prstGeom prst="rect">
            <a:avLst/>
          </a:prstGeom>
          <a:noFill/>
          <a:ln/>
        </p:spPr>
        <p:txBody>
          <a:bodyPr wrap="square" lIns="0" tIns="0" rIns="0" bIns="0" rtlCol="0"/>
          <a:lstStyle/>
          <a:p>
            <a:pPr indent="0" marL="0">
              <a:buNone/>
            </a:pPr>
            <a:r>
              <a:rPr lang="en-US" sz="1300" b="1" spc="200" kern="0" dirty="0">
                <a:solidFill>
                  <a:schemeClr val="accent1"/>
                </a:solidFill>
                <a:latin typeface="Source Sans 3" pitchFamily="34" charset="0"/>
                <a:ea typeface="Source Sans 3" pitchFamily="34" charset="-122"/>
                <a:cs typeface="Source Sans 3" pitchFamily="34" charset="-120"/>
              </a:rPr>
              <a:t>04 · PENDEKATAN TEKNIS</a:t>
            </a:r>
            <a:endParaRPr lang="en-US" sz="1300" dirty="0"/>
          </a:p>
        </p:txBody>
      </p:sp>
      <p:sp>
        <p:nvSpPr>
          <p:cNvPr id="3" name="Text 1"/>
          <p:cNvSpPr/>
          <p:nvPr>
            <p:ph idx="102" type="title" hasCustomPrompt="1"/>
          </p:nvPr>
        </p:nvSpPr>
        <p:spPr>
          <a:xfrm>
            <a:off x="685800" y="868680"/>
            <a:ext cx="10820095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4000" b="1" dirty="0">
                <a:solidFill>
                  <a:schemeClr val="tx1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Dari data ke keputusan</a:t>
            </a:r>
            <a:endParaRPr lang="en-US" sz="4000" dirty="0"/>
          </a:p>
        </p:txBody>
      </p:sp>
      <p:sp>
        <p:nvSpPr>
          <p:cNvPr id="4" name="kartu-107"/>
          <p:cNvSpPr/>
          <p:nvPr/>
        </p:nvSpPr>
        <p:spPr>
          <a:xfrm>
            <a:off x="685800" y="1828800"/>
            <a:ext cx="3246120" cy="2331720"/>
          </a:xfrm>
          <a:prstGeom prst="roundRect">
            <a:avLst>
              <a:gd name="adj" fmla="val 4706"/>
            </a:avLst>
          </a:prstGeom>
          <a:solidFill>
            <a:schemeClr val="bg1"/>
          </a:solidFill>
          <a:ln w="9525">
            <a:solidFill>
              <a:srgbClr val="DEDCD4"/>
            </a:solidFill>
            <a:prstDash val="solid"/>
          </a:ln>
        </p:spPr>
      </p:sp>
      <p:sp>
        <p:nvSpPr>
          <p:cNvPr id="5" name="teks-108"/>
          <p:cNvSpPr txBox="1"/>
          <p:nvPr/>
        </p:nvSpPr>
        <p:spPr>
          <a:xfrm>
            <a:off x="941832" y="2011680"/>
            <a:ext cx="27889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b="1" spc="150" kern="0" dirty="0">
                <a:solidFill>
                  <a:schemeClr val="accent1"/>
                </a:solidFill>
              </a:rPr>
              <a:t>1 · INPUT</a:t>
            </a:r>
            <a:endParaRPr lang="en-US" sz="1200" dirty="0"/>
          </a:p>
        </p:txBody>
      </p:sp>
      <p:sp>
        <p:nvSpPr>
          <p:cNvPr id="6" name="teks-109"/>
          <p:cNvSpPr txBox="1"/>
          <p:nvPr/>
        </p:nvSpPr>
        <p:spPr>
          <a:xfrm>
            <a:off x="941832" y="2286000"/>
            <a:ext cx="27889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900" b="1" dirty="0">
                <a:solidFill>
                  <a:schemeClr val="tx1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Data</a:t>
            </a:r>
            <a:endParaRPr lang="en-US" sz="1900" dirty="0"/>
          </a:p>
        </p:txBody>
      </p:sp>
      <p:sp>
        <p:nvSpPr>
          <p:cNvPr id="7" name="teks-110"/>
          <p:cNvSpPr txBox="1"/>
          <p:nvPr/>
        </p:nvSpPr>
        <p:spPr>
          <a:xfrm>
            <a:off x="941832" y="2697480"/>
            <a:ext cx="283464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203200" indent="-203200">
              <a:spcAft>
                <a:spcPts val="300"/>
              </a:spcAft>
              <a:buSzPct val="100000"/>
              <a:buChar char="•"/>
            </a:pPr>
            <a:r>
              <a:rPr lang="en-US" sz="1400" dirty="0">
                <a:solidFill>
                  <a:schemeClr val="tx1"/>
                </a:solidFill>
              </a:rPr>
              <a:t>Kepesertaan &amp; upah PPU (sintetis)</a:t>
            </a:r>
            <a:endParaRPr lang="en-US" sz="1400" dirty="0"/>
          </a:p>
          <a:p>
            <a:pPr marL="203200" indent="-203200">
              <a:spcAft>
                <a:spcPts val="300"/>
              </a:spcAft>
              <a:buSzPct val="100000"/>
              <a:buChar char="•"/>
            </a:pPr>
            <a:r>
              <a:rPr lang="en-US" sz="1400" dirty="0">
                <a:solidFill>
                  <a:schemeClr val="tx1"/>
                </a:solidFill>
              </a:rPr>
              <a:t>UMP / UMK</a:t>
            </a:r>
            <a:endParaRPr lang="en-US" sz="1400" dirty="0"/>
          </a:p>
          <a:p>
            <a:pPr marL="203200" indent="-203200">
              <a:spcAft>
                <a:spcPts val="300"/>
              </a:spcAft>
              <a:buSzPct val="100000"/>
              <a:buChar char="•"/>
            </a:pPr>
            <a:r>
              <a:rPr lang="en-US" sz="1400" dirty="0">
                <a:solidFill>
                  <a:schemeClr val="tx1"/>
                </a:solidFill>
              </a:rPr>
              <a:t>Upah per sektor (BPS)</a:t>
            </a:r>
            <a:endParaRPr lang="en-US" sz="1400" dirty="0"/>
          </a:p>
          <a:p>
            <a:pPr marL="203200" indent="-203200">
              <a:spcAft>
                <a:spcPts val="300"/>
              </a:spcAft>
              <a:buSzPct val="100000"/>
              <a:buChar char="•"/>
            </a:pPr>
            <a:r>
              <a:rPr lang="en-US" sz="1400" dirty="0">
                <a:solidFill>
                  <a:schemeClr val="tx1"/>
                </a:solidFill>
              </a:rPr>
              <a:t>Skala usaha &amp; KBLI (OSS)</a:t>
            </a:r>
            <a:endParaRPr lang="en-US" sz="1400" dirty="0"/>
          </a:p>
        </p:txBody>
      </p:sp>
      <p:sp>
        <p:nvSpPr>
          <p:cNvPr id="8" name="panah-111"/>
          <p:cNvSpPr/>
          <p:nvPr/>
        </p:nvSpPr>
        <p:spPr>
          <a:xfrm>
            <a:off x="4019474" y="2862072"/>
            <a:ext cx="365760" cy="274320"/>
          </a:xfrm>
          <a:prstGeom prst="rightArrow">
            <a:avLst/>
          </a:prstGeom>
          <a:solidFill>
            <a:schemeClr val="accent1"/>
          </a:solidFill>
          <a:ln/>
        </p:spPr>
      </p:sp>
      <p:sp>
        <p:nvSpPr>
          <p:cNvPr id="9" name="kartu-112"/>
          <p:cNvSpPr/>
          <p:nvPr/>
        </p:nvSpPr>
        <p:spPr>
          <a:xfrm>
            <a:off x="4472788" y="1828800"/>
            <a:ext cx="3246120" cy="2331720"/>
          </a:xfrm>
          <a:prstGeom prst="roundRect">
            <a:avLst>
              <a:gd name="adj" fmla="val 4706"/>
            </a:avLst>
          </a:prstGeom>
          <a:solidFill>
            <a:schemeClr val="bg1"/>
          </a:solidFill>
          <a:ln w="9525">
            <a:solidFill>
              <a:srgbClr val="1B7F57"/>
            </a:solidFill>
            <a:prstDash val="solid"/>
          </a:ln>
        </p:spPr>
      </p:sp>
      <p:sp>
        <p:nvSpPr>
          <p:cNvPr id="10" name="teks-113"/>
          <p:cNvSpPr txBox="1"/>
          <p:nvPr/>
        </p:nvSpPr>
        <p:spPr>
          <a:xfrm>
            <a:off x="4728820" y="2011680"/>
            <a:ext cx="27889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b="1" spc="150" kern="0" dirty="0">
                <a:solidFill>
                  <a:schemeClr val="accent1"/>
                </a:solidFill>
              </a:rPr>
              <a:t>2 · PROSES</a:t>
            </a:r>
            <a:endParaRPr lang="en-US" sz="1200" dirty="0"/>
          </a:p>
        </p:txBody>
      </p:sp>
      <p:sp>
        <p:nvSpPr>
          <p:cNvPr id="11" name="teks-114"/>
          <p:cNvSpPr txBox="1"/>
          <p:nvPr/>
        </p:nvSpPr>
        <p:spPr>
          <a:xfrm>
            <a:off x="4728820" y="2286000"/>
            <a:ext cx="27889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900" b="1" dirty="0">
                <a:solidFill>
                  <a:schemeClr val="tx1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Mesin scan</a:t>
            </a:r>
            <a:endParaRPr lang="en-US" sz="1900" dirty="0"/>
          </a:p>
        </p:txBody>
      </p:sp>
      <p:sp>
        <p:nvSpPr>
          <p:cNvPr id="12" name="teks-115"/>
          <p:cNvSpPr txBox="1"/>
          <p:nvPr/>
        </p:nvSpPr>
        <p:spPr>
          <a:xfrm>
            <a:off x="4728820" y="2697480"/>
            <a:ext cx="283464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203200" indent="-203200">
              <a:spcAft>
                <a:spcPts val="300"/>
              </a:spcAft>
              <a:buSzPct val="100000"/>
              <a:buChar char="•"/>
            </a:pPr>
            <a:r>
              <a:rPr lang="en-US" sz="1400" dirty="0">
                <a:solidFill>
                  <a:schemeClr val="tx1"/>
                </a:solidFill>
              </a:rPr>
              <a:t>7 aturan bisnis transparan</a:t>
            </a:r>
            <a:endParaRPr lang="en-US" sz="1400" dirty="0"/>
          </a:p>
          <a:p>
            <a:pPr marL="203200" indent="-203200">
              <a:spcAft>
                <a:spcPts val="300"/>
              </a:spcAft>
              <a:buSzPct val="100000"/>
              <a:buChar char="•"/>
            </a:pPr>
            <a:r>
              <a:rPr lang="en-US" sz="1400" dirty="0">
                <a:solidFill>
                  <a:schemeClr val="tx1"/>
                </a:solidFill>
              </a:rPr>
              <a:t>Isolation Forest untuk anomali</a:t>
            </a:r>
            <a:endParaRPr lang="en-US" sz="1400" dirty="0"/>
          </a:p>
          <a:p>
            <a:pPr marL="203200" indent="-203200">
              <a:spcAft>
                <a:spcPts val="300"/>
              </a:spcAft>
              <a:buSzPct val="100000"/>
              <a:buChar char="•"/>
            </a:pPr>
            <a:r>
              <a:rPr lang="en-US" sz="1400" dirty="0">
                <a:solidFill>
                  <a:schemeClr val="tx1"/>
                </a:solidFill>
              </a:rPr>
              <a:t>Skor gabungan + reason code</a:t>
            </a:r>
            <a:endParaRPr lang="en-US" sz="1400" dirty="0"/>
          </a:p>
          <a:p>
            <a:pPr marL="203200" indent="-203200">
              <a:spcAft>
                <a:spcPts val="300"/>
              </a:spcAft>
              <a:buSzPct val="100000"/>
              <a:buChar char="•"/>
            </a:pPr>
            <a:r>
              <a:rPr lang="en-US" sz="1400" dirty="0">
                <a:solidFill>
                  <a:schemeClr val="tx1"/>
                </a:solidFill>
              </a:rPr>
              <a:t>Kalkulator estimasi iuran</a:t>
            </a:r>
            <a:endParaRPr lang="en-US" sz="1400" dirty="0"/>
          </a:p>
        </p:txBody>
      </p:sp>
      <p:sp>
        <p:nvSpPr>
          <p:cNvPr id="13" name="panah-116"/>
          <p:cNvSpPr/>
          <p:nvPr/>
        </p:nvSpPr>
        <p:spPr>
          <a:xfrm>
            <a:off x="7806461" y="2862072"/>
            <a:ext cx="365760" cy="274320"/>
          </a:xfrm>
          <a:prstGeom prst="rightArrow">
            <a:avLst/>
          </a:prstGeom>
          <a:solidFill>
            <a:schemeClr val="accent1"/>
          </a:solidFill>
          <a:ln/>
        </p:spPr>
      </p:sp>
      <p:sp>
        <p:nvSpPr>
          <p:cNvPr id="14" name="kartu-117"/>
          <p:cNvSpPr/>
          <p:nvPr/>
        </p:nvSpPr>
        <p:spPr>
          <a:xfrm>
            <a:off x="8259775" y="1828800"/>
            <a:ext cx="3246120" cy="2331720"/>
          </a:xfrm>
          <a:prstGeom prst="roundRect">
            <a:avLst>
              <a:gd name="adj" fmla="val 4706"/>
            </a:avLst>
          </a:prstGeom>
          <a:solidFill>
            <a:schemeClr val="bg1"/>
          </a:solidFill>
          <a:ln w="9525">
            <a:solidFill>
              <a:srgbClr val="DEDCD4"/>
            </a:solidFill>
            <a:prstDash val="solid"/>
          </a:ln>
        </p:spPr>
      </p:sp>
      <p:sp>
        <p:nvSpPr>
          <p:cNvPr id="15" name="teks-118"/>
          <p:cNvSpPr txBox="1"/>
          <p:nvPr/>
        </p:nvSpPr>
        <p:spPr>
          <a:xfrm>
            <a:off x="8515807" y="2011680"/>
            <a:ext cx="27889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b="1" spc="150" kern="0" dirty="0">
                <a:solidFill>
                  <a:schemeClr val="accent1"/>
                </a:solidFill>
              </a:rPr>
              <a:t>3 · OUTPUT</a:t>
            </a:r>
            <a:endParaRPr lang="en-US" sz="1200" dirty="0"/>
          </a:p>
        </p:txBody>
      </p:sp>
      <p:sp>
        <p:nvSpPr>
          <p:cNvPr id="16" name="teks-119"/>
          <p:cNvSpPr txBox="1"/>
          <p:nvPr/>
        </p:nvSpPr>
        <p:spPr>
          <a:xfrm>
            <a:off x="8515807" y="2286000"/>
            <a:ext cx="27889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900" b="1" dirty="0">
                <a:solidFill>
                  <a:schemeClr val="tx1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Keputusan</a:t>
            </a:r>
            <a:endParaRPr lang="en-US" sz="1900" dirty="0"/>
          </a:p>
        </p:txBody>
      </p:sp>
      <p:sp>
        <p:nvSpPr>
          <p:cNvPr id="17" name="teks-120"/>
          <p:cNvSpPr txBox="1"/>
          <p:nvPr/>
        </p:nvSpPr>
        <p:spPr>
          <a:xfrm>
            <a:off x="8515807" y="2697480"/>
            <a:ext cx="283464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203200" indent="-203200">
              <a:spcAft>
                <a:spcPts val="300"/>
              </a:spcAft>
              <a:buSzPct val="100000"/>
              <a:buChar char="•"/>
            </a:pPr>
            <a:r>
              <a:rPr lang="en-US" sz="1400" dirty="0">
                <a:solidFill>
                  <a:schemeClr val="tx1"/>
                </a:solidFill>
              </a:rPr>
              <a:t>Ranking risiko badan usaha</a:t>
            </a:r>
            <a:endParaRPr lang="en-US" sz="1400" dirty="0"/>
          </a:p>
          <a:p>
            <a:pPr marL="203200" indent="-203200">
              <a:spcAft>
                <a:spcPts val="300"/>
              </a:spcAft>
              <a:buSzPct val="100000"/>
              <a:buChar char="•"/>
            </a:pPr>
            <a:r>
              <a:rPr lang="en-US" sz="1400" dirty="0">
                <a:solidFill>
                  <a:schemeClr val="tx1"/>
                </a:solidFill>
              </a:rPr>
              <a:t>Lembar hasil scan</a:t>
            </a:r>
            <a:endParaRPr lang="en-US" sz="1400" dirty="0"/>
          </a:p>
          <a:p>
            <a:pPr marL="203200" indent="-203200">
              <a:spcAft>
                <a:spcPts val="300"/>
              </a:spcAft>
              <a:buSzPct val="100000"/>
              <a:buChar char="•"/>
            </a:pPr>
            <a:r>
              <a:rPr lang="en-US" sz="1400" dirty="0">
                <a:solidFill>
                  <a:schemeClr val="tx1"/>
                </a:solidFill>
              </a:rPr>
              <a:t>Antrean pemeriksaan petugas</a:t>
            </a:r>
            <a:endParaRPr lang="en-US" sz="1400" dirty="0"/>
          </a:p>
          <a:p>
            <a:pPr marL="203200" indent="-203200">
              <a:spcAft>
                <a:spcPts val="300"/>
              </a:spcAft>
              <a:buSzPct val="100000"/>
              <a:buChar char="•"/>
            </a:pPr>
            <a:r>
              <a:rPr lang="en-US" sz="1400" dirty="0">
                <a:solidFill>
                  <a:schemeClr val="tx1"/>
                </a:solidFill>
              </a:rPr>
              <a:t>Hasil pemeriksaan jadi label baru</a:t>
            </a:r>
            <a:endParaRPr lang="en-US" sz="1400" dirty="0"/>
          </a:p>
        </p:txBody>
      </p:sp>
      <p:sp>
        <p:nvSpPr>
          <p:cNvPr id="18" name="kartu-121"/>
          <p:cNvSpPr/>
          <p:nvPr/>
        </p:nvSpPr>
        <p:spPr>
          <a:xfrm>
            <a:off x="685800" y="4389120"/>
            <a:ext cx="5989320" cy="1600200"/>
          </a:xfrm>
          <a:prstGeom prst="roundRect">
            <a:avLst>
              <a:gd name="adj" fmla="val 6857"/>
            </a:avLst>
          </a:prstGeom>
          <a:solidFill>
            <a:schemeClr val="accent6"/>
          </a:solidFill>
          <a:ln/>
        </p:spPr>
      </p:sp>
      <p:sp>
        <p:nvSpPr>
          <p:cNvPr id="19" name="teks-122"/>
          <p:cNvSpPr txBox="1"/>
          <p:nvPr/>
        </p:nvSpPr>
        <p:spPr>
          <a:xfrm>
            <a:off x="960120" y="4553712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b="1" spc="150" kern="0" dirty="0">
                <a:solidFill>
                  <a:schemeClr val="accent1"/>
                </a:solidFill>
              </a:rPr>
              <a:t>RUMUS KALKULATOR</a:t>
            </a:r>
            <a:endParaRPr lang="en-US" sz="1200" dirty="0"/>
          </a:p>
        </p:txBody>
      </p:sp>
      <p:sp>
        <p:nvSpPr>
          <p:cNvPr id="20" name="teks-123"/>
          <p:cNvSpPr txBox="1"/>
          <p:nvPr/>
        </p:nvSpPr>
        <p:spPr>
          <a:xfrm>
            <a:off x="960120" y="4846320"/>
            <a:ext cx="5486400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400"/>
              </a:spcAft>
              <a:buNone/>
            </a:pPr>
            <a:r>
              <a:rPr lang="en-US" sz="1400" b="1" dirty="0">
                <a:solidFill>
                  <a:schemeClr val="tx1"/>
                </a:solidFill>
              </a:rPr>
              <a:t>(min(upah wajar, plafon) − min(upah dilaporkan, plafon)) × 5% × pekerja × 12</a:t>
            </a:r>
            <a:endParaRPr lang="en-US" sz="1400" dirty="0"/>
          </a:p>
          <a:p>
            <a:pPr indent="0" marL="0">
              <a:spcAft>
                <a:spcPts val="400"/>
              </a:spcAft>
              <a:buNone/>
            </a:pPr>
            <a:r>
              <a:rPr lang="en-US" sz="1400" dirty="0">
                <a:solidFill>
                  <a:schemeClr val="tx1"/>
                </a:solidFill>
              </a:rPr>
              <a:t>+ iuran pekerja tak terdaftar &amp; yang dipindah ke PBPU. Plafon upah iuran Rp12 jt (Perpres 64/2020).</a:t>
            </a:r>
            <a:endParaRPr lang="en-US" sz="1400" dirty="0"/>
          </a:p>
        </p:txBody>
      </p:sp>
      <p:sp>
        <p:nvSpPr>
          <p:cNvPr id="21" name="kartu-124"/>
          <p:cNvSpPr/>
          <p:nvPr/>
        </p:nvSpPr>
        <p:spPr>
          <a:xfrm>
            <a:off x="6949440" y="4389120"/>
            <a:ext cx="4556455" cy="1600200"/>
          </a:xfrm>
          <a:prstGeom prst="roundRect">
            <a:avLst>
              <a:gd name="adj" fmla="val 6857"/>
            </a:avLst>
          </a:prstGeom>
          <a:solidFill>
            <a:schemeClr val="bg1"/>
          </a:solidFill>
          <a:ln w="9525">
            <a:solidFill>
              <a:srgbClr val="DEDCD4"/>
            </a:solidFill>
            <a:prstDash val="solid"/>
          </a:ln>
        </p:spPr>
      </p:sp>
      <p:sp>
        <p:nvSpPr>
          <p:cNvPr id="22" name="teks-125"/>
          <p:cNvSpPr txBox="1"/>
          <p:nvPr/>
        </p:nvSpPr>
        <p:spPr>
          <a:xfrm>
            <a:off x="7223760" y="4553712"/>
            <a:ext cx="409925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b="1" spc="150" kern="0" dirty="0">
                <a:solidFill>
                  <a:schemeClr val="accent1"/>
                </a:solidFill>
              </a:rPr>
              <a:t>KENAPA AI, BUKAN ATURAN SAJA</a:t>
            </a:r>
            <a:endParaRPr lang="en-US" sz="1200" dirty="0"/>
          </a:p>
        </p:txBody>
      </p:sp>
      <p:sp>
        <p:nvSpPr>
          <p:cNvPr id="23" name="teks-126"/>
          <p:cNvSpPr txBox="1"/>
          <p:nvPr/>
        </p:nvSpPr>
        <p:spPr>
          <a:xfrm>
            <a:off x="7223760" y="4846320"/>
            <a:ext cx="4053535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chemeClr val="tx1"/>
                </a:solidFill>
              </a:rPr>
              <a:t>Aturan menangkap modus yang sudah dikenal dan mudah dijelaskan. Isolation Forest menangkap kombinasi pola tak biasa yang belum dirumuskan. Hasil pemeriksaan melatih ulang urutan prioritas.</a:t>
            </a:r>
            <a:endParaRPr lang="en-US" sz="1400" dirty="0"/>
          </a:p>
        </p:txBody>
      </p:sp>
      <p:sp>
        <p:nvSpPr>
          <p:cNvPr id="24" name="teks-127"/>
          <p:cNvSpPr txBox="1"/>
          <p:nvPr/>
        </p:nvSpPr>
        <p:spPr>
          <a:xfrm>
            <a:off x="685800" y="6053328"/>
            <a:ext cx="10820095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chemeClr val="accent5"/>
                </a:solidFill>
              </a:rPr>
              <a:t>Stack: Python · FastAPI · PostgreSQL · scikit-learn · dashboard web   |   Keamanan: enkripsi, akses berbasis peran, audit log, NIK dipseudonimisasi</a:t>
            </a:r>
            <a:endParaRPr lang="en-US" sz="1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957255" y="6327648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100">
                <a:solidFill>
                  <a:srgbClr val="5B6B70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8</a:t>
            </a:fld>
            <a:endParaRPr lang="en-US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body" hasCustomPrompt="1"/>
          </p:nvPr>
        </p:nvSpPr>
        <p:spPr>
          <a:xfrm>
            <a:off x="685800" y="566928"/>
            <a:ext cx="10820095" cy="292608"/>
          </a:xfrm>
          <a:prstGeom prst="rect">
            <a:avLst/>
          </a:prstGeom>
          <a:noFill/>
          <a:ln/>
        </p:spPr>
        <p:txBody>
          <a:bodyPr wrap="square" lIns="0" tIns="0" rIns="0" bIns="0" rtlCol="0"/>
          <a:lstStyle/>
          <a:p>
            <a:pPr indent="0" marL="0">
              <a:buNone/>
            </a:pPr>
            <a:r>
              <a:rPr lang="en-US" sz="1300" b="1" spc="200" kern="0" dirty="0">
                <a:solidFill>
                  <a:schemeClr val="accent1"/>
                </a:solidFill>
                <a:latin typeface="Source Sans 3" pitchFamily="34" charset="0"/>
                <a:ea typeface="Source Sans 3" pitchFamily="34" charset="-122"/>
                <a:cs typeface="Source Sans 3" pitchFamily="34" charset="-120"/>
              </a:rPr>
              <a:t>04 · DATA &amp; ASUMSI</a:t>
            </a:r>
            <a:endParaRPr lang="en-US" sz="1300" dirty="0"/>
          </a:p>
        </p:txBody>
      </p:sp>
      <p:sp>
        <p:nvSpPr>
          <p:cNvPr id="3" name="Text 1"/>
          <p:cNvSpPr/>
          <p:nvPr>
            <p:ph idx="102" type="title" hasCustomPrompt="1"/>
          </p:nvPr>
        </p:nvSpPr>
        <p:spPr>
          <a:xfrm>
            <a:off x="685800" y="868680"/>
            <a:ext cx="10820095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4000" b="1" dirty="0">
                <a:solidFill>
                  <a:schemeClr val="tx1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Data yang dipakai, dan batasnya</a:t>
            </a:r>
            <a:endParaRPr lang="en-US" sz="4000" dirty="0"/>
          </a:p>
        </p:txBody>
      </p:sp>
      <p:graphicFrame>
        <p:nvGraphicFramePr>
          <p:cNvPr id="10" name="tabel-data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685800" y="1828800"/>
          <a:ext cx="10820095" cy="914400"/>
        </p:xfrm>
        <a:graphic>
          <a:graphicData uri="http://schemas.openxmlformats.org/drawingml/2006/table">
            <a:tbl>
              <a:tblPr/>
              <a:tblGrid>
                <a:gridCol w="3383280"/>
                <a:gridCol w="3291840"/>
                <a:gridCol w="4144975"/>
              </a:tblGrid>
              <a:tr h="38404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b="1" dirty="0">
                          <a:solidFill>
                            <a:schemeClr val="tx1"/>
                          </a:solidFill>
                          <a:latin typeface="Source Sans 3" pitchFamily="34" charset="0"/>
                          <a:ea typeface="Source Sans 3" pitchFamily="34" charset="-122"/>
                          <a:cs typeface="Source Sans 3" pitchFamily="34" charset="-120"/>
                        </a:rPr>
                        <a:t>Data</a:t>
                      </a:r>
                      <a:endParaRPr lang="en-US" sz="1500" dirty="0">
                        <a:latin typeface="Source Sans 3" charset="0"/>
                        <a:ea typeface="Source Sans 3" charset="0"/>
                        <a:cs typeface="Source Sans 3" charset="0"/>
                      </a:endParaRPr>
                    </a:p>
                  </a:txBody>
                  <a:tcPr marL="109728" marR="109728" marT="0" marB="0" anchor="ctr">
                    <a:lnL w="9525" cap="flat" cmpd="sng" algn="ctr">
                      <a:solidFill>
                        <a:srgbClr val="DEDC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EDC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EDC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EDC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6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b="1" dirty="0">
                          <a:solidFill>
                            <a:schemeClr val="tx1"/>
                          </a:solidFill>
                          <a:latin typeface="Source Sans 3" pitchFamily="34" charset="0"/>
                          <a:ea typeface="Source Sans 3" pitchFamily="34" charset="-122"/>
                          <a:cs typeface="Source Sans 3" pitchFamily="34" charset="-120"/>
                        </a:rPr>
                        <a:t>Sumber</a:t>
                      </a:r>
                      <a:endParaRPr lang="en-US" sz="1500" dirty="0">
                        <a:latin typeface="Source Sans 3" charset="0"/>
                        <a:ea typeface="Source Sans 3" charset="0"/>
                        <a:cs typeface="Source Sans 3" charset="0"/>
                      </a:endParaRPr>
                    </a:p>
                  </a:txBody>
                  <a:tcPr marL="109728" marR="109728" marT="0" marB="0" anchor="ctr">
                    <a:lnL w="9525" cap="flat" cmpd="sng" algn="ctr">
                      <a:solidFill>
                        <a:srgbClr val="DEDC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EDC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EDC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EDC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6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b="1" dirty="0">
                          <a:solidFill>
                            <a:schemeClr val="tx1"/>
                          </a:solidFill>
                          <a:latin typeface="Source Sans 3" pitchFamily="34" charset="0"/>
                          <a:ea typeface="Source Sans 3" pitchFamily="34" charset="-122"/>
                          <a:cs typeface="Source Sans 3" pitchFamily="34" charset="-120"/>
                        </a:rPr>
                        <a:t>Status di prototype</a:t>
                      </a:r>
                      <a:endParaRPr lang="en-US" sz="1500" dirty="0">
                        <a:latin typeface="Source Sans 3" charset="0"/>
                        <a:ea typeface="Source Sans 3" charset="0"/>
                        <a:cs typeface="Source Sans 3" charset="0"/>
                      </a:endParaRPr>
                    </a:p>
                  </a:txBody>
                  <a:tcPr marL="109728" marR="109728" marT="0" marB="0" anchor="ctr">
                    <a:lnL w="9525" cap="flat" cmpd="sng" algn="ctr">
                      <a:solidFill>
                        <a:srgbClr val="DEDC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EDC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EDC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EDC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6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chemeClr val="tx1"/>
                          </a:solidFill>
                          <a:latin typeface="Source Sans 3" pitchFamily="34" charset="0"/>
                          <a:ea typeface="Source Sans 3" pitchFamily="34" charset="-122"/>
                          <a:cs typeface="Source Sans 3" pitchFamily="34" charset="-120"/>
                        </a:rPr>
                        <a:t>Kepesertaan &amp; upah PPU</a:t>
                      </a:r>
                      <a:endParaRPr lang="en-US" sz="1500" dirty="0">
                        <a:latin typeface="Source Sans 3" charset="0"/>
                        <a:ea typeface="Source Sans 3" charset="0"/>
                        <a:cs typeface="Source Sans 3" charset="0"/>
                      </a:endParaRPr>
                    </a:p>
                  </a:txBody>
                  <a:tcPr marL="109728" marR="109728" marT="0" marB="0" anchor="ctr">
                    <a:lnL w="9525" cap="flat" cmpd="sng" algn="ctr">
                      <a:solidFill>
                        <a:srgbClr val="DEDC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EDC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EDC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EDC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chemeClr val="tx1"/>
                          </a:solidFill>
                          <a:latin typeface="Source Sans 3" pitchFamily="34" charset="0"/>
                          <a:ea typeface="Source Sans 3" pitchFamily="34" charset="-122"/>
                          <a:cs typeface="Source Sans 3" pitchFamily="34" charset="-120"/>
                        </a:rPr>
                        <a:t>BPJS Kesehatan</a:t>
                      </a:r>
                      <a:endParaRPr lang="en-US" sz="1500" dirty="0">
                        <a:latin typeface="Source Sans 3" charset="0"/>
                        <a:ea typeface="Source Sans 3" charset="0"/>
                        <a:cs typeface="Source Sans 3" charset="0"/>
                      </a:endParaRPr>
                    </a:p>
                  </a:txBody>
                  <a:tcPr marL="109728" marR="109728" marT="0" marB="0" anchor="ctr">
                    <a:lnL w="9525" cap="flat" cmpd="sng" algn="ctr">
                      <a:solidFill>
                        <a:srgbClr val="DEDC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EDC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EDC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EDC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chemeClr val="tx1"/>
                          </a:solidFill>
                          <a:latin typeface="Source Sans 3" pitchFamily="34" charset="0"/>
                          <a:ea typeface="Source Sans 3" pitchFamily="34" charset="-122"/>
                          <a:cs typeface="Source Sans 3" pitchFamily="34" charset="-120"/>
                        </a:rPr>
                        <a:t>Sintetis, pelanggaran disisipkan blind</a:t>
                      </a:r>
                      <a:endParaRPr lang="en-US" sz="1500" dirty="0">
                        <a:latin typeface="Source Sans 3" charset="0"/>
                        <a:ea typeface="Source Sans 3" charset="0"/>
                        <a:cs typeface="Source Sans 3" charset="0"/>
                      </a:endParaRPr>
                    </a:p>
                  </a:txBody>
                  <a:tcPr marL="109728" marR="109728" marT="0" marB="0" anchor="ctr">
                    <a:lnL w="9525" cap="flat" cmpd="sng" algn="ctr">
                      <a:solidFill>
                        <a:srgbClr val="DEDC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EDC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EDC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EDC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chemeClr val="tx1"/>
                          </a:solidFill>
                          <a:latin typeface="Source Sans 3" pitchFamily="34" charset="0"/>
                          <a:ea typeface="Source Sans 3" pitchFamily="34" charset="-122"/>
                          <a:cs typeface="Source Sans 3" pitchFamily="34" charset="-120"/>
                        </a:rPr>
                        <a:t>Kepesertaan per segmen</a:t>
                      </a:r>
                      <a:endParaRPr lang="en-US" sz="1500" dirty="0">
                        <a:latin typeface="Source Sans 3" charset="0"/>
                        <a:ea typeface="Source Sans 3" charset="0"/>
                        <a:cs typeface="Source Sans 3" charset="0"/>
                      </a:endParaRPr>
                    </a:p>
                  </a:txBody>
                  <a:tcPr marL="109728" marR="109728" marT="0" marB="0" anchor="ctr">
                    <a:lnL w="9525" cap="flat" cmpd="sng" algn="ctr">
                      <a:solidFill>
                        <a:srgbClr val="DEDC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EDC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EDC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EDC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chemeClr val="tx1"/>
                          </a:solidFill>
                          <a:latin typeface="Source Sans 3" pitchFamily="34" charset="0"/>
                          <a:ea typeface="Source Sans 3" pitchFamily="34" charset="-122"/>
                          <a:cs typeface="Source Sans 3" pitchFamily="34" charset="-120"/>
                        </a:rPr>
                        <a:t>Portal Data BPJS Kesehatan</a:t>
                      </a:r>
                      <a:endParaRPr lang="en-US" sz="1500" dirty="0">
                        <a:latin typeface="Source Sans 3" charset="0"/>
                        <a:ea typeface="Source Sans 3" charset="0"/>
                        <a:cs typeface="Source Sans 3" charset="0"/>
                      </a:endParaRPr>
                    </a:p>
                  </a:txBody>
                  <a:tcPr marL="109728" marR="109728" marT="0" marB="0" anchor="ctr">
                    <a:lnL w="9525" cap="flat" cmpd="sng" algn="ctr">
                      <a:solidFill>
                        <a:srgbClr val="DEDC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EDC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EDC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EDC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chemeClr val="tx1"/>
                          </a:solidFill>
                          <a:latin typeface="Source Sans 3" pitchFamily="34" charset="0"/>
                          <a:ea typeface="Source Sans 3" pitchFamily="34" charset="-122"/>
                          <a:cs typeface="Source Sans 3" pitchFamily="34" charset="-120"/>
                        </a:rPr>
                        <a:t>Publik, sudah diambil (30 Sep 2026)</a:t>
                      </a:r>
                      <a:endParaRPr lang="en-US" sz="1500" dirty="0">
                        <a:latin typeface="Source Sans 3" charset="0"/>
                        <a:ea typeface="Source Sans 3" charset="0"/>
                        <a:cs typeface="Source Sans 3" charset="0"/>
                      </a:endParaRPr>
                    </a:p>
                  </a:txBody>
                  <a:tcPr marL="109728" marR="109728" marT="0" marB="0" anchor="ctr">
                    <a:lnL w="9525" cap="flat" cmpd="sng" algn="ctr">
                      <a:solidFill>
                        <a:srgbClr val="DEDC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EDC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EDC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EDC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chemeClr val="tx1"/>
                          </a:solidFill>
                          <a:latin typeface="Source Sans 3" pitchFamily="34" charset="0"/>
                          <a:ea typeface="Source Sans 3" pitchFamily="34" charset="-122"/>
                          <a:cs typeface="Source Sans 3" pitchFamily="34" charset="-120"/>
                        </a:rPr>
                        <a:t>UMP / UMK</a:t>
                      </a:r>
                      <a:endParaRPr lang="en-US" sz="1500" dirty="0">
                        <a:latin typeface="Source Sans 3" charset="0"/>
                        <a:ea typeface="Source Sans 3" charset="0"/>
                        <a:cs typeface="Source Sans 3" charset="0"/>
                      </a:endParaRPr>
                    </a:p>
                  </a:txBody>
                  <a:tcPr marL="109728" marR="109728" marT="0" marB="0" anchor="ctr">
                    <a:lnL w="9525" cap="flat" cmpd="sng" algn="ctr">
                      <a:solidFill>
                        <a:srgbClr val="DEDC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EDC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EDC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EDC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chemeClr val="tx1"/>
                          </a:solidFill>
                          <a:latin typeface="Source Sans 3" pitchFamily="34" charset="0"/>
                          <a:ea typeface="Source Sans 3" pitchFamily="34" charset="-122"/>
                          <a:cs typeface="Source Sans 3" pitchFamily="34" charset="-120"/>
                        </a:rPr>
                        <a:t>Kemnaker, Pemda</a:t>
                      </a:r>
                      <a:endParaRPr lang="en-US" sz="1500" dirty="0">
                        <a:latin typeface="Source Sans 3" charset="0"/>
                        <a:ea typeface="Source Sans 3" charset="0"/>
                        <a:cs typeface="Source Sans 3" charset="0"/>
                      </a:endParaRPr>
                    </a:p>
                  </a:txBody>
                  <a:tcPr marL="109728" marR="109728" marT="0" marB="0" anchor="ctr">
                    <a:lnL w="9525" cap="flat" cmpd="sng" algn="ctr">
                      <a:solidFill>
                        <a:srgbClr val="DEDC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EDC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EDC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EDC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chemeClr val="tx1"/>
                          </a:solidFill>
                          <a:latin typeface="Source Sans 3" pitchFamily="34" charset="0"/>
                          <a:ea typeface="Source Sans 3" pitchFamily="34" charset="-122"/>
                          <a:cs typeface="Source Sans 3" pitchFamily="34" charset="-120"/>
                        </a:rPr>
                        <a:t>Publik</a:t>
                      </a:r>
                      <a:endParaRPr lang="en-US" sz="1500" dirty="0">
                        <a:latin typeface="Source Sans 3" charset="0"/>
                        <a:ea typeface="Source Sans 3" charset="0"/>
                        <a:cs typeface="Source Sans 3" charset="0"/>
                      </a:endParaRPr>
                    </a:p>
                  </a:txBody>
                  <a:tcPr marL="109728" marR="109728" marT="0" marB="0" anchor="ctr">
                    <a:lnL w="9525" cap="flat" cmpd="sng" algn="ctr">
                      <a:solidFill>
                        <a:srgbClr val="DEDC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EDC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EDC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EDC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chemeClr val="tx1"/>
                          </a:solidFill>
                          <a:latin typeface="Source Sans 3" pitchFamily="34" charset="0"/>
                          <a:ea typeface="Source Sans 3" pitchFamily="34" charset="-122"/>
                          <a:cs typeface="Source Sans 3" pitchFamily="34" charset="-120"/>
                        </a:rPr>
                        <a:t>Upah per lapangan usaha</a:t>
                      </a:r>
                      <a:endParaRPr lang="en-US" sz="1500" dirty="0">
                        <a:latin typeface="Source Sans 3" charset="0"/>
                        <a:ea typeface="Source Sans 3" charset="0"/>
                        <a:cs typeface="Source Sans 3" charset="0"/>
                      </a:endParaRPr>
                    </a:p>
                  </a:txBody>
                  <a:tcPr marL="109728" marR="109728" marT="0" marB="0" anchor="ctr">
                    <a:lnL w="9525" cap="flat" cmpd="sng" algn="ctr">
                      <a:solidFill>
                        <a:srgbClr val="DEDC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EDC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EDC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EDC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chemeClr val="tx1"/>
                          </a:solidFill>
                          <a:latin typeface="Source Sans 3" pitchFamily="34" charset="0"/>
                          <a:ea typeface="Source Sans 3" pitchFamily="34" charset="-122"/>
                          <a:cs typeface="Source Sans 3" pitchFamily="34" charset="-120"/>
                        </a:rPr>
                        <a:t>BPS Sakernas Agustus 2025</a:t>
                      </a:r>
                      <a:endParaRPr lang="en-US" sz="1500" dirty="0">
                        <a:latin typeface="Source Sans 3" charset="0"/>
                        <a:ea typeface="Source Sans 3" charset="0"/>
                        <a:cs typeface="Source Sans 3" charset="0"/>
                      </a:endParaRPr>
                    </a:p>
                  </a:txBody>
                  <a:tcPr marL="109728" marR="109728" marT="0" marB="0" anchor="ctr">
                    <a:lnL w="9525" cap="flat" cmpd="sng" algn="ctr">
                      <a:solidFill>
                        <a:srgbClr val="DEDC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EDC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EDC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EDC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chemeClr val="tx1"/>
                          </a:solidFill>
                          <a:latin typeface="Source Sans 3" pitchFamily="34" charset="0"/>
                          <a:ea typeface="Source Sans 3" pitchFamily="34" charset="-122"/>
                          <a:cs typeface="Source Sans 3" pitchFamily="34" charset="-120"/>
                        </a:rPr>
                        <a:t>Publik; generator dikalibrasi (ρ = 0,90)</a:t>
                      </a:r>
                      <a:endParaRPr lang="en-US" sz="1500" dirty="0">
                        <a:latin typeface="Source Sans 3" charset="0"/>
                        <a:ea typeface="Source Sans 3" charset="0"/>
                        <a:cs typeface="Source Sans 3" charset="0"/>
                      </a:endParaRPr>
                    </a:p>
                  </a:txBody>
                  <a:tcPr marL="109728" marR="109728" marT="0" marB="0" anchor="ctr">
                    <a:lnL w="9525" cap="flat" cmpd="sng" algn="ctr">
                      <a:solidFill>
                        <a:srgbClr val="DEDC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EDC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EDC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EDC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chemeClr val="tx1"/>
                          </a:solidFill>
                          <a:latin typeface="Source Sans 3" pitchFamily="34" charset="0"/>
                          <a:ea typeface="Source Sans 3" pitchFamily="34" charset="-122"/>
                          <a:cs typeface="Source Sans 3" pitchFamily="34" charset="-120"/>
                        </a:rPr>
                        <a:t>Skala usaha &amp; KBLI</a:t>
                      </a:r>
                      <a:endParaRPr lang="en-US" sz="1500" dirty="0">
                        <a:latin typeface="Source Sans 3" charset="0"/>
                        <a:ea typeface="Source Sans 3" charset="0"/>
                        <a:cs typeface="Source Sans 3" charset="0"/>
                      </a:endParaRPr>
                    </a:p>
                  </a:txBody>
                  <a:tcPr marL="109728" marR="109728" marT="0" marB="0" anchor="ctr">
                    <a:lnL w="9525" cap="flat" cmpd="sng" algn="ctr">
                      <a:solidFill>
                        <a:srgbClr val="DEDC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EDC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EDC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EDC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chemeClr val="tx1"/>
                          </a:solidFill>
                          <a:latin typeface="Source Sans 3" pitchFamily="34" charset="0"/>
                          <a:ea typeface="Source Sans 3" pitchFamily="34" charset="-122"/>
                          <a:cs typeface="Source Sans 3" pitchFamily="34" charset="-120"/>
                        </a:rPr>
                        <a:t>OSS / NIB</a:t>
                      </a:r>
                      <a:endParaRPr lang="en-US" sz="1500" dirty="0">
                        <a:latin typeface="Source Sans 3" charset="0"/>
                        <a:ea typeface="Source Sans 3" charset="0"/>
                        <a:cs typeface="Source Sans 3" charset="0"/>
                      </a:endParaRPr>
                    </a:p>
                  </a:txBody>
                  <a:tcPr marL="109728" marR="109728" marT="0" marB="0" anchor="ctr">
                    <a:lnL w="9525" cap="flat" cmpd="sng" algn="ctr">
                      <a:solidFill>
                        <a:srgbClr val="DEDC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EDC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EDC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EDC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chemeClr val="tx1"/>
                          </a:solidFill>
                          <a:latin typeface="Source Sans 3" pitchFamily="34" charset="0"/>
                          <a:ea typeface="Source Sans 3" pitchFamily="34" charset="-122"/>
                          <a:cs typeface="Source Sans 3" pitchFamily="34" charset="-120"/>
                        </a:rPr>
                        <a:t>Proxy sintetis</a:t>
                      </a:r>
                      <a:endParaRPr lang="en-US" sz="1500" dirty="0">
                        <a:latin typeface="Source Sans 3" charset="0"/>
                        <a:ea typeface="Source Sans 3" charset="0"/>
                        <a:cs typeface="Source Sans 3" charset="0"/>
                      </a:endParaRPr>
                    </a:p>
                  </a:txBody>
                  <a:tcPr marL="109728" marR="109728" marT="0" marB="0" anchor="ctr">
                    <a:lnL w="9525" cap="flat" cmpd="sng" algn="ctr">
                      <a:solidFill>
                        <a:srgbClr val="DEDC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EDC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EDC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EDC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chemeClr val="tx1"/>
                          </a:solidFill>
                          <a:latin typeface="Source Sans 3" pitchFamily="34" charset="0"/>
                          <a:ea typeface="Source Sans 3" pitchFamily="34" charset="-122"/>
                          <a:cs typeface="Source Sans 3" pitchFamily="34" charset="-120"/>
                        </a:rPr>
                        <a:t>Kepesertaan BPJS TK</a:t>
                      </a:r>
                      <a:endParaRPr lang="en-US" sz="1500" dirty="0">
                        <a:latin typeface="Source Sans 3" charset="0"/>
                        <a:ea typeface="Source Sans 3" charset="0"/>
                        <a:cs typeface="Source Sans 3" charset="0"/>
                      </a:endParaRPr>
                    </a:p>
                  </a:txBody>
                  <a:tcPr marL="109728" marR="109728" marT="0" marB="0" anchor="ctr">
                    <a:lnL w="9525" cap="flat" cmpd="sng" algn="ctr">
                      <a:solidFill>
                        <a:srgbClr val="DEDC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EDC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EDC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EDC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chemeClr val="tx1"/>
                          </a:solidFill>
                          <a:latin typeface="Source Sans 3" pitchFamily="34" charset="0"/>
                          <a:ea typeface="Source Sans 3" pitchFamily="34" charset="-122"/>
                          <a:cs typeface="Source Sans 3" pitchFamily="34" charset="-120"/>
                        </a:rPr>
                        <a:t>BPJS Ketenagakerjaan</a:t>
                      </a:r>
                      <a:endParaRPr lang="en-US" sz="1500" dirty="0">
                        <a:latin typeface="Source Sans 3" charset="0"/>
                        <a:ea typeface="Source Sans 3" charset="0"/>
                        <a:cs typeface="Source Sans 3" charset="0"/>
                      </a:endParaRPr>
                    </a:p>
                  </a:txBody>
                  <a:tcPr marL="109728" marR="109728" marT="0" marB="0" anchor="ctr">
                    <a:lnL w="9525" cap="flat" cmpd="sng" algn="ctr">
                      <a:solidFill>
                        <a:srgbClr val="DEDC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EDC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EDC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EDC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chemeClr val="tx1"/>
                          </a:solidFill>
                          <a:latin typeface="Source Sans 3" pitchFamily="34" charset="0"/>
                          <a:ea typeface="Source Sans 3" pitchFamily="34" charset="-122"/>
                          <a:cs typeface="Source Sans 3" pitchFamily="34" charset="-120"/>
                        </a:rPr>
                        <a:t>Fase lanjut, butuh kerja sama</a:t>
                      </a:r>
                      <a:endParaRPr lang="en-US" sz="1500" dirty="0">
                        <a:latin typeface="Source Sans 3" charset="0"/>
                        <a:ea typeface="Source Sans 3" charset="0"/>
                        <a:cs typeface="Source Sans 3" charset="0"/>
                      </a:endParaRPr>
                    </a:p>
                  </a:txBody>
                  <a:tcPr marL="109728" marR="109728" marT="0" marB="0" anchor="ctr">
                    <a:lnL w="9525" cap="flat" cmpd="sng" algn="ctr">
                      <a:solidFill>
                        <a:srgbClr val="DEDC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EDC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EDC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EDC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</a:tr>
            </a:tbl>
          </a:graphicData>
        </a:graphic>
      </p:graphicFrame>
      <p:sp>
        <p:nvSpPr>
          <p:cNvPr id="5" name="kartu-128"/>
          <p:cNvSpPr/>
          <p:nvPr/>
        </p:nvSpPr>
        <p:spPr>
          <a:xfrm>
            <a:off x="685800" y="4754880"/>
            <a:ext cx="10820095" cy="1280160"/>
          </a:xfrm>
          <a:prstGeom prst="roundRect">
            <a:avLst>
              <a:gd name="adj" fmla="val 8571"/>
            </a:avLst>
          </a:prstGeom>
          <a:solidFill>
            <a:schemeClr val="accent6"/>
          </a:solidFill>
          <a:ln/>
        </p:spPr>
      </p:sp>
      <p:sp>
        <p:nvSpPr>
          <p:cNvPr id="6" name="teks-129"/>
          <p:cNvSpPr txBox="1"/>
          <p:nvPr/>
        </p:nvSpPr>
        <p:spPr>
          <a:xfrm>
            <a:off x="960120" y="4901184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b="1" spc="150" kern="0" dirty="0">
                <a:solidFill>
                  <a:schemeClr val="accent1"/>
                </a:solidFill>
              </a:rPr>
              <a:t>ASUMSI &amp; KETERBATASAN</a:t>
            </a:r>
            <a:endParaRPr lang="en-US" sz="1200" dirty="0"/>
          </a:p>
        </p:txBody>
      </p:sp>
      <p:sp>
        <p:nvSpPr>
          <p:cNvPr id="7" name="teks-130"/>
          <p:cNvSpPr txBox="1"/>
          <p:nvPr/>
        </p:nvSpPr>
        <p:spPr>
          <a:xfrm>
            <a:off x="960120" y="5212080"/>
            <a:ext cx="10271455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203200" indent="-203200">
              <a:spcAft>
                <a:spcPts val="400"/>
              </a:spcAft>
              <a:buSzPct val="100000"/>
              <a:buChar char="•"/>
            </a:pPr>
            <a:r>
              <a:rPr lang="en-US" sz="1500" dirty="0">
                <a:solidFill>
                  <a:schemeClr val="tx1"/>
                </a:solidFill>
              </a:rPr>
              <a:t>Pola data sintetis belum tentu sama dengan pola riil; divalidasi saat pilot</a:t>
            </a:r>
            <a:endParaRPr lang="en-US" sz="1500" dirty="0"/>
          </a:p>
          <a:p>
            <a:pPr marL="203200" indent="-203200">
              <a:spcAft>
                <a:spcPts val="400"/>
              </a:spcAft>
              <a:buSzPct val="100000"/>
              <a:buChar char="•"/>
            </a:pPr>
            <a:r>
              <a:rPr lang="en-US" sz="1500" dirty="0">
                <a:solidFill>
                  <a:schemeClr val="tx1"/>
                </a:solidFill>
              </a:rPr>
              <a:t>Benchmark sektor lemah di wilayah dengan data sedikit; skornya diberi keyakinan rendah</a:t>
            </a:r>
            <a:endParaRPr lang="en-US" sz="15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957255" y="6327648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100">
                <a:solidFill>
                  <a:srgbClr val="5B6B70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9</a:t>
            </a:fld>
            <a:endParaRPr lang="en-US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body" hasCustomPrompt="1"/>
          </p:nvPr>
        </p:nvSpPr>
        <p:spPr>
          <a:xfrm>
            <a:off x="685800" y="566928"/>
            <a:ext cx="10820095" cy="292608"/>
          </a:xfrm>
          <a:prstGeom prst="rect">
            <a:avLst/>
          </a:prstGeom>
          <a:noFill/>
          <a:ln/>
        </p:spPr>
        <p:txBody>
          <a:bodyPr wrap="square" lIns="0" tIns="0" rIns="0" bIns="0" rtlCol="0"/>
          <a:lstStyle/>
          <a:p>
            <a:pPr indent="0" marL="0">
              <a:buNone/>
            </a:pPr>
            <a:r>
              <a:rPr lang="en-US" sz="1300" b="1" spc="200" kern="0" dirty="0">
                <a:solidFill>
                  <a:schemeClr val="accent1"/>
                </a:solidFill>
                <a:latin typeface="Source Sans 3" pitchFamily="34" charset="0"/>
                <a:ea typeface="Source Sans 3" pitchFamily="34" charset="-122"/>
                <a:cs typeface="Source Sans 3" pitchFamily="34" charset="-120"/>
              </a:rPr>
              <a:t>04 · DESAIN VALIDASI</a:t>
            </a:r>
            <a:endParaRPr lang="en-US" sz="1300" dirty="0"/>
          </a:p>
        </p:txBody>
      </p:sp>
      <p:sp>
        <p:nvSpPr>
          <p:cNvPr id="3" name="Text 1"/>
          <p:cNvSpPr/>
          <p:nvPr>
            <p:ph idx="102" type="title" hasCustomPrompt="1"/>
          </p:nvPr>
        </p:nvSpPr>
        <p:spPr>
          <a:xfrm>
            <a:off x="685800" y="868680"/>
            <a:ext cx="10820095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4000" b="1" dirty="0">
                <a:solidFill>
                  <a:schemeClr val="tx1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Data sintetis yang sengaja dibuat sulit</a:t>
            </a:r>
            <a:endParaRPr lang="en-US" sz="4000" dirty="0"/>
          </a:p>
        </p:txBody>
      </p:sp>
      <p:sp>
        <p:nvSpPr>
          <p:cNvPr id="4" name="kartu-131"/>
          <p:cNvSpPr/>
          <p:nvPr/>
        </p:nvSpPr>
        <p:spPr>
          <a:xfrm>
            <a:off x="685800" y="1874520"/>
            <a:ext cx="2499284" cy="2880360"/>
          </a:xfrm>
          <a:prstGeom prst="roundRect">
            <a:avLst>
              <a:gd name="adj" fmla="val 4390"/>
            </a:avLst>
          </a:prstGeom>
          <a:solidFill>
            <a:schemeClr val="bg1"/>
          </a:solidFill>
          <a:ln w="9525">
            <a:solidFill>
              <a:srgbClr val="DEDCD4"/>
            </a:solidFill>
            <a:prstDash val="solid"/>
          </a:ln>
        </p:spPr>
      </p:sp>
      <p:sp>
        <p:nvSpPr>
          <p:cNvPr id="5" name="lingkar-ikon-132"/>
          <p:cNvSpPr/>
          <p:nvPr/>
        </p:nvSpPr>
        <p:spPr>
          <a:xfrm>
            <a:off x="941832" y="2130552"/>
            <a:ext cx="566928" cy="566928"/>
          </a:xfrm>
          <a:prstGeom prst="ellipse">
            <a:avLst/>
          </a:prstGeom>
          <a:solidFill>
            <a:schemeClr val="accent6"/>
          </a:solidFill>
          <a:ln/>
        </p:spPr>
      </p:sp>
      <p:pic>
        <p:nvPicPr>
          <p:cNvPr id="6" name="ikon-133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77895" y="2266615"/>
            <a:ext cx="294803" cy="294803"/>
          </a:xfrm>
          <a:prstGeom prst="rect">
            <a:avLst/>
          </a:prstGeom>
        </p:spPr>
      </p:pic>
      <p:sp>
        <p:nvSpPr>
          <p:cNvPr id="7" name="teks-134"/>
          <p:cNvSpPr txBox="1"/>
          <p:nvPr/>
        </p:nvSpPr>
        <p:spPr>
          <a:xfrm>
            <a:off x="2499284" y="214884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2200" b="1" dirty="0">
                <a:solidFill>
                  <a:schemeClr val="accent1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1</a:t>
            </a:r>
            <a:endParaRPr lang="en-US" sz="2200" dirty="0"/>
          </a:p>
        </p:txBody>
      </p:sp>
      <p:sp>
        <p:nvSpPr>
          <p:cNvPr id="8" name="teks-135"/>
          <p:cNvSpPr txBox="1"/>
          <p:nvPr/>
        </p:nvSpPr>
        <p:spPr>
          <a:xfrm>
            <a:off x="941832" y="2852928"/>
            <a:ext cx="2042084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b="1" dirty="0">
                <a:solidFill>
                  <a:schemeClr val="tx1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Dunia jujur</a:t>
            </a:r>
            <a:endParaRPr lang="en-US" sz="1800" dirty="0"/>
          </a:p>
        </p:txBody>
      </p:sp>
      <p:sp>
        <p:nvSpPr>
          <p:cNvPr id="9" name="teks-136"/>
          <p:cNvSpPr txBox="1"/>
          <p:nvPr/>
        </p:nvSpPr>
        <p:spPr>
          <a:xfrm>
            <a:off x="941832" y="3273552"/>
            <a:ext cx="2060372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chemeClr val="accent5"/>
                </a:solidFill>
              </a:rPr>
              <a:t>5.000 badan usaha, ±450 rb pekerja, 1,3 jt baris upah 2021–2025</a:t>
            </a:r>
            <a:endParaRPr lang="en-US" sz="1400" dirty="0"/>
          </a:p>
        </p:txBody>
      </p:sp>
      <p:sp>
        <p:nvSpPr>
          <p:cNvPr id="10" name="kartu-137"/>
          <p:cNvSpPr/>
          <p:nvPr/>
        </p:nvSpPr>
        <p:spPr>
          <a:xfrm>
            <a:off x="3459404" y="1874520"/>
            <a:ext cx="2499284" cy="2880360"/>
          </a:xfrm>
          <a:prstGeom prst="roundRect">
            <a:avLst>
              <a:gd name="adj" fmla="val 4390"/>
            </a:avLst>
          </a:prstGeom>
          <a:solidFill>
            <a:schemeClr val="bg1"/>
          </a:solidFill>
          <a:ln w="9525">
            <a:solidFill>
              <a:srgbClr val="DEDCD4"/>
            </a:solidFill>
            <a:prstDash val="solid"/>
          </a:ln>
        </p:spPr>
      </p:sp>
      <p:sp>
        <p:nvSpPr>
          <p:cNvPr id="11" name="lingkar-ikon-138"/>
          <p:cNvSpPr/>
          <p:nvPr/>
        </p:nvSpPr>
        <p:spPr>
          <a:xfrm>
            <a:off x="3715436" y="2130552"/>
            <a:ext cx="566928" cy="566928"/>
          </a:xfrm>
          <a:prstGeom prst="ellipse">
            <a:avLst/>
          </a:prstGeom>
          <a:solidFill>
            <a:schemeClr val="accent6"/>
          </a:solidFill>
          <a:ln/>
        </p:spPr>
      </p:sp>
      <p:pic>
        <p:nvPicPr>
          <p:cNvPr id="12" name="ikon-139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851499" y="2266615"/>
            <a:ext cx="294803" cy="294803"/>
          </a:xfrm>
          <a:prstGeom prst="rect">
            <a:avLst/>
          </a:prstGeom>
        </p:spPr>
      </p:pic>
      <p:sp>
        <p:nvSpPr>
          <p:cNvPr id="13" name="teks-140"/>
          <p:cNvSpPr txBox="1"/>
          <p:nvPr/>
        </p:nvSpPr>
        <p:spPr>
          <a:xfrm>
            <a:off x="5272888" y="214884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2200" b="1" dirty="0">
                <a:solidFill>
                  <a:schemeClr val="accent1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2</a:t>
            </a:r>
            <a:endParaRPr lang="en-US" sz="2200" dirty="0"/>
          </a:p>
        </p:txBody>
      </p:sp>
      <p:sp>
        <p:nvSpPr>
          <p:cNvPr id="14" name="teks-141"/>
          <p:cNvSpPr txBox="1"/>
          <p:nvPr/>
        </p:nvSpPr>
        <p:spPr>
          <a:xfrm>
            <a:off x="3715436" y="2852928"/>
            <a:ext cx="2042084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b="1" dirty="0">
                <a:solidFill>
                  <a:schemeClr val="tx1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Penyisipan blind</a:t>
            </a:r>
            <a:endParaRPr lang="en-US" sz="1800" dirty="0"/>
          </a:p>
        </p:txBody>
      </p:sp>
      <p:sp>
        <p:nvSpPr>
          <p:cNvPr id="15" name="teks-142"/>
          <p:cNvSpPr txBox="1"/>
          <p:nvPr/>
        </p:nvSpPr>
        <p:spPr>
          <a:xfrm>
            <a:off x="3715436" y="3273552"/>
            <a:ext cx="2060372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chemeClr val="accent5"/>
                </a:solidFill>
              </a:rPr>
              <a:t>15% pelanggar, seed rahasia, kasus mudah &amp; sulit, 1–2 modus</a:t>
            </a:r>
            <a:endParaRPr lang="en-US" sz="1400" dirty="0"/>
          </a:p>
        </p:txBody>
      </p:sp>
      <p:sp>
        <p:nvSpPr>
          <p:cNvPr id="16" name="kartu-143"/>
          <p:cNvSpPr/>
          <p:nvPr/>
        </p:nvSpPr>
        <p:spPr>
          <a:xfrm>
            <a:off x="6233008" y="1874520"/>
            <a:ext cx="2499284" cy="2880360"/>
          </a:xfrm>
          <a:prstGeom prst="roundRect">
            <a:avLst>
              <a:gd name="adj" fmla="val 4390"/>
            </a:avLst>
          </a:prstGeom>
          <a:solidFill>
            <a:schemeClr val="bg1"/>
          </a:solidFill>
          <a:ln w="9525">
            <a:solidFill>
              <a:srgbClr val="DEDCD4"/>
            </a:solidFill>
            <a:prstDash val="solid"/>
          </a:ln>
        </p:spPr>
      </p:sp>
      <p:sp>
        <p:nvSpPr>
          <p:cNvPr id="17" name="lingkar-ikon-144"/>
          <p:cNvSpPr/>
          <p:nvPr/>
        </p:nvSpPr>
        <p:spPr>
          <a:xfrm>
            <a:off x="6489040" y="2130552"/>
            <a:ext cx="566928" cy="566928"/>
          </a:xfrm>
          <a:prstGeom prst="ellipse">
            <a:avLst/>
          </a:prstGeom>
          <a:solidFill>
            <a:schemeClr val="accent6"/>
          </a:solidFill>
          <a:ln/>
        </p:spPr>
      </p:sp>
      <p:pic>
        <p:nvPicPr>
          <p:cNvPr id="18" name="ikon-145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625102" y="2266615"/>
            <a:ext cx="294803" cy="294803"/>
          </a:xfrm>
          <a:prstGeom prst="rect">
            <a:avLst/>
          </a:prstGeom>
        </p:spPr>
      </p:pic>
      <p:sp>
        <p:nvSpPr>
          <p:cNvPr id="19" name="teks-146"/>
          <p:cNvSpPr txBox="1"/>
          <p:nvPr/>
        </p:nvSpPr>
        <p:spPr>
          <a:xfrm>
            <a:off x="8046491" y="214884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2200" b="1" dirty="0">
                <a:solidFill>
                  <a:schemeClr val="accent1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3</a:t>
            </a:r>
            <a:endParaRPr lang="en-US" sz="2200" dirty="0"/>
          </a:p>
        </p:txBody>
      </p:sp>
      <p:sp>
        <p:nvSpPr>
          <p:cNvPr id="20" name="teks-147"/>
          <p:cNvSpPr txBox="1"/>
          <p:nvPr/>
        </p:nvSpPr>
        <p:spPr>
          <a:xfrm>
            <a:off x="6489040" y="2852928"/>
            <a:ext cx="2042084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b="1" dirty="0">
                <a:solidFill>
                  <a:schemeClr val="tx1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Hard negative</a:t>
            </a:r>
            <a:endParaRPr lang="en-US" sz="1800" dirty="0"/>
          </a:p>
        </p:txBody>
      </p:sp>
      <p:sp>
        <p:nvSpPr>
          <p:cNvPr id="21" name="teks-148"/>
          <p:cNvSpPr txBox="1"/>
          <p:nvPr/>
        </p:nvSpPr>
        <p:spPr>
          <a:xfrm>
            <a:off x="6489040" y="3273552"/>
            <a:ext cx="2060372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chemeClr val="accent5"/>
                </a:solidFill>
              </a:rPr>
              <a:t>±500 usaha patuh yang tampak mencurigakan: padat karya di UMK, UMKM sah di bawah UMK, PHK massal sah</a:t>
            </a:r>
            <a:endParaRPr lang="en-US" sz="1400" dirty="0"/>
          </a:p>
        </p:txBody>
      </p:sp>
      <p:sp>
        <p:nvSpPr>
          <p:cNvPr id="22" name="kartu-149"/>
          <p:cNvSpPr/>
          <p:nvPr/>
        </p:nvSpPr>
        <p:spPr>
          <a:xfrm>
            <a:off x="9006611" y="1874520"/>
            <a:ext cx="2499284" cy="2880360"/>
          </a:xfrm>
          <a:prstGeom prst="roundRect">
            <a:avLst>
              <a:gd name="adj" fmla="val 4390"/>
            </a:avLst>
          </a:prstGeom>
          <a:solidFill>
            <a:schemeClr val="bg1"/>
          </a:solidFill>
          <a:ln w="9525">
            <a:solidFill>
              <a:srgbClr val="DEDCD4"/>
            </a:solidFill>
            <a:prstDash val="solid"/>
          </a:ln>
        </p:spPr>
      </p:sp>
      <p:sp>
        <p:nvSpPr>
          <p:cNvPr id="23" name="lingkar-ikon-150"/>
          <p:cNvSpPr/>
          <p:nvPr/>
        </p:nvSpPr>
        <p:spPr>
          <a:xfrm>
            <a:off x="9262643" y="2130552"/>
            <a:ext cx="566928" cy="566928"/>
          </a:xfrm>
          <a:prstGeom prst="ellipse">
            <a:avLst/>
          </a:prstGeom>
          <a:solidFill>
            <a:schemeClr val="accent6"/>
          </a:solidFill>
          <a:ln/>
        </p:spPr>
      </p:sp>
      <p:pic>
        <p:nvPicPr>
          <p:cNvPr id="24" name="ikon-151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9398706" y="2266615"/>
            <a:ext cx="294803" cy="294803"/>
          </a:xfrm>
          <a:prstGeom prst="rect">
            <a:avLst/>
          </a:prstGeom>
        </p:spPr>
      </p:pic>
      <p:sp>
        <p:nvSpPr>
          <p:cNvPr id="25" name="teks-152"/>
          <p:cNvSpPr txBox="1"/>
          <p:nvPr/>
        </p:nvSpPr>
        <p:spPr>
          <a:xfrm>
            <a:off x="10820095" y="214884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2200" b="1" dirty="0">
                <a:solidFill>
                  <a:schemeClr val="accent1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4</a:t>
            </a:r>
            <a:endParaRPr lang="en-US" sz="2200" dirty="0"/>
          </a:p>
        </p:txBody>
      </p:sp>
      <p:sp>
        <p:nvSpPr>
          <p:cNvPr id="26" name="teks-153"/>
          <p:cNvSpPr txBox="1"/>
          <p:nvPr/>
        </p:nvSpPr>
        <p:spPr>
          <a:xfrm>
            <a:off x="9262643" y="2852928"/>
            <a:ext cx="2042084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b="1" dirty="0">
                <a:solidFill>
                  <a:schemeClr val="tx1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Uji di data baru</a:t>
            </a:r>
            <a:endParaRPr lang="en-US" sz="1800" dirty="0"/>
          </a:p>
        </p:txBody>
      </p:sp>
      <p:sp>
        <p:nvSpPr>
          <p:cNvPr id="27" name="teks-154"/>
          <p:cNvSpPr txBox="1"/>
          <p:nvPr/>
        </p:nvSpPr>
        <p:spPr>
          <a:xfrm>
            <a:off x="9262643" y="3273552"/>
            <a:ext cx="2060372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chemeClr val="accent5"/>
                </a:solidFill>
              </a:rPr>
              <a:t>Mesin dinilai pada dataset holdout yang tidak pernah dilihat saat penyetelan</a:t>
            </a:r>
            <a:endParaRPr lang="en-US" sz="1400" dirty="0"/>
          </a:p>
        </p:txBody>
      </p:sp>
      <p:sp>
        <p:nvSpPr>
          <p:cNvPr id="28" name="cek-155"/>
          <p:cNvSpPr/>
          <p:nvPr/>
        </p:nvSpPr>
        <p:spPr>
          <a:xfrm>
            <a:off x="685800" y="5029200"/>
            <a:ext cx="2567864" cy="685800"/>
          </a:xfrm>
          <a:prstGeom prst="roundRect">
            <a:avLst>
              <a:gd name="adj" fmla="val 16000"/>
            </a:avLst>
          </a:prstGeom>
          <a:solidFill>
            <a:schemeClr val="accent6"/>
          </a:solidFill>
          <a:ln/>
        </p:spPr>
      </p:sp>
      <p:sp>
        <p:nvSpPr>
          <p:cNvPr id="29" name="teks-156"/>
          <p:cNvSpPr txBox="1"/>
          <p:nvPr/>
        </p:nvSpPr>
        <p:spPr>
          <a:xfrm>
            <a:off x="822960" y="5029200"/>
            <a:ext cx="2293544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chemeClr val="accent1"/>
                </a:solidFill>
              </a:rPr>
              <a:t>Kebocoran label: metadata AUC ≈ 0,5</a:t>
            </a:r>
            <a:endParaRPr lang="en-US" sz="1400" dirty="0"/>
          </a:p>
        </p:txBody>
      </p:sp>
      <p:sp>
        <p:nvSpPr>
          <p:cNvPr id="30" name="cek-157"/>
          <p:cNvSpPr/>
          <p:nvPr/>
        </p:nvSpPr>
        <p:spPr>
          <a:xfrm>
            <a:off x="3436544" y="5029200"/>
            <a:ext cx="2567864" cy="685800"/>
          </a:xfrm>
          <a:prstGeom prst="roundRect">
            <a:avLst>
              <a:gd name="adj" fmla="val 16000"/>
            </a:avLst>
          </a:prstGeom>
          <a:solidFill>
            <a:schemeClr val="accent6"/>
          </a:solidFill>
          <a:ln/>
        </p:spPr>
      </p:sp>
      <p:sp>
        <p:nvSpPr>
          <p:cNvPr id="31" name="teks-158"/>
          <p:cNvSpPr txBox="1"/>
          <p:nvPr/>
        </p:nvSpPr>
        <p:spPr>
          <a:xfrm>
            <a:off x="3573704" y="5029200"/>
            <a:ext cx="2293544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chemeClr val="accent1"/>
                </a:solidFill>
              </a:rPr>
              <a:t>Upah dikalibrasi ke BPS (ρ = 0,90)</a:t>
            </a:r>
            <a:endParaRPr lang="en-US" sz="1400" dirty="0"/>
          </a:p>
        </p:txBody>
      </p:sp>
      <p:sp>
        <p:nvSpPr>
          <p:cNvPr id="32" name="cek-159"/>
          <p:cNvSpPr/>
          <p:nvPr/>
        </p:nvSpPr>
        <p:spPr>
          <a:xfrm>
            <a:off x="6187288" y="5029200"/>
            <a:ext cx="2567864" cy="685800"/>
          </a:xfrm>
          <a:prstGeom prst="roundRect">
            <a:avLst>
              <a:gd name="adj" fmla="val 16000"/>
            </a:avLst>
          </a:prstGeom>
          <a:solidFill>
            <a:schemeClr val="accent6"/>
          </a:solidFill>
          <a:ln/>
        </p:spPr>
      </p:sp>
      <p:sp>
        <p:nvSpPr>
          <p:cNvPr id="33" name="teks-160"/>
          <p:cNvSpPr txBox="1"/>
          <p:nvPr/>
        </p:nvSpPr>
        <p:spPr>
          <a:xfrm>
            <a:off x="6324448" y="5029200"/>
            <a:ext cx="2293544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chemeClr val="accent1"/>
                </a:solidFill>
              </a:rPr>
              <a:t>Label hanya dibaca evaluator</a:t>
            </a:r>
            <a:endParaRPr lang="en-US" sz="1400" dirty="0"/>
          </a:p>
        </p:txBody>
      </p:sp>
      <p:sp>
        <p:nvSpPr>
          <p:cNvPr id="34" name="cek-161"/>
          <p:cNvSpPr/>
          <p:nvPr/>
        </p:nvSpPr>
        <p:spPr>
          <a:xfrm>
            <a:off x="8938031" y="5029200"/>
            <a:ext cx="2567864" cy="685800"/>
          </a:xfrm>
          <a:prstGeom prst="roundRect">
            <a:avLst>
              <a:gd name="adj" fmla="val 16000"/>
            </a:avLst>
          </a:prstGeom>
          <a:solidFill>
            <a:schemeClr val="accent6"/>
          </a:solidFill>
          <a:ln/>
        </p:spPr>
      </p:sp>
      <p:sp>
        <p:nvSpPr>
          <p:cNvPr id="35" name="teks-162"/>
          <p:cNvSpPr txBox="1"/>
          <p:nvPr/>
        </p:nvSpPr>
        <p:spPr>
          <a:xfrm>
            <a:off x="9075191" y="5029200"/>
            <a:ext cx="2293544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chemeClr val="accent1"/>
                </a:solidFill>
              </a:rPr>
              <a:t>Precision dilaporkan terpisah: mudah vs sulit</a:t>
            </a:r>
            <a:endParaRPr lang="en-US" sz="14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957255" y="6327648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100">
                <a:solidFill>
                  <a:srgbClr val="5B6B70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10</a:t>
            </a:fld>
            <a:endParaRPr lang="en-US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body" hasCustomPrompt="1"/>
          </p:nvPr>
        </p:nvSpPr>
        <p:spPr>
          <a:xfrm>
            <a:off x="685800" y="566928"/>
            <a:ext cx="10820095" cy="292608"/>
          </a:xfrm>
          <a:prstGeom prst="rect">
            <a:avLst/>
          </a:prstGeom>
          <a:noFill/>
          <a:ln/>
        </p:spPr>
        <p:txBody>
          <a:bodyPr wrap="square" lIns="0" tIns="0" rIns="0" bIns="0" rtlCol="0"/>
          <a:lstStyle/>
          <a:p>
            <a:pPr indent="0" marL="0">
              <a:buNone/>
            </a:pPr>
            <a:r>
              <a:rPr lang="en-US" sz="1300" b="1" spc="200" kern="0" dirty="0">
                <a:solidFill>
                  <a:schemeClr val="accent1"/>
                </a:solidFill>
                <a:latin typeface="Source Sans 3" pitchFamily="34" charset="0"/>
                <a:ea typeface="Source Sans 3" pitchFamily="34" charset="-122"/>
                <a:cs typeface="Source Sans 3" pitchFamily="34" charset="-120"/>
              </a:rPr>
              <a:t>05 · HASIL PROTOTYPE</a:t>
            </a:r>
            <a:endParaRPr lang="en-US" sz="1300" dirty="0"/>
          </a:p>
        </p:txBody>
      </p:sp>
      <p:sp>
        <p:nvSpPr>
          <p:cNvPr id="3" name="Text 1"/>
          <p:cNvSpPr/>
          <p:nvPr>
            <p:ph idx="102" type="title" hasCustomPrompt="1"/>
          </p:nvPr>
        </p:nvSpPr>
        <p:spPr>
          <a:xfrm>
            <a:off x="685800" y="868680"/>
            <a:ext cx="10820095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4000" b="1" dirty="0">
                <a:solidFill>
                  <a:schemeClr val="tx1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Memeriksa yang tepat, lebih dulu</a:t>
            </a:r>
            <a:endParaRPr lang="en-US" sz="4000" dirty="0"/>
          </a:p>
        </p:txBody>
      </p:sp>
      <p:sp>
        <p:nvSpPr>
          <p:cNvPr id="4" name="kartu-163"/>
          <p:cNvSpPr/>
          <p:nvPr/>
        </p:nvSpPr>
        <p:spPr>
          <a:xfrm>
            <a:off x="685800" y="1828800"/>
            <a:ext cx="4572000" cy="4160520"/>
          </a:xfrm>
          <a:prstGeom prst="roundRect">
            <a:avLst>
              <a:gd name="adj" fmla="val 2637"/>
            </a:avLst>
          </a:prstGeom>
          <a:solidFill>
            <a:schemeClr val="bg1"/>
          </a:solidFill>
          <a:ln w="9525">
            <a:solidFill>
              <a:srgbClr val="DEDCD4"/>
            </a:solidFill>
            <a:prstDash val="solid"/>
          </a:ln>
        </p:spPr>
      </p:sp>
      <p:graphicFrame>
        <p:nvGraphicFramePr>
          <p:cNvPr id="5" name="grafik-precision" descr=""/>
          <p:cNvGraphicFramePr/>
          <p:nvPr/>
        </p:nvGraphicFramePr>
        <p:xfrm>
          <a:off x="822960" y="1920240"/>
          <a:ext cx="4297680" cy="393192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sp>
        <p:nvSpPr>
          <p:cNvPr id="6" name="kartu-164"/>
          <p:cNvSpPr/>
          <p:nvPr/>
        </p:nvSpPr>
        <p:spPr>
          <a:xfrm>
            <a:off x="5532120" y="1828800"/>
            <a:ext cx="3200400" cy="4160520"/>
          </a:xfrm>
          <a:prstGeom prst="roundRect">
            <a:avLst>
              <a:gd name="adj" fmla="val 3429"/>
            </a:avLst>
          </a:prstGeom>
          <a:solidFill>
            <a:schemeClr val="bg1"/>
          </a:solidFill>
          <a:ln w="9525">
            <a:solidFill>
              <a:srgbClr val="DEDCD4"/>
            </a:solidFill>
            <a:prstDash val="solid"/>
          </a:ln>
        </p:spPr>
      </p:sp>
      <p:graphicFrame>
        <p:nvGraphicFramePr>
          <p:cNvPr id="7" name="grafik-iuran" descr=""/>
          <p:cNvGraphicFramePr/>
          <p:nvPr/>
        </p:nvGraphicFramePr>
        <p:xfrm>
          <a:off x="5669280" y="1920240"/>
          <a:ext cx="2926080" cy="393192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2"/>
          </a:graphicData>
        </a:graphic>
      </p:graphicFrame>
      <p:sp>
        <p:nvSpPr>
          <p:cNvPr id="8" name="teks-165"/>
          <p:cNvSpPr txBox="1"/>
          <p:nvPr/>
        </p:nvSpPr>
        <p:spPr>
          <a:xfrm>
            <a:off x="9006840" y="1828800"/>
            <a:ext cx="2499055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600" b="1" dirty="0">
                <a:solidFill>
                  <a:schemeClr val="accent1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4,6×</a:t>
            </a:r>
            <a:endParaRPr lang="en-US" sz="3600" dirty="0"/>
          </a:p>
        </p:txBody>
      </p:sp>
      <p:sp>
        <p:nvSpPr>
          <p:cNvPr id="9" name="teks-166"/>
          <p:cNvSpPr txBox="1"/>
          <p:nvPr/>
        </p:nvSpPr>
        <p:spPr>
          <a:xfrm>
            <a:off x="9006840" y="2468880"/>
            <a:ext cx="2499055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chemeClr val="accent5"/>
                </a:solidFill>
              </a:rPr>
              <a:t>lebih tepat sasaran dibanding pemilihan acak</a:t>
            </a:r>
            <a:endParaRPr lang="en-US" sz="1400" dirty="0"/>
          </a:p>
        </p:txBody>
      </p:sp>
      <p:sp>
        <p:nvSpPr>
          <p:cNvPr id="10" name="teks-167"/>
          <p:cNvSpPr txBox="1"/>
          <p:nvPr/>
        </p:nvSpPr>
        <p:spPr>
          <a:xfrm>
            <a:off x="9006840" y="3200400"/>
            <a:ext cx="2499055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600" b="1" dirty="0">
                <a:solidFill>
                  <a:schemeClr val="accent1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14,6×</a:t>
            </a:r>
            <a:endParaRPr lang="en-US" sz="3600" dirty="0"/>
          </a:p>
        </p:txBody>
      </p:sp>
      <p:sp>
        <p:nvSpPr>
          <p:cNvPr id="11" name="teks-168"/>
          <p:cNvSpPr txBox="1"/>
          <p:nvPr/>
        </p:nvSpPr>
        <p:spPr>
          <a:xfrm>
            <a:off x="9006840" y="3840480"/>
            <a:ext cx="2499055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chemeClr val="accent5"/>
                </a:solidFill>
              </a:rPr>
              <a:t>iuran tertangkap per 100 pemeriksaan vs acak</a:t>
            </a:r>
            <a:endParaRPr lang="en-US" sz="1400" dirty="0"/>
          </a:p>
        </p:txBody>
      </p:sp>
      <p:sp>
        <p:nvSpPr>
          <p:cNvPr id="12" name="teks-169"/>
          <p:cNvSpPr txBox="1"/>
          <p:nvPr/>
        </p:nvSpPr>
        <p:spPr>
          <a:xfrm>
            <a:off x="9006840" y="4572000"/>
            <a:ext cx="2499055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600" b="1" dirty="0">
                <a:solidFill>
                  <a:schemeClr val="accent1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2,7%</a:t>
            </a:r>
            <a:endParaRPr lang="en-US" sz="3600" dirty="0"/>
          </a:p>
        </p:txBody>
      </p:sp>
      <p:sp>
        <p:nvSpPr>
          <p:cNvPr id="13" name="teks-170"/>
          <p:cNvSpPr txBox="1"/>
          <p:nvPr/>
        </p:nvSpPr>
        <p:spPr>
          <a:xfrm>
            <a:off x="9006840" y="5212080"/>
            <a:ext cx="2499055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chemeClr val="accent5"/>
                </a:solidFill>
              </a:rPr>
              <a:t>UMKM patuh salah ditandai (target ≤ 5%)</a:t>
            </a:r>
            <a:endParaRPr lang="en-US" sz="1400" dirty="0"/>
          </a:p>
        </p:txBody>
      </p:sp>
      <p:sp>
        <p:nvSpPr>
          <p:cNvPr id="14" name="teks-171"/>
          <p:cNvSpPr txBox="1"/>
          <p:nvPr/>
        </p:nvSpPr>
        <p:spPr>
          <a:xfrm>
            <a:off x="685800" y="6053328"/>
            <a:ext cx="10820095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chemeClr val="accent5"/>
                </a:solidFill>
              </a:rPr>
              <a:t>Data simulasi holdout (5.000 badan usaha, tidak pernah dilihat saat penyetelan). Mesin aturan + Isolation Forest menilai tanpa label.</a:t>
            </a:r>
            <a:endParaRPr lang="en-US" sz="1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957255" y="6327648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100">
                <a:solidFill>
                  <a:srgbClr val="5B6B70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11</a:t>
            </a:fld>
            <a:endParaRPr lang="en-US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body" hasCustomPrompt="1"/>
          </p:nvPr>
        </p:nvSpPr>
        <p:spPr>
          <a:xfrm>
            <a:off x="685800" y="566928"/>
            <a:ext cx="10820095" cy="292608"/>
          </a:xfrm>
          <a:prstGeom prst="rect">
            <a:avLst/>
          </a:prstGeom>
          <a:noFill/>
          <a:ln/>
        </p:spPr>
        <p:txBody>
          <a:bodyPr wrap="square" lIns="0" tIns="0" rIns="0" bIns="0" rtlCol="0"/>
          <a:lstStyle/>
          <a:p>
            <a:pPr indent="0" marL="0">
              <a:buNone/>
            </a:pPr>
            <a:r>
              <a:rPr lang="en-US" sz="1300" b="1" spc="200" kern="0" dirty="0">
                <a:solidFill>
                  <a:schemeClr val="accent1"/>
                </a:solidFill>
                <a:latin typeface="Source Sans 3" pitchFamily="34" charset="0"/>
                <a:ea typeface="Source Sans 3" pitchFamily="34" charset="-122"/>
                <a:cs typeface="Source Sans 3" pitchFamily="34" charset="-120"/>
              </a:rPr>
              <a:t>05 · ALUR KERJA PETUGAS</a:t>
            </a:r>
            <a:endParaRPr lang="en-US" sz="1300" dirty="0"/>
          </a:p>
        </p:txBody>
      </p:sp>
      <p:sp>
        <p:nvSpPr>
          <p:cNvPr id="3" name="Text 1"/>
          <p:cNvSpPr/>
          <p:nvPr>
            <p:ph idx="102" type="title" hasCustomPrompt="1"/>
          </p:nvPr>
        </p:nvSpPr>
        <p:spPr>
          <a:xfrm>
            <a:off x="685800" y="868680"/>
            <a:ext cx="10820095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4000" b="1" dirty="0">
                <a:solidFill>
                  <a:schemeClr val="tx1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PayRay di meja petugas pemeriksa</a:t>
            </a:r>
            <a:endParaRPr lang="en-US" sz="4000" dirty="0"/>
          </a:p>
        </p:txBody>
      </p:sp>
      <p:sp>
        <p:nvSpPr>
          <p:cNvPr id="4" name="kartu-172"/>
          <p:cNvSpPr/>
          <p:nvPr/>
        </p:nvSpPr>
        <p:spPr>
          <a:xfrm>
            <a:off x="630936" y="1728216"/>
            <a:ext cx="6876288" cy="4338828"/>
          </a:xfrm>
          <a:prstGeom prst="roundRect">
            <a:avLst>
              <a:gd name="adj" fmla="val 2529"/>
            </a:avLst>
          </a:prstGeom>
          <a:solidFill>
            <a:schemeClr val="bg1"/>
          </a:solidFill>
          <a:ln w="9525">
            <a:solidFill>
              <a:srgbClr val="DEDCD4"/>
            </a:solidFill>
            <a:prstDash val="solid"/>
          </a:ln>
        </p:spPr>
      </p:sp>
      <p:pic>
        <p:nvPicPr>
          <p:cNvPr id="5" name="tangkapan-dashboard" descr="Tangkapan layar dashboard PayRay: antrean pemeriksaan dan lembar hasil scan PT Cahaya Mandiri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85800" y="1783080"/>
            <a:ext cx="6766560" cy="4229100"/>
          </a:xfrm>
          <a:prstGeom prst="rect">
            <a:avLst/>
          </a:prstGeom>
        </p:spPr>
      </p:pic>
      <p:sp>
        <p:nvSpPr>
          <p:cNvPr id="6" name="teks-173"/>
          <p:cNvSpPr txBox="1"/>
          <p:nvPr/>
        </p:nvSpPr>
        <p:spPr>
          <a:xfrm>
            <a:off x="685800" y="6103620"/>
            <a:ext cx="67665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chemeClr val="accent5"/>
                </a:solidFill>
              </a:rPr>
              <a:t>Tangkapan layar asli prototype dashboard (data sintetis)</a:t>
            </a:r>
            <a:endParaRPr lang="en-US" sz="1200" dirty="0"/>
          </a:p>
        </p:txBody>
      </p:sp>
      <p:sp>
        <p:nvSpPr>
          <p:cNvPr id="7" name="lingkar-ikon-174"/>
          <p:cNvSpPr/>
          <p:nvPr/>
        </p:nvSpPr>
        <p:spPr>
          <a:xfrm>
            <a:off x="7818120" y="1801368"/>
            <a:ext cx="438912" cy="438912"/>
          </a:xfrm>
          <a:prstGeom prst="ellipse">
            <a:avLst/>
          </a:prstGeom>
          <a:solidFill>
            <a:schemeClr val="accent6"/>
          </a:solidFill>
          <a:ln/>
        </p:spPr>
      </p:sp>
      <p:pic>
        <p:nvPicPr>
          <p:cNvPr id="8" name="ikon-175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923459" y="1906707"/>
            <a:ext cx="228234" cy="228234"/>
          </a:xfrm>
          <a:prstGeom prst="rect">
            <a:avLst/>
          </a:prstGeom>
        </p:spPr>
      </p:pic>
      <p:sp>
        <p:nvSpPr>
          <p:cNvPr id="9" name="teks-176"/>
          <p:cNvSpPr txBox="1"/>
          <p:nvPr/>
        </p:nvSpPr>
        <p:spPr>
          <a:xfrm>
            <a:off x="8385048" y="1783080"/>
            <a:ext cx="3120847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chemeClr val="tx1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Scan berkala</a:t>
            </a:r>
            <a:endParaRPr lang="en-US" sz="1500" dirty="0"/>
          </a:p>
        </p:txBody>
      </p:sp>
      <p:sp>
        <p:nvSpPr>
          <p:cNvPr id="10" name="teks-177"/>
          <p:cNvSpPr txBox="1"/>
          <p:nvPr/>
        </p:nvSpPr>
        <p:spPr>
          <a:xfrm>
            <a:off x="8385048" y="2057400"/>
            <a:ext cx="3120847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chemeClr val="accent5"/>
                </a:solidFill>
              </a:rPr>
              <a:t>Semua badan usaha diskor tiap periode</a:t>
            </a:r>
            <a:endParaRPr lang="en-US" sz="1300" dirty="0"/>
          </a:p>
        </p:txBody>
      </p:sp>
      <p:sp>
        <p:nvSpPr>
          <p:cNvPr id="11" name="lingkar-ikon-178"/>
          <p:cNvSpPr/>
          <p:nvPr/>
        </p:nvSpPr>
        <p:spPr>
          <a:xfrm>
            <a:off x="7818120" y="2386584"/>
            <a:ext cx="438912" cy="438912"/>
          </a:xfrm>
          <a:prstGeom prst="ellipse">
            <a:avLst/>
          </a:prstGeom>
          <a:solidFill>
            <a:schemeClr val="accent6"/>
          </a:solidFill>
          <a:ln/>
        </p:spPr>
      </p:sp>
      <p:pic>
        <p:nvPicPr>
          <p:cNvPr id="12" name="ikon-179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923459" y="2491923"/>
            <a:ext cx="228234" cy="228234"/>
          </a:xfrm>
          <a:prstGeom prst="rect">
            <a:avLst/>
          </a:prstGeom>
        </p:spPr>
      </p:pic>
      <p:sp>
        <p:nvSpPr>
          <p:cNvPr id="13" name="teks-180"/>
          <p:cNvSpPr txBox="1"/>
          <p:nvPr/>
        </p:nvSpPr>
        <p:spPr>
          <a:xfrm>
            <a:off x="8385048" y="2368296"/>
            <a:ext cx="3120847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chemeClr val="tx1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Antrean prioritas</a:t>
            </a:r>
            <a:endParaRPr lang="en-US" sz="1500" dirty="0"/>
          </a:p>
        </p:txBody>
      </p:sp>
      <p:sp>
        <p:nvSpPr>
          <p:cNvPr id="14" name="teks-181"/>
          <p:cNvSpPr txBox="1"/>
          <p:nvPr/>
        </p:nvSpPr>
        <p:spPr>
          <a:xfrm>
            <a:off x="8385048" y="2642616"/>
            <a:ext cx="3120847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chemeClr val="accent5"/>
                </a:solidFill>
              </a:rPr>
              <a:t>Urut skor × keyakinan, dengan estimasi Rp</a:t>
            </a:r>
            <a:endParaRPr lang="en-US" sz="1300" dirty="0"/>
          </a:p>
        </p:txBody>
      </p:sp>
      <p:sp>
        <p:nvSpPr>
          <p:cNvPr id="15" name="lingkar-ikon-182"/>
          <p:cNvSpPr/>
          <p:nvPr/>
        </p:nvSpPr>
        <p:spPr>
          <a:xfrm>
            <a:off x="7818120" y="2971800"/>
            <a:ext cx="438912" cy="438912"/>
          </a:xfrm>
          <a:prstGeom prst="ellipse">
            <a:avLst/>
          </a:prstGeom>
          <a:solidFill>
            <a:schemeClr val="accent6"/>
          </a:solidFill>
          <a:ln/>
        </p:spPr>
      </p:sp>
      <p:pic>
        <p:nvPicPr>
          <p:cNvPr id="16" name="ikon-18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923459" y="3077139"/>
            <a:ext cx="228234" cy="228234"/>
          </a:xfrm>
          <a:prstGeom prst="rect">
            <a:avLst/>
          </a:prstGeom>
        </p:spPr>
      </p:pic>
      <p:sp>
        <p:nvSpPr>
          <p:cNvPr id="17" name="teks-184"/>
          <p:cNvSpPr txBox="1"/>
          <p:nvPr/>
        </p:nvSpPr>
        <p:spPr>
          <a:xfrm>
            <a:off x="8385048" y="2953512"/>
            <a:ext cx="3120847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chemeClr val="tx1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Lembar hasil scan</a:t>
            </a:r>
            <a:endParaRPr lang="en-US" sz="1500" dirty="0"/>
          </a:p>
        </p:txBody>
      </p:sp>
      <p:sp>
        <p:nvSpPr>
          <p:cNvPr id="18" name="teks-185"/>
          <p:cNvSpPr txBox="1"/>
          <p:nvPr/>
        </p:nvSpPr>
        <p:spPr>
          <a:xfrm>
            <a:off x="8385048" y="3227832"/>
            <a:ext cx="3120847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chemeClr val="accent5"/>
                </a:solidFill>
              </a:rPr>
              <a:t>Alasan &amp; bukti yang bisa diverifikasi</a:t>
            </a:r>
            <a:endParaRPr lang="en-US" sz="1300" dirty="0"/>
          </a:p>
        </p:txBody>
      </p:sp>
      <p:sp>
        <p:nvSpPr>
          <p:cNvPr id="19" name="lingkar-ikon-186"/>
          <p:cNvSpPr/>
          <p:nvPr/>
        </p:nvSpPr>
        <p:spPr>
          <a:xfrm>
            <a:off x="7818120" y="3557016"/>
            <a:ext cx="438912" cy="438912"/>
          </a:xfrm>
          <a:prstGeom prst="ellipse">
            <a:avLst/>
          </a:prstGeom>
          <a:solidFill>
            <a:schemeClr val="accent6"/>
          </a:solidFill>
          <a:ln/>
        </p:spPr>
      </p:sp>
      <p:pic>
        <p:nvPicPr>
          <p:cNvPr id="20" name="ikon-187" descr="preencoded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7923459" y="3662355"/>
            <a:ext cx="228234" cy="228234"/>
          </a:xfrm>
          <a:prstGeom prst="rect">
            <a:avLst/>
          </a:prstGeom>
        </p:spPr>
      </p:pic>
      <p:sp>
        <p:nvSpPr>
          <p:cNvPr id="21" name="teks-188"/>
          <p:cNvSpPr txBox="1"/>
          <p:nvPr/>
        </p:nvSpPr>
        <p:spPr>
          <a:xfrm>
            <a:off x="8385048" y="3538728"/>
            <a:ext cx="3120847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chemeClr val="tx1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Pemeriksaan</a:t>
            </a:r>
            <a:endParaRPr lang="en-US" sz="1500" dirty="0"/>
          </a:p>
        </p:txBody>
      </p:sp>
      <p:sp>
        <p:nvSpPr>
          <p:cNvPr id="22" name="teks-189"/>
          <p:cNvSpPr txBox="1"/>
          <p:nvPr/>
        </p:nvSpPr>
        <p:spPr>
          <a:xfrm>
            <a:off x="8385048" y="3813048"/>
            <a:ext cx="3120847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chemeClr val="accent5"/>
                </a:solidFill>
              </a:rPr>
              <a:t>Keputusan &amp; sanksi tetap di petugas</a:t>
            </a:r>
            <a:endParaRPr lang="en-US" sz="1300" dirty="0"/>
          </a:p>
        </p:txBody>
      </p:sp>
      <p:sp>
        <p:nvSpPr>
          <p:cNvPr id="23" name="lingkar-ikon-190"/>
          <p:cNvSpPr/>
          <p:nvPr/>
        </p:nvSpPr>
        <p:spPr>
          <a:xfrm>
            <a:off x="7818120" y="4142232"/>
            <a:ext cx="438912" cy="438912"/>
          </a:xfrm>
          <a:prstGeom prst="ellipse">
            <a:avLst/>
          </a:prstGeom>
          <a:solidFill>
            <a:schemeClr val="accent6"/>
          </a:solidFill>
          <a:ln/>
        </p:spPr>
      </p:sp>
      <p:pic>
        <p:nvPicPr>
          <p:cNvPr id="24" name="ikon-191" descr="preencoded.png">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7923459" y="4247571"/>
            <a:ext cx="228234" cy="228234"/>
          </a:xfrm>
          <a:prstGeom prst="rect">
            <a:avLst/>
          </a:prstGeom>
        </p:spPr>
      </p:pic>
      <p:sp>
        <p:nvSpPr>
          <p:cNvPr id="25" name="teks-192"/>
          <p:cNvSpPr txBox="1"/>
          <p:nvPr/>
        </p:nvSpPr>
        <p:spPr>
          <a:xfrm>
            <a:off x="8385048" y="4123944"/>
            <a:ext cx="3120847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chemeClr val="tx1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Hasil jadi label</a:t>
            </a:r>
            <a:endParaRPr lang="en-US" sz="1500" dirty="0"/>
          </a:p>
        </p:txBody>
      </p:sp>
      <p:sp>
        <p:nvSpPr>
          <p:cNvPr id="26" name="teks-193"/>
          <p:cNvSpPr txBox="1"/>
          <p:nvPr/>
        </p:nvSpPr>
        <p:spPr>
          <a:xfrm>
            <a:off x="8385048" y="4398264"/>
            <a:ext cx="3120847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chemeClr val="accent5"/>
                </a:solidFill>
              </a:rPr>
              <a:t>Urutan berikutnya makin tajam</a:t>
            </a:r>
            <a:endParaRPr lang="en-US" sz="1300" dirty="0"/>
          </a:p>
        </p:txBody>
      </p:sp>
      <p:sp>
        <p:nvSpPr>
          <p:cNvPr id="27" name="kartu-194"/>
          <p:cNvSpPr/>
          <p:nvPr/>
        </p:nvSpPr>
        <p:spPr>
          <a:xfrm>
            <a:off x="7818120" y="4846320"/>
            <a:ext cx="3687775" cy="1216152"/>
          </a:xfrm>
          <a:prstGeom prst="roundRect">
            <a:avLst>
              <a:gd name="adj" fmla="val 9023"/>
            </a:avLst>
          </a:prstGeom>
          <a:solidFill>
            <a:schemeClr val="accent6"/>
          </a:solidFill>
          <a:ln/>
        </p:spPr>
      </p:sp>
      <p:sp>
        <p:nvSpPr>
          <p:cNvPr id="28" name="teks-195"/>
          <p:cNvSpPr txBox="1"/>
          <p:nvPr/>
        </p:nvSpPr>
        <p:spPr>
          <a:xfrm>
            <a:off x="8046720" y="4956048"/>
            <a:ext cx="3322015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400" b="1" dirty="0">
                <a:solidFill>
                  <a:schemeClr val="accent1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21,8% → 26,8%</a:t>
            </a:r>
            <a:endParaRPr lang="en-US" sz="2400" dirty="0"/>
          </a:p>
        </p:txBody>
      </p:sp>
      <p:sp>
        <p:nvSpPr>
          <p:cNvPr id="29" name="teks-196"/>
          <p:cNvSpPr txBox="1"/>
          <p:nvPr/>
        </p:nvSpPr>
        <p:spPr>
          <a:xfrm>
            <a:off x="8046720" y="5413248"/>
            <a:ext cx="3276295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chemeClr val="tx1"/>
                </a:solidFill>
              </a:rPr>
              <a:t>precision putaran berikutnya setelah belajar dari 500 hasil pemeriksaan (simulasi)</a:t>
            </a:r>
            <a:endParaRPr lang="en-US" sz="13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957255" y="6327648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100">
                <a:solidFill>
                  <a:srgbClr val="5B6B70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12</a:t>
            </a:fld>
            <a:endParaRPr lang="en-US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body" hasCustomPrompt="1"/>
          </p:nvPr>
        </p:nvSpPr>
        <p:spPr>
          <a:xfrm>
            <a:off x="685800" y="566928"/>
            <a:ext cx="10820095" cy="292608"/>
          </a:xfrm>
          <a:prstGeom prst="rect">
            <a:avLst/>
          </a:prstGeom>
          <a:noFill/>
          <a:ln/>
        </p:spPr>
        <p:txBody>
          <a:bodyPr wrap="square" lIns="0" tIns="0" rIns="0" bIns="0" rtlCol="0"/>
          <a:lstStyle/>
          <a:p>
            <a:pPr indent="0" marL="0">
              <a:buNone/>
            </a:pPr>
            <a:r>
              <a:rPr lang="en-US" sz="1300" b="1" spc="200" kern="0" dirty="0">
                <a:solidFill>
                  <a:schemeClr val="accent1"/>
                </a:solidFill>
                <a:latin typeface="Source Sans 3" pitchFamily="34" charset="0"/>
                <a:ea typeface="Source Sans 3" pitchFamily="34" charset="-122"/>
                <a:cs typeface="Source Sans 3" pitchFamily="34" charset="-120"/>
              </a:rPr>
              <a:t>05 · TINGKAT KEMATANGAN</a:t>
            </a:r>
            <a:endParaRPr lang="en-US" sz="1300" dirty="0"/>
          </a:p>
        </p:txBody>
      </p:sp>
      <p:sp>
        <p:nvSpPr>
          <p:cNvPr id="3" name="Text 1"/>
          <p:cNvSpPr/>
          <p:nvPr>
            <p:ph idx="102" type="title" hasCustomPrompt="1"/>
          </p:nvPr>
        </p:nvSpPr>
        <p:spPr>
          <a:xfrm>
            <a:off x="685800" y="868680"/>
            <a:ext cx="10820095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4000" b="1" dirty="0">
                <a:solidFill>
                  <a:schemeClr val="tx1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Posisi kami, dan target saat submit</a:t>
            </a:r>
            <a:endParaRPr lang="en-US" sz="4000" dirty="0"/>
          </a:p>
        </p:txBody>
      </p:sp>
      <p:sp>
        <p:nvSpPr>
          <p:cNvPr id="4" name="kartu-197"/>
          <p:cNvSpPr/>
          <p:nvPr/>
        </p:nvSpPr>
        <p:spPr>
          <a:xfrm>
            <a:off x="685800" y="1828800"/>
            <a:ext cx="2017715" cy="1600200"/>
          </a:xfrm>
          <a:prstGeom prst="roundRect">
            <a:avLst>
              <a:gd name="adj" fmla="val 6857"/>
            </a:avLst>
          </a:prstGeom>
          <a:solidFill>
            <a:schemeClr val="bg1"/>
          </a:solidFill>
          <a:ln w="9525">
            <a:solidFill>
              <a:srgbClr val="DEDCD4"/>
            </a:solidFill>
            <a:prstDash val="solid"/>
          </a:ln>
        </p:spPr>
      </p:sp>
      <p:sp>
        <p:nvSpPr>
          <p:cNvPr id="5" name="status-tahap-198"/>
          <p:cNvSpPr/>
          <p:nvPr/>
        </p:nvSpPr>
        <p:spPr>
          <a:xfrm>
            <a:off x="868680" y="1993392"/>
            <a:ext cx="1651955" cy="310896"/>
          </a:xfrm>
          <a:prstGeom prst="roundRect">
            <a:avLst>
              <a:gd name="adj" fmla="val 50000"/>
            </a:avLst>
          </a:prstGeom>
          <a:solidFill>
            <a:schemeClr val="tx1"/>
          </a:solidFill>
          <a:ln/>
        </p:spPr>
      </p:sp>
      <p:sp>
        <p:nvSpPr>
          <p:cNvPr id="6" name="teks-199"/>
          <p:cNvSpPr txBox="1"/>
          <p:nvPr/>
        </p:nvSpPr>
        <p:spPr>
          <a:xfrm>
            <a:off x="868680" y="1993392"/>
            <a:ext cx="1651955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chemeClr val="bg1"/>
                </a:solidFill>
              </a:rPr>
              <a:t>Selesai</a:t>
            </a:r>
            <a:endParaRPr lang="en-US" sz="1300" dirty="0"/>
          </a:p>
        </p:txBody>
      </p:sp>
      <p:sp>
        <p:nvSpPr>
          <p:cNvPr id="7" name="teks-200"/>
          <p:cNvSpPr txBox="1"/>
          <p:nvPr/>
        </p:nvSpPr>
        <p:spPr>
          <a:xfrm>
            <a:off x="868680" y="2395728"/>
            <a:ext cx="1651955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900" b="1" dirty="0">
                <a:solidFill>
                  <a:schemeClr val="tx1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Ide</a:t>
            </a:r>
            <a:endParaRPr lang="en-US" sz="1900" dirty="0"/>
          </a:p>
        </p:txBody>
      </p:sp>
      <p:sp>
        <p:nvSpPr>
          <p:cNvPr id="8" name="teks-201"/>
          <p:cNvSpPr txBox="1"/>
          <p:nvPr/>
        </p:nvSpPr>
        <p:spPr>
          <a:xfrm>
            <a:off x="868680" y="2788920"/>
            <a:ext cx="1651955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chemeClr val="accent5"/>
                </a:solidFill>
              </a:rPr>
              <a:t>Konsep &amp; desain solusi</a:t>
            </a:r>
            <a:endParaRPr lang="en-US" sz="1400" dirty="0"/>
          </a:p>
        </p:txBody>
      </p:sp>
      <p:sp>
        <p:nvSpPr>
          <p:cNvPr id="9" name="kartu-202"/>
          <p:cNvSpPr/>
          <p:nvPr/>
        </p:nvSpPr>
        <p:spPr>
          <a:xfrm>
            <a:off x="2886395" y="1828800"/>
            <a:ext cx="2017715" cy="1600200"/>
          </a:xfrm>
          <a:prstGeom prst="roundRect">
            <a:avLst>
              <a:gd name="adj" fmla="val 6857"/>
            </a:avLst>
          </a:prstGeom>
          <a:solidFill>
            <a:schemeClr val="bg1"/>
          </a:solidFill>
          <a:ln w="9525">
            <a:solidFill>
              <a:srgbClr val="DEDCD4"/>
            </a:solidFill>
            <a:prstDash val="solid"/>
          </a:ln>
        </p:spPr>
      </p:sp>
      <p:sp>
        <p:nvSpPr>
          <p:cNvPr id="10" name="status-tahap-203"/>
          <p:cNvSpPr/>
          <p:nvPr/>
        </p:nvSpPr>
        <p:spPr>
          <a:xfrm>
            <a:off x="3069275" y="1993392"/>
            <a:ext cx="1651955" cy="310896"/>
          </a:xfrm>
          <a:prstGeom prst="roundRect">
            <a:avLst>
              <a:gd name="adj" fmla="val 50000"/>
            </a:avLst>
          </a:prstGeom>
          <a:solidFill>
            <a:schemeClr val="tx1"/>
          </a:solidFill>
          <a:ln/>
        </p:spPr>
      </p:sp>
      <p:sp>
        <p:nvSpPr>
          <p:cNvPr id="11" name="teks-204"/>
          <p:cNvSpPr txBox="1"/>
          <p:nvPr/>
        </p:nvSpPr>
        <p:spPr>
          <a:xfrm>
            <a:off x="3069275" y="1993392"/>
            <a:ext cx="1651955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chemeClr val="bg1"/>
                </a:solidFill>
              </a:rPr>
              <a:t>Selesai</a:t>
            </a:r>
            <a:endParaRPr lang="en-US" sz="1300" dirty="0"/>
          </a:p>
        </p:txBody>
      </p:sp>
      <p:sp>
        <p:nvSpPr>
          <p:cNvPr id="12" name="teks-205"/>
          <p:cNvSpPr txBox="1"/>
          <p:nvPr/>
        </p:nvSpPr>
        <p:spPr>
          <a:xfrm>
            <a:off x="3069275" y="2395728"/>
            <a:ext cx="1651955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900" b="1" dirty="0">
                <a:solidFill>
                  <a:schemeClr val="tx1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Mockup</a:t>
            </a:r>
            <a:endParaRPr lang="en-US" sz="1900" dirty="0"/>
          </a:p>
        </p:txBody>
      </p:sp>
      <p:sp>
        <p:nvSpPr>
          <p:cNvPr id="13" name="teks-206"/>
          <p:cNvSpPr txBox="1"/>
          <p:nvPr/>
        </p:nvSpPr>
        <p:spPr>
          <a:xfrm>
            <a:off x="3069275" y="2788920"/>
            <a:ext cx="1651955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chemeClr val="accent5"/>
                </a:solidFill>
              </a:rPr>
              <a:t>Rancangan layar</a:t>
            </a:r>
            <a:endParaRPr lang="en-US" sz="1400" dirty="0"/>
          </a:p>
        </p:txBody>
      </p:sp>
      <p:sp>
        <p:nvSpPr>
          <p:cNvPr id="14" name="kartu-207"/>
          <p:cNvSpPr/>
          <p:nvPr/>
        </p:nvSpPr>
        <p:spPr>
          <a:xfrm>
            <a:off x="5086990" y="1828800"/>
            <a:ext cx="2017715" cy="1600200"/>
          </a:xfrm>
          <a:prstGeom prst="roundRect">
            <a:avLst>
              <a:gd name="adj" fmla="val 6857"/>
            </a:avLst>
          </a:prstGeom>
          <a:solidFill>
            <a:schemeClr val="accent6"/>
          </a:solidFill>
          <a:ln w="9525">
            <a:solidFill>
              <a:srgbClr val="1B7F57"/>
            </a:solidFill>
            <a:prstDash val="solid"/>
          </a:ln>
        </p:spPr>
      </p:sp>
      <p:sp>
        <p:nvSpPr>
          <p:cNvPr id="15" name="status-tahap-208"/>
          <p:cNvSpPr/>
          <p:nvPr/>
        </p:nvSpPr>
        <p:spPr>
          <a:xfrm>
            <a:off x="5269870" y="1993392"/>
            <a:ext cx="1651955" cy="310896"/>
          </a:xfrm>
          <a:prstGeom prst="roundRect">
            <a:avLst>
              <a:gd name="adj" fmla="val 50000"/>
            </a:avLst>
          </a:prstGeom>
          <a:solidFill>
            <a:schemeClr val="accent1"/>
          </a:solidFill>
          <a:ln/>
        </p:spPr>
      </p:sp>
      <p:sp>
        <p:nvSpPr>
          <p:cNvPr id="16" name="teks-209"/>
          <p:cNvSpPr txBox="1"/>
          <p:nvPr/>
        </p:nvSpPr>
        <p:spPr>
          <a:xfrm>
            <a:off x="5269870" y="1993392"/>
            <a:ext cx="1651955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chemeClr val="bg1"/>
                </a:solidFill>
              </a:rPr>
              <a:t>Target submit</a:t>
            </a:r>
            <a:endParaRPr lang="en-US" sz="1300" dirty="0"/>
          </a:p>
        </p:txBody>
      </p:sp>
      <p:sp>
        <p:nvSpPr>
          <p:cNvPr id="17" name="teks-210"/>
          <p:cNvSpPr txBox="1"/>
          <p:nvPr/>
        </p:nvSpPr>
        <p:spPr>
          <a:xfrm>
            <a:off x="5269870" y="2395728"/>
            <a:ext cx="1651955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900" b="1" dirty="0">
                <a:solidFill>
                  <a:schemeClr val="accent1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Prototype</a:t>
            </a:r>
            <a:endParaRPr lang="en-US" sz="1900" dirty="0"/>
          </a:p>
        </p:txBody>
      </p:sp>
      <p:sp>
        <p:nvSpPr>
          <p:cNvPr id="18" name="teks-211"/>
          <p:cNvSpPr txBox="1"/>
          <p:nvPr/>
        </p:nvSpPr>
        <p:spPr>
          <a:xfrm>
            <a:off x="5269870" y="2788920"/>
            <a:ext cx="1651955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chemeClr val="accent5"/>
                </a:solidFill>
              </a:rPr>
              <a:t>Fitur inti berjalan, bisa didemokan</a:t>
            </a:r>
            <a:endParaRPr lang="en-US" sz="1400" dirty="0"/>
          </a:p>
        </p:txBody>
      </p:sp>
      <p:sp>
        <p:nvSpPr>
          <p:cNvPr id="19" name="kartu-212"/>
          <p:cNvSpPr/>
          <p:nvPr/>
        </p:nvSpPr>
        <p:spPr>
          <a:xfrm>
            <a:off x="7287585" y="1828800"/>
            <a:ext cx="2017715" cy="1600200"/>
          </a:xfrm>
          <a:prstGeom prst="roundRect">
            <a:avLst>
              <a:gd name="adj" fmla="val 6857"/>
            </a:avLst>
          </a:prstGeom>
          <a:solidFill>
            <a:schemeClr val="bg1"/>
          </a:solidFill>
          <a:ln w="9525">
            <a:solidFill>
              <a:srgbClr val="DEDCD4"/>
            </a:solidFill>
            <a:prstDash val="solid"/>
          </a:ln>
        </p:spPr>
      </p:sp>
      <p:sp>
        <p:nvSpPr>
          <p:cNvPr id="20" name="teks-213"/>
          <p:cNvSpPr txBox="1"/>
          <p:nvPr/>
        </p:nvSpPr>
        <p:spPr>
          <a:xfrm>
            <a:off x="7470465" y="2395728"/>
            <a:ext cx="1651955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900" b="1" dirty="0">
                <a:solidFill>
                  <a:schemeClr val="accent5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MVP</a:t>
            </a:r>
            <a:endParaRPr lang="en-US" sz="1900" dirty="0"/>
          </a:p>
        </p:txBody>
      </p:sp>
      <p:sp>
        <p:nvSpPr>
          <p:cNvPr id="21" name="teks-214"/>
          <p:cNvSpPr txBox="1"/>
          <p:nvPr/>
        </p:nvSpPr>
        <p:spPr>
          <a:xfrm>
            <a:off x="7470465" y="2788920"/>
            <a:ext cx="1651955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chemeClr val="accent5"/>
                </a:solidFill>
              </a:rPr>
              <a:t>Dipakai pengguna nyata</a:t>
            </a:r>
            <a:endParaRPr lang="en-US" sz="1400" dirty="0"/>
          </a:p>
        </p:txBody>
      </p:sp>
      <p:sp>
        <p:nvSpPr>
          <p:cNvPr id="22" name="kartu-215"/>
          <p:cNvSpPr/>
          <p:nvPr/>
        </p:nvSpPr>
        <p:spPr>
          <a:xfrm>
            <a:off x="9488180" y="1828800"/>
            <a:ext cx="2017715" cy="1600200"/>
          </a:xfrm>
          <a:prstGeom prst="roundRect">
            <a:avLst>
              <a:gd name="adj" fmla="val 6857"/>
            </a:avLst>
          </a:prstGeom>
          <a:solidFill>
            <a:schemeClr val="bg1"/>
          </a:solidFill>
          <a:ln w="9525">
            <a:solidFill>
              <a:srgbClr val="DEDCD4"/>
            </a:solidFill>
            <a:prstDash val="solid"/>
          </a:ln>
        </p:spPr>
      </p:sp>
      <p:sp>
        <p:nvSpPr>
          <p:cNvPr id="23" name="teks-216"/>
          <p:cNvSpPr txBox="1"/>
          <p:nvPr/>
        </p:nvSpPr>
        <p:spPr>
          <a:xfrm>
            <a:off x="9671060" y="2395728"/>
            <a:ext cx="1651955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900" b="1" dirty="0">
                <a:solidFill>
                  <a:schemeClr val="accent5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Produk</a:t>
            </a:r>
            <a:endParaRPr lang="en-US" sz="1900" dirty="0"/>
          </a:p>
        </p:txBody>
      </p:sp>
      <p:sp>
        <p:nvSpPr>
          <p:cNvPr id="24" name="teks-217"/>
          <p:cNvSpPr txBox="1"/>
          <p:nvPr/>
        </p:nvSpPr>
        <p:spPr>
          <a:xfrm>
            <a:off x="9671060" y="2788920"/>
            <a:ext cx="1651955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chemeClr val="accent5"/>
                </a:solidFill>
              </a:rPr>
              <a:t>Teruji &amp; siap skala</a:t>
            </a:r>
            <a:endParaRPr lang="en-US" sz="1400" dirty="0"/>
          </a:p>
        </p:txBody>
      </p:sp>
      <p:sp>
        <p:nvSpPr>
          <p:cNvPr id="25" name="teks-218"/>
          <p:cNvSpPr txBox="1"/>
          <p:nvPr/>
        </p:nvSpPr>
        <p:spPr>
          <a:xfrm>
            <a:off x="685800" y="3749040"/>
            <a:ext cx="5029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900" b="1" dirty="0">
                <a:solidFill>
                  <a:schemeClr val="tx1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Sudah berjalan</a:t>
            </a:r>
            <a:endParaRPr lang="en-US" sz="1900" dirty="0"/>
          </a:p>
        </p:txBody>
      </p:sp>
      <p:pic>
        <p:nvPicPr>
          <p:cNvPr id="26" name="status-item-219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85800" y="4224528"/>
            <a:ext cx="246888" cy="246888"/>
          </a:xfrm>
          <a:prstGeom prst="rect">
            <a:avLst/>
          </a:prstGeom>
        </p:spPr>
      </p:pic>
      <p:sp>
        <p:nvSpPr>
          <p:cNvPr id="27" name="teks-220"/>
          <p:cNvSpPr txBox="1"/>
          <p:nvPr/>
        </p:nvSpPr>
        <p:spPr>
          <a:xfrm>
            <a:off x="1069848" y="4187952"/>
            <a:ext cx="51206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chemeClr val="tx1"/>
                </a:solidFill>
              </a:rPr>
              <a:t>Generator data sintetis tervalidasi</a:t>
            </a:r>
            <a:endParaRPr lang="en-US" sz="1500" dirty="0"/>
          </a:p>
        </p:txBody>
      </p:sp>
      <p:pic>
        <p:nvPicPr>
          <p:cNvPr id="28" name="status-item-22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85800" y="4654296"/>
            <a:ext cx="246888" cy="246888"/>
          </a:xfrm>
          <a:prstGeom prst="rect">
            <a:avLst/>
          </a:prstGeom>
        </p:spPr>
      </p:pic>
      <p:sp>
        <p:nvSpPr>
          <p:cNvPr id="29" name="teks-222"/>
          <p:cNvSpPr txBox="1"/>
          <p:nvPr/>
        </p:nvSpPr>
        <p:spPr>
          <a:xfrm>
            <a:off x="1069848" y="4617720"/>
            <a:ext cx="51206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chemeClr val="tx1"/>
                </a:solidFill>
              </a:rPr>
              <a:t>Tiga modul scan + skor gabungan + reason code</a:t>
            </a:r>
            <a:endParaRPr lang="en-US" sz="1500" dirty="0"/>
          </a:p>
        </p:txBody>
      </p:sp>
      <p:pic>
        <p:nvPicPr>
          <p:cNvPr id="30" name="status-item-223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85800" y="5084064"/>
            <a:ext cx="246888" cy="246888"/>
          </a:xfrm>
          <a:prstGeom prst="rect">
            <a:avLst/>
          </a:prstGeom>
        </p:spPr>
      </p:pic>
      <p:sp>
        <p:nvSpPr>
          <p:cNvPr id="31" name="teks-224"/>
          <p:cNvSpPr txBox="1"/>
          <p:nvPr/>
        </p:nvSpPr>
        <p:spPr>
          <a:xfrm>
            <a:off x="1069848" y="5047488"/>
            <a:ext cx="51206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chemeClr val="tx1"/>
                </a:solidFill>
              </a:rPr>
              <a:t>Kalkulator estimasi, laporan akurasi &amp; uji bias</a:t>
            </a:r>
            <a:endParaRPr lang="en-US" sz="1500" dirty="0"/>
          </a:p>
        </p:txBody>
      </p:sp>
      <p:pic>
        <p:nvPicPr>
          <p:cNvPr id="32" name="status-item-225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85800" y="5513832"/>
            <a:ext cx="246888" cy="246888"/>
          </a:xfrm>
          <a:prstGeom prst="rect">
            <a:avLst/>
          </a:prstGeom>
        </p:spPr>
      </p:pic>
      <p:sp>
        <p:nvSpPr>
          <p:cNvPr id="33" name="teks-226"/>
          <p:cNvSpPr txBox="1"/>
          <p:nvPr/>
        </p:nvSpPr>
        <p:spPr>
          <a:xfrm>
            <a:off x="1069848" y="5477256"/>
            <a:ext cx="51206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chemeClr val="tx1"/>
                </a:solidFill>
              </a:rPr>
              <a:t>Dashboard &amp; lembar scan interaktif (HTML)</a:t>
            </a:r>
            <a:endParaRPr lang="en-US" sz="1500" dirty="0"/>
          </a:p>
        </p:txBody>
      </p:sp>
      <p:sp>
        <p:nvSpPr>
          <p:cNvPr id="34" name="teks-227"/>
          <p:cNvSpPr txBox="1"/>
          <p:nvPr/>
        </p:nvSpPr>
        <p:spPr>
          <a:xfrm>
            <a:off x="6720840" y="3749040"/>
            <a:ext cx="45720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900" b="1" dirty="0">
                <a:solidFill>
                  <a:schemeClr val="tx1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Bukti yang dilampirkan</a:t>
            </a:r>
            <a:endParaRPr lang="en-US" sz="1900" dirty="0"/>
          </a:p>
        </p:txBody>
      </p:sp>
      <p:sp>
        <p:nvSpPr>
          <p:cNvPr id="35" name="teks-228"/>
          <p:cNvSpPr txBox="1"/>
          <p:nvPr/>
        </p:nvSpPr>
        <p:spPr>
          <a:xfrm>
            <a:off x="6720840" y="4187952"/>
            <a:ext cx="457200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203200" indent="-203200">
              <a:spcAft>
                <a:spcPts val="500"/>
              </a:spcAft>
              <a:buSzPct val="100000"/>
              <a:buChar char="•"/>
            </a:pPr>
            <a:r>
              <a:rPr lang="en-US" sz="1500" dirty="0">
                <a:solidFill>
                  <a:schemeClr val="tx1"/>
                </a:solidFill>
              </a:rPr>
              <a:t>Link demo: [__]</a:t>
            </a:r>
            <a:endParaRPr lang="en-US" sz="1500" dirty="0"/>
          </a:p>
          <a:p>
            <a:pPr marL="203200" indent="-203200">
              <a:spcAft>
                <a:spcPts val="500"/>
              </a:spcAft>
              <a:buSzPct val="100000"/>
              <a:buChar char="•"/>
            </a:pPr>
            <a:r>
              <a:rPr lang="en-US" sz="1500" dirty="0">
                <a:solidFill>
                  <a:schemeClr val="tx1"/>
                </a:solidFill>
              </a:rPr>
              <a:t>Video demo: [__]</a:t>
            </a:r>
            <a:endParaRPr lang="en-US" sz="1500" dirty="0"/>
          </a:p>
          <a:p>
            <a:pPr marL="203200" indent="-203200">
              <a:spcAft>
                <a:spcPts val="500"/>
              </a:spcAft>
              <a:buSzPct val="100000"/>
              <a:buChar char="•"/>
            </a:pPr>
            <a:r>
              <a:rPr lang="en-US" sz="1500" dirty="0">
                <a:solidFill>
                  <a:schemeClr val="tx1"/>
                </a:solidFill>
              </a:rPr>
              <a:t>Repositori: [__]</a:t>
            </a:r>
            <a:endParaRPr lang="en-US" sz="1500" dirty="0"/>
          </a:p>
          <a:p>
            <a:pPr marL="203200" indent="-203200">
              <a:spcAft>
                <a:spcPts val="500"/>
              </a:spcAft>
              <a:buSzPct val="100000"/>
              <a:buChar char="•"/>
            </a:pPr>
            <a:r>
              <a:rPr lang="en-US" sz="1500" dirty="0">
                <a:solidFill>
                  <a:schemeClr val="tx1"/>
                </a:solidFill>
              </a:rPr>
              <a:t>Status uji: internal, data sintetis</a:t>
            </a:r>
            <a:endParaRPr lang="en-US" sz="15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957255" y="6327648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100">
                <a:solidFill>
                  <a:srgbClr val="5B6B70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13</a:t>
            </a:fld>
            <a:endParaRPr lang="en-US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body" hasCustomPrompt="1"/>
          </p:nvPr>
        </p:nvSpPr>
        <p:spPr>
          <a:xfrm>
            <a:off x="685800" y="566928"/>
            <a:ext cx="10820095" cy="292608"/>
          </a:xfrm>
          <a:prstGeom prst="rect">
            <a:avLst/>
          </a:prstGeom>
          <a:noFill/>
          <a:ln/>
        </p:spPr>
        <p:txBody>
          <a:bodyPr wrap="square" lIns="0" tIns="0" rIns="0" bIns="0" rtlCol="0"/>
          <a:lstStyle/>
          <a:p>
            <a:pPr indent="0" marL="0">
              <a:buNone/>
            </a:pPr>
            <a:r>
              <a:rPr lang="en-US" sz="1300" b="1" spc="200" kern="0" dirty="0">
                <a:solidFill>
                  <a:schemeClr val="accent1"/>
                </a:solidFill>
                <a:latin typeface="Source Sans 3" pitchFamily="34" charset="0"/>
                <a:ea typeface="Source Sans 3" pitchFamily="34" charset="-122"/>
                <a:cs typeface="Source Sans 3" pitchFamily="34" charset="-120"/>
              </a:rPr>
              <a:t>06 · RENCANA &amp; KELAYAKAN</a:t>
            </a:r>
            <a:endParaRPr lang="en-US" sz="1300" dirty="0"/>
          </a:p>
        </p:txBody>
      </p:sp>
      <p:sp>
        <p:nvSpPr>
          <p:cNvPr id="3" name="Text 1"/>
          <p:cNvSpPr/>
          <p:nvPr>
            <p:ph idx="102" type="title" hasCustomPrompt="1"/>
          </p:nvPr>
        </p:nvSpPr>
        <p:spPr>
          <a:xfrm>
            <a:off x="685800" y="868680"/>
            <a:ext cx="10820095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4000" b="1" dirty="0">
                <a:solidFill>
                  <a:schemeClr val="tx1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Delapan minggu menuju prototype</a:t>
            </a:r>
            <a:endParaRPr lang="en-US" sz="4000" dirty="0"/>
          </a:p>
        </p:txBody>
      </p:sp>
      <p:graphicFrame>
        <p:nvGraphicFramePr>
          <p:cNvPr id="15" name="tabel-rencana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685800" y="1828800"/>
          <a:ext cx="10820095" cy="914400"/>
        </p:xfrm>
        <a:graphic>
          <a:graphicData uri="http://schemas.openxmlformats.org/drawingml/2006/table">
            <a:tbl>
              <a:tblPr/>
              <a:tblGrid>
                <a:gridCol w="1097280"/>
                <a:gridCol w="2011680"/>
                <a:gridCol w="5120640"/>
                <a:gridCol w="2590495"/>
              </a:tblGrid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b="1" dirty="0">
                          <a:solidFill>
                            <a:schemeClr val="tx1"/>
                          </a:solidFill>
                          <a:latin typeface="Source Sans 3" pitchFamily="34" charset="0"/>
                          <a:ea typeface="Source Sans 3" pitchFamily="34" charset="-122"/>
                          <a:cs typeface="Source Sans 3" pitchFamily="34" charset="-120"/>
                        </a:rPr>
                        <a:t>Minggu</a:t>
                      </a:r>
                      <a:endParaRPr lang="en-US" sz="1500" dirty="0">
                        <a:latin typeface="Source Sans 3" charset="0"/>
                        <a:ea typeface="Source Sans 3" charset="0"/>
                        <a:cs typeface="Source Sans 3" charset="0"/>
                      </a:endParaRPr>
                    </a:p>
                  </a:txBody>
                  <a:tcPr marL="109728" marR="109728" marT="0" marB="0" anchor="ctr">
                    <a:lnL w="9525" cap="flat" cmpd="sng" algn="ctr">
                      <a:solidFill>
                        <a:srgbClr val="DEDC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EDC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EDC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EDC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6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b="1" dirty="0">
                          <a:solidFill>
                            <a:schemeClr val="tx1"/>
                          </a:solidFill>
                          <a:latin typeface="Source Sans 3" pitchFamily="34" charset="0"/>
                          <a:ea typeface="Source Sans 3" pitchFamily="34" charset="-122"/>
                          <a:cs typeface="Source Sans 3" pitchFamily="34" charset="-120"/>
                        </a:rPr>
                        <a:t>Fokus</a:t>
                      </a:r>
                      <a:endParaRPr lang="en-US" sz="1500" dirty="0">
                        <a:latin typeface="Source Sans 3" charset="0"/>
                        <a:ea typeface="Source Sans 3" charset="0"/>
                        <a:cs typeface="Source Sans 3" charset="0"/>
                      </a:endParaRPr>
                    </a:p>
                  </a:txBody>
                  <a:tcPr marL="109728" marR="109728" marT="0" marB="0" anchor="ctr">
                    <a:lnL w="9525" cap="flat" cmpd="sng" algn="ctr">
                      <a:solidFill>
                        <a:srgbClr val="DEDC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EDC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EDC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EDC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6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b="1" dirty="0">
                          <a:solidFill>
                            <a:schemeClr val="tx1"/>
                          </a:solidFill>
                          <a:latin typeface="Source Sans 3" pitchFamily="34" charset="0"/>
                          <a:ea typeface="Source Sans 3" pitchFamily="34" charset="-122"/>
                          <a:cs typeface="Source Sans 3" pitchFamily="34" charset="-120"/>
                        </a:rPr>
                        <a:t>Deliverable</a:t>
                      </a:r>
                      <a:endParaRPr lang="en-US" sz="1500" dirty="0">
                        <a:latin typeface="Source Sans 3" charset="0"/>
                        <a:ea typeface="Source Sans 3" charset="0"/>
                        <a:cs typeface="Source Sans 3" charset="0"/>
                      </a:endParaRPr>
                    </a:p>
                  </a:txBody>
                  <a:tcPr marL="109728" marR="109728" marT="0" marB="0" anchor="ctr">
                    <a:lnL w="9525" cap="flat" cmpd="sng" algn="ctr">
                      <a:solidFill>
                        <a:srgbClr val="DEDC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EDC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EDC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EDC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6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b="1" dirty="0">
                          <a:solidFill>
                            <a:schemeClr val="tx1"/>
                          </a:solidFill>
                          <a:latin typeface="Source Sans 3" pitchFamily="34" charset="0"/>
                          <a:ea typeface="Source Sans 3" pitchFamily="34" charset="-122"/>
                          <a:cs typeface="Source Sans 3" pitchFamily="34" charset="-120"/>
                        </a:rPr>
                        <a:t>Status</a:t>
                      </a:r>
                      <a:endParaRPr lang="en-US" sz="1500" dirty="0">
                        <a:latin typeface="Source Sans 3" charset="0"/>
                        <a:ea typeface="Source Sans 3" charset="0"/>
                        <a:cs typeface="Source Sans 3" charset="0"/>
                      </a:endParaRPr>
                    </a:p>
                  </a:txBody>
                  <a:tcPr marL="109728" marR="109728" marT="0" marB="0" anchor="ctr">
                    <a:lnL w="9525" cap="flat" cmpd="sng" algn="ctr">
                      <a:solidFill>
                        <a:srgbClr val="DEDC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EDC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EDC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EDC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6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chemeClr val="tx1"/>
                          </a:solidFill>
                          <a:latin typeface="Source Sans 3" pitchFamily="34" charset="0"/>
                          <a:ea typeface="Source Sans 3" pitchFamily="34" charset="-122"/>
                          <a:cs typeface="Source Sans 3" pitchFamily="34" charset="-120"/>
                        </a:rPr>
                        <a:t>1–2</a:t>
                      </a:r>
                      <a:endParaRPr lang="en-US" sz="1500" dirty="0">
                        <a:latin typeface="Source Sans 3" charset="0"/>
                        <a:ea typeface="Source Sans 3" charset="0"/>
                        <a:cs typeface="Source Sans 3" charset="0"/>
                      </a:endParaRPr>
                    </a:p>
                  </a:txBody>
                  <a:tcPr marL="109728" marR="109728" marT="0" marB="0" anchor="ctr">
                    <a:lnL w="9525" cap="flat" cmpd="sng" algn="ctr">
                      <a:solidFill>
                        <a:srgbClr val="DEDC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EDC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EDC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EDC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chemeClr val="tx1"/>
                          </a:solidFill>
                          <a:latin typeface="Source Sans 3" pitchFamily="34" charset="0"/>
                          <a:ea typeface="Source Sans 3" pitchFamily="34" charset="-122"/>
                          <a:cs typeface="Source Sans 3" pitchFamily="34" charset="-120"/>
                        </a:rPr>
                        <a:t>Fondasi data</a:t>
                      </a:r>
                      <a:endParaRPr lang="en-US" sz="1500" dirty="0">
                        <a:latin typeface="Source Sans 3" charset="0"/>
                        <a:ea typeface="Source Sans 3" charset="0"/>
                        <a:cs typeface="Source Sans 3" charset="0"/>
                      </a:endParaRPr>
                    </a:p>
                  </a:txBody>
                  <a:tcPr marL="109728" marR="109728" marT="0" marB="0" anchor="ctr">
                    <a:lnL w="9525" cap="flat" cmpd="sng" algn="ctr">
                      <a:solidFill>
                        <a:srgbClr val="DEDC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EDC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EDC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EDC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chemeClr val="tx1"/>
                          </a:solidFill>
                          <a:latin typeface="Source Sans 3" pitchFamily="34" charset="0"/>
                          <a:ea typeface="Source Sans 3" pitchFamily="34" charset="-122"/>
                          <a:cs typeface="Source Sans 3" pitchFamily="34" charset="-120"/>
                        </a:rPr>
                        <a:t>Generator data sintetis + data benchmark publik terkumpul</a:t>
                      </a:r>
                      <a:endParaRPr lang="en-US" sz="1500" dirty="0">
                        <a:latin typeface="Source Sans 3" charset="0"/>
                        <a:ea typeface="Source Sans 3" charset="0"/>
                        <a:cs typeface="Source Sans 3" charset="0"/>
                      </a:endParaRPr>
                    </a:p>
                  </a:txBody>
                  <a:tcPr marL="109728" marR="109728" marT="0" marB="0" anchor="ctr">
                    <a:lnL w="9525" cap="flat" cmpd="sng" algn="ctr">
                      <a:solidFill>
                        <a:srgbClr val="DEDC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EDC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EDC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EDC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b="1" dirty="0">
                          <a:solidFill>
                            <a:schemeClr val="accent1"/>
                          </a:solidFill>
                          <a:latin typeface="Source Sans 3" pitchFamily="34" charset="0"/>
                          <a:ea typeface="Source Sans 3" pitchFamily="34" charset="-122"/>
                          <a:cs typeface="Source Sans 3" pitchFamily="34" charset="-120"/>
                        </a:rPr>
                        <a:t>Selesai</a:t>
                      </a:r>
                      <a:endParaRPr lang="en-US" sz="1500" dirty="0">
                        <a:latin typeface="Source Sans 3" charset="0"/>
                        <a:ea typeface="Source Sans 3" charset="0"/>
                        <a:cs typeface="Source Sans 3" charset="0"/>
                      </a:endParaRPr>
                    </a:p>
                  </a:txBody>
                  <a:tcPr marL="109728" marR="109728" marT="0" marB="0" anchor="ctr">
                    <a:lnL w="9525" cap="flat" cmpd="sng" algn="ctr">
                      <a:solidFill>
                        <a:srgbClr val="DEDC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EDC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EDC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EDC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chemeClr val="tx1"/>
                          </a:solidFill>
                          <a:latin typeface="Source Sans 3" pitchFamily="34" charset="0"/>
                          <a:ea typeface="Source Sans 3" pitchFamily="34" charset="-122"/>
                          <a:cs typeface="Source Sans 3" pitchFamily="34" charset="-120"/>
                        </a:rPr>
                        <a:t>3–4</a:t>
                      </a:r>
                      <a:endParaRPr lang="en-US" sz="1500" dirty="0">
                        <a:latin typeface="Source Sans 3" charset="0"/>
                        <a:ea typeface="Source Sans 3" charset="0"/>
                        <a:cs typeface="Source Sans 3" charset="0"/>
                      </a:endParaRPr>
                    </a:p>
                  </a:txBody>
                  <a:tcPr marL="109728" marR="109728" marT="0" marB="0" anchor="ctr">
                    <a:lnL w="9525" cap="flat" cmpd="sng" algn="ctr">
                      <a:solidFill>
                        <a:srgbClr val="DEDC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EDC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EDC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EDC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chemeClr val="tx1"/>
                          </a:solidFill>
                          <a:latin typeface="Source Sans 3" pitchFamily="34" charset="0"/>
                          <a:ea typeface="Source Sans 3" pitchFamily="34" charset="-122"/>
                          <a:cs typeface="Source Sans 3" pitchFamily="34" charset="-120"/>
                        </a:rPr>
                        <a:t>Mesin scan</a:t>
                      </a:r>
                      <a:endParaRPr lang="en-US" sz="1500" dirty="0">
                        <a:latin typeface="Source Sans 3" charset="0"/>
                        <a:ea typeface="Source Sans 3" charset="0"/>
                        <a:cs typeface="Source Sans 3" charset="0"/>
                      </a:endParaRPr>
                    </a:p>
                  </a:txBody>
                  <a:tcPr marL="109728" marR="109728" marT="0" marB="0" anchor="ctr">
                    <a:lnL w="9525" cap="flat" cmpd="sng" algn="ctr">
                      <a:solidFill>
                        <a:srgbClr val="DEDC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EDC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EDC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EDC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chemeClr val="tx1"/>
                          </a:solidFill>
                          <a:latin typeface="Source Sans 3" pitchFamily="34" charset="0"/>
                          <a:ea typeface="Source Sans 3" pitchFamily="34" charset="-122"/>
                          <a:cs typeface="Source Sans 3" pitchFamily="34" charset="-120"/>
                        </a:rPr>
                        <a:t>Tiga modul scan + skor gabungan + reason code</a:t>
                      </a:r>
                      <a:endParaRPr lang="en-US" sz="1500" dirty="0">
                        <a:latin typeface="Source Sans 3" charset="0"/>
                        <a:ea typeface="Source Sans 3" charset="0"/>
                        <a:cs typeface="Source Sans 3" charset="0"/>
                      </a:endParaRPr>
                    </a:p>
                  </a:txBody>
                  <a:tcPr marL="109728" marR="109728" marT="0" marB="0" anchor="ctr">
                    <a:lnL w="9525" cap="flat" cmpd="sng" algn="ctr">
                      <a:solidFill>
                        <a:srgbClr val="DEDC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EDC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EDC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EDC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b="1" dirty="0">
                          <a:solidFill>
                            <a:schemeClr val="accent1"/>
                          </a:solidFill>
                          <a:latin typeface="Source Sans 3" pitchFamily="34" charset="0"/>
                          <a:ea typeface="Source Sans 3" pitchFamily="34" charset="-122"/>
                          <a:cs typeface="Source Sans 3" pitchFamily="34" charset="-120"/>
                        </a:rPr>
                        <a:t>Selesai</a:t>
                      </a:r>
                      <a:endParaRPr lang="en-US" sz="1500" dirty="0">
                        <a:latin typeface="Source Sans 3" charset="0"/>
                        <a:ea typeface="Source Sans 3" charset="0"/>
                        <a:cs typeface="Source Sans 3" charset="0"/>
                      </a:endParaRPr>
                    </a:p>
                  </a:txBody>
                  <a:tcPr marL="109728" marR="109728" marT="0" marB="0" anchor="ctr">
                    <a:lnL w="9525" cap="flat" cmpd="sng" algn="ctr">
                      <a:solidFill>
                        <a:srgbClr val="DEDC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EDC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EDC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EDC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chemeClr val="tx1"/>
                          </a:solidFill>
                          <a:latin typeface="Source Sans 3" pitchFamily="34" charset="0"/>
                          <a:ea typeface="Source Sans 3" pitchFamily="34" charset="-122"/>
                          <a:cs typeface="Source Sans 3" pitchFamily="34" charset="-120"/>
                        </a:rPr>
                        <a:t>5–6</a:t>
                      </a:r>
                      <a:endParaRPr lang="en-US" sz="1500" dirty="0">
                        <a:latin typeface="Source Sans 3" charset="0"/>
                        <a:ea typeface="Source Sans 3" charset="0"/>
                        <a:cs typeface="Source Sans 3" charset="0"/>
                      </a:endParaRPr>
                    </a:p>
                  </a:txBody>
                  <a:tcPr marL="109728" marR="109728" marT="0" marB="0" anchor="ctr">
                    <a:lnL w="9525" cap="flat" cmpd="sng" algn="ctr">
                      <a:solidFill>
                        <a:srgbClr val="DEDC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EDC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EDC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EDC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chemeClr val="tx1"/>
                          </a:solidFill>
                          <a:latin typeface="Source Sans 3" pitchFamily="34" charset="0"/>
                          <a:ea typeface="Source Sans 3" pitchFamily="34" charset="-122"/>
                          <a:cs typeface="Source Sans 3" pitchFamily="34" charset="-120"/>
                        </a:rPr>
                        <a:t>Produk</a:t>
                      </a:r>
                      <a:endParaRPr lang="en-US" sz="1500" dirty="0">
                        <a:latin typeface="Source Sans 3" charset="0"/>
                        <a:ea typeface="Source Sans 3" charset="0"/>
                        <a:cs typeface="Source Sans 3" charset="0"/>
                      </a:endParaRPr>
                    </a:p>
                  </a:txBody>
                  <a:tcPr marL="109728" marR="109728" marT="0" marB="0" anchor="ctr">
                    <a:lnL w="9525" cap="flat" cmpd="sng" algn="ctr">
                      <a:solidFill>
                        <a:srgbClr val="DEDC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EDC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EDC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EDC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chemeClr val="tx1"/>
                          </a:solidFill>
                          <a:latin typeface="Source Sans 3" pitchFamily="34" charset="0"/>
                          <a:ea typeface="Source Sans 3" pitchFamily="34" charset="-122"/>
                          <a:cs typeface="Source Sans 3" pitchFamily="34" charset="-120"/>
                        </a:rPr>
                        <a:t>Dashboard, lembar hasil scan, kalkulator estimasi iuran</a:t>
                      </a:r>
                      <a:endParaRPr lang="en-US" sz="1500" dirty="0">
                        <a:latin typeface="Source Sans 3" charset="0"/>
                        <a:ea typeface="Source Sans 3" charset="0"/>
                        <a:cs typeface="Source Sans 3" charset="0"/>
                      </a:endParaRPr>
                    </a:p>
                  </a:txBody>
                  <a:tcPr marL="109728" marR="109728" marT="0" marB="0" anchor="ctr">
                    <a:lnL w="9525" cap="flat" cmpd="sng" algn="ctr">
                      <a:solidFill>
                        <a:srgbClr val="DEDC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EDC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EDC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EDC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b="1" dirty="0">
                          <a:solidFill>
                            <a:schemeClr val="accent1"/>
                          </a:solidFill>
                          <a:latin typeface="Source Sans 3" pitchFamily="34" charset="0"/>
                          <a:ea typeface="Source Sans 3" pitchFamily="34" charset="-122"/>
                          <a:cs typeface="Source Sans 3" pitchFamily="34" charset="-120"/>
                        </a:rPr>
                        <a:t>Prototype HTML selesai</a:t>
                      </a:r>
                      <a:endParaRPr lang="en-US" sz="1500" dirty="0">
                        <a:latin typeface="Source Sans 3" charset="0"/>
                        <a:ea typeface="Source Sans 3" charset="0"/>
                        <a:cs typeface="Source Sans 3" charset="0"/>
                      </a:endParaRPr>
                    </a:p>
                  </a:txBody>
                  <a:tcPr marL="109728" marR="109728" marT="0" marB="0" anchor="ctr">
                    <a:lnL w="9525" cap="flat" cmpd="sng" algn="ctr">
                      <a:solidFill>
                        <a:srgbClr val="DEDC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EDC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EDC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EDC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chemeClr val="tx1"/>
                          </a:solidFill>
                          <a:latin typeface="Source Sans 3" pitchFamily="34" charset="0"/>
                          <a:ea typeface="Source Sans 3" pitchFamily="34" charset="-122"/>
                          <a:cs typeface="Source Sans 3" pitchFamily="34" charset="-120"/>
                        </a:rPr>
                        <a:t>7</a:t>
                      </a:r>
                      <a:endParaRPr lang="en-US" sz="1500" dirty="0">
                        <a:latin typeface="Source Sans 3" charset="0"/>
                        <a:ea typeface="Source Sans 3" charset="0"/>
                        <a:cs typeface="Source Sans 3" charset="0"/>
                      </a:endParaRPr>
                    </a:p>
                  </a:txBody>
                  <a:tcPr marL="109728" marR="109728" marT="0" marB="0" anchor="ctr">
                    <a:lnL w="9525" cap="flat" cmpd="sng" algn="ctr">
                      <a:solidFill>
                        <a:srgbClr val="DEDC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EDC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EDC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EDC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chemeClr val="tx1"/>
                          </a:solidFill>
                          <a:latin typeface="Source Sans 3" pitchFamily="34" charset="0"/>
                          <a:ea typeface="Source Sans 3" pitchFamily="34" charset="-122"/>
                          <a:cs typeface="Source Sans 3" pitchFamily="34" charset="-120"/>
                        </a:rPr>
                        <a:t>Validasi</a:t>
                      </a:r>
                      <a:endParaRPr lang="en-US" sz="1500" dirty="0">
                        <a:latin typeface="Source Sans 3" charset="0"/>
                        <a:ea typeface="Source Sans 3" charset="0"/>
                        <a:cs typeface="Source Sans 3" charset="0"/>
                      </a:endParaRPr>
                    </a:p>
                  </a:txBody>
                  <a:tcPr marL="109728" marR="109728" marT="0" marB="0" anchor="ctr">
                    <a:lnL w="9525" cap="flat" cmpd="sng" algn="ctr">
                      <a:solidFill>
                        <a:srgbClr val="DEDC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EDC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EDC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EDC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chemeClr val="tx1"/>
                          </a:solidFill>
                          <a:latin typeface="Source Sans 3" pitchFamily="34" charset="0"/>
                          <a:ea typeface="Source Sans 3" pitchFamily="34" charset="-122"/>
                          <a:cs typeface="Source Sans 3" pitchFamily="34" charset="-120"/>
                        </a:rPr>
                        <a:t>Laporan akurasi + uji bias per skala usaha</a:t>
                      </a:r>
                      <a:endParaRPr lang="en-US" sz="1500" dirty="0">
                        <a:latin typeface="Source Sans 3" charset="0"/>
                        <a:ea typeface="Source Sans 3" charset="0"/>
                        <a:cs typeface="Source Sans 3" charset="0"/>
                      </a:endParaRPr>
                    </a:p>
                  </a:txBody>
                  <a:tcPr marL="109728" marR="109728" marT="0" marB="0" anchor="ctr">
                    <a:lnL w="9525" cap="flat" cmpd="sng" algn="ctr">
                      <a:solidFill>
                        <a:srgbClr val="DEDC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EDC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EDC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EDC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b="1" dirty="0">
                          <a:solidFill>
                            <a:schemeClr val="accent1"/>
                          </a:solidFill>
                          <a:latin typeface="Source Sans 3" pitchFamily="34" charset="0"/>
                          <a:ea typeface="Source Sans 3" pitchFamily="34" charset="-122"/>
                          <a:cs typeface="Source Sans 3" pitchFamily="34" charset="-120"/>
                        </a:rPr>
                        <a:t>Otomatis, tinggal finalisasi</a:t>
                      </a:r>
                      <a:endParaRPr lang="en-US" sz="1500" dirty="0">
                        <a:latin typeface="Source Sans 3" charset="0"/>
                        <a:ea typeface="Source Sans 3" charset="0"/>
                        <a:cs typeface="Source Sans 3" charset="0"/>
                      </a:endParaRPr>
                    </a:p>
                  </a:txBody>
                  <a:tcPr marL="109728" marR="109728" marT="0" marB="0" anchor="ctr">
                    <a:lnL w="9525" cap="flat" cmpd="sng" algn="ctr">
                      <a:solidFill>
                        <a:srgbClr val="DEDC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EDC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EDC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EDC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chemeClr val="tx1"/>
                          </a:solidFill>
                          <a:latin typeface="Source Sans 3" pitchFamily="34" charset="0"/>
                          <a:ea typeface="Source Sans 3" pitchFamily="34" charset="-122"/>
                          <a:cs typeface="Source Sans 3" pitchFamily="34" charset="-120"/>
                        </a:rPr>
                        <a:t>8</a:t>
                      </a:r>
                      <a:endParaRPr lang="en-US" sz="1500" dirty="0">
                        <a:latin typeface="Source Sans 3" charset="0"/>
                        <a:ea typeface="Source Sans 3" charset="0"/>
                        <a:cs typeface="Source Sans 3" charset="0"/>
                      </a:endParaRPr>
                    </a:p>
                  </a:txBody>
                  <a:tcPr marL="109728" marR="109728" marT="0" marB="0" anchor="ctr">
                    <a:lnL w="9525" cap="flat" cmpd="sng" algn="ctr">
                      <a:solidFill>
                        <a:srgbClr val="DEDC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EDC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EDC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EDC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chemeClr val="tx1"/>
                          </a:solidFill>
                          <a:latin typeface="Source Sans 3" pitchFamily="34" charset="0"/>
                          <a:ea typeface="Source Sans 3" pitchFamily="34" charset="-122"/>
                          <a:cs typeface="Source Sans 3" pitchFamily="34" charset="-120"/>
                        </a:rPr>
                        <a:t>Siap demo</a:t>
                      </a:r>
                      <a:endParaRPr lang="en-US" sz="1500" dirty="0">
                        <a:latin typeface="Source Sans 3" charset="0"/>
                        <a:ea typeface="Source Sans 3" charset="0"/>
                        <a:cs typeface="Source Sans 3" charset="0"/>
                      </a:endParaRPr>
                    </a:p>
                  </a:txBody>
                  <a:tcPr marL="109728" marR="109728" marT="0" marB="0" anchor="ctr">
                    <a:lnL w="9525" cap="flat" cmpd="sng" algn="ctr">
                      <a:solidFill>
                        <a:srgbClr val="DEDC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EDC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EDC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EDC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chemeClr val="tx1"/>
                          </a:solidFill>
                          <a:latin typeface="Source Sans 3" pitchFamily="34" charset="0"/>
                          <a:ea typeface="Source Sans 3" pitchFamily="34" charset="-122"/>
                          <a:cs typeface="Source Sans 3" pitchFamily="34" charset="-120"/>
                        </a:rPr>
                        <a:t>Video demo + proposal final</a:t>
                      </a:r>
                      <a:endParaRPr lang="en-US" sz="1500" dirty="0">
                        <a:latin typeface="Source Sans 3" charset="0"/>
                        <a:ea typeface="Source Sans 3" charset="0"/>
                        <a:cs typeface="Source Sans 3" charset="0"/>
                      </a:endParaRPr>
                    </a:p>
                  </a:txBody>
                  <a:tcPr marL="109728" marR="109728" marT="0" marB="0" anchor="ctr">
                    <a:lnL w="9525" cap="flat" cmpd="sng" algn="ctr">
                      <a:solidFill>
                        <a:srgbClr val="DEDC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EDC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EDC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EDC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b="1" dirty="0">
                          <a:solidFill>
                            <a:schemeClr val="accent5"/>
                          </a:solidFill>
                          <a:latin typeface="Source Sans 3" pitchFamily="34" charset="0"/>
                          <a:ea typeface="Source Sans 3" pitchFamily="34" charset="-122"/>
                          <a:cs typeface="Source Sans 3" pitchFamily="34" charset="-120"/>
                        </a:rPr>
                        <a:t>Belum</a:t>
                      </a:r>
                      <a:endParaRPr lang="en-US" sz="1500" dirty="0">
                        <a:latin typeface="Source Sans 3" charset="0"/>
                        <a:ea typeface="Source Sans 3" charset="0"/>
                        <a:cs typeface="Source Sans 3" charset="0"/>
                      </a:endParaRPr>
                    </a:p>
                  </a:txBody>
                  <a:tcPr marL="109728" marR="109728" marT="0" marB="0" anchor="ctr">
                    <a:lnL w="9525" cap="flat" cmpd="sng" algn="ctr">
                      <a:solidFill>
                        <a:srgbClr val="DEDC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EDC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EDC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EDC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</a:tr>
            </a:tbl>
          </a:graphicData>
        </a:graphic>
      </p:graphicFrame>
      <p:sp>
        <p:nvSpPr>
          <p:cNvPr id="5" name="teks-229"/>
          <p:cNvSpPr txBox="1"/>
          <p:nvPr/>
        </p:nvSpPr>
        <p:spPr>
          <a:xfrm>
            <a:off x="685800" y="4800600"/>
            <a:ext cx="10820095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chemeClr val="accent5"/>
                </a:solidFill>
              </a:rPr>
              <a:t>Durasi disesuaikan dengan jadwal resmi Healthkathon 2026. Sumber daya: tim 3 orang, cloud server kecil, data publik + sintetis.</a:t>
            </a:r>
            <a:endParaRPr lang="en-US" sz="14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957255" y="6327648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100">
                <a:solidFill>
                  <a:srgbClr val="5B6B70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14</a:t>
            </a:fld>
            <a:endParaRPr lang="en-US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body" hasCustomPrompt="1"/>
          </p:nvPr>
        </p:nvSpPr>
        <p:spPr>
          <a:xfrm>
            <a:off x="685800" y="566928"/>
            <a:ext cx="10820095" cy="292608"/>
          </a:xfrm>
          <a:prstGeom prst="rect">
            <a:avLst/>
          </a:prstGeom>
          <a:noFill/>
          <a:ln/>
        </p:spPr>
        <p:txBody>
          <a:bodyPr wrap="square" lIns="0" tIns="0" rIns="0" bIns="0" rtlCol="0"/>
          <a:lstStyle/>
          <a:p>
            <a:pPr indent="0" marL="0">
              <a:buNone/>
            </a:pPr>
            <a:r>
              <a:rPr lang="en-US" sz="1300" b="1" spc="200" kern="0" dirty="0">
                <a:solidFill>
                  <a:schemeClr val="accent1"/>
                </a:solidFill>
                <a:latin typeface="Source Sans 3" pitchFamily="34" charset="0"/>
                <a:ea typeface="Source Sans 3" pitchFamily="34" charset="-122"/>
                <a:cs typeface="Source Sans 3" pitchFamily="34" charset="-120"/>
              </a:rPr>
              <a:t>06 · SETELAH KOMPETISI</a:t>
            </a:r>
            <a:endParaRPr lang="en-US" sz="1300" dirty="0"/>
          </a:p>
        </p:txBody>
      </p:sp>
      <p:sp>
        <p:nvSpPr>
          <p:cNvPr id="3" name="Text 1"/>
          <p:cNvSpPr/>
          <p:nvPr>
            <p:ph idx="102" type="title" hasCustomPrompt="1"/>
          </p:nvPr>
        </p:nvSpPr>
        <p:spPr>
          <a:xfrm>
            <a:off x="685800" y="868680"/>
            <a:ext cx="10820095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4000" b="1" dirty="0">
                <a:solidFill>
                  <a:schemeClr val="tx1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Dari prototype ke skala nasional</a:t>
            </a:r>
            <a:endParaRPr lang="en-US" sz="4000" dirty="0"/>
          </a:p>
        </p:txBody>
      </p:sp>
      <p:sp>
        <p:nvSpPr>
          <p:cNvPr id="4" name="kartu-230"/>
          <p:cNvSpPr/>
          <p:nvPr/>
        </p:nvSpPr>
        <p:spPr>
          <a:xfrm>
            <a:off x="685800" y="1828800"/>
            <a:ext cx="3246120" cy="2834640"/>
          </a:xfrm>
          <a:prstGeom prst="roundRect">
            <a:avLst>
              <a:gd name="adj" fmla="val 3871"/>
            </a:avLst>
          </a:prstGeom>
          <a:solidFill>
            <a:schemeClr val="bg1"/>
          </a:solidFill>
          <a:ln w="9525">
            <a:solidFill>
              <a:srgbClr val="DEDCD4"/>
            </a:solidFill>
            <a:prstDash val="solid"/>
          </a:ln>
        </p:spPr>
      </p:sp>
      <p:sp>
        <p:nvSpPr>
          <p:cNvPr id="5" name="teks-231"/>
          <p:cNvSpPr txBox="1"/>
          <p:nvPr/>
        </p:nvSpPr>
        <p:spPr>
          <a:xfrm>
            <a:off x="941832" y="2057400"/>
            <a:ext cx="27889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b="1" spc="150" kern="0" dirty="0">
                <a:solidFill>
                  <a:schemeClr val="accent1"/>
                </a:solidFill>
              </a:rPr>
              <a:t>FASE 1 · ±3 BULAN</a:t>
            </a:r>
            <a:endParaRPr lang="en-US" sz="1200" dirty="0"/>
          </a:p>
        </p:txBody>
      </p:sp>
      <p:sp>
        <p:nvSpPr>
          <p:cNvPr id="6" name="teks-232"/>
          <p:cNvSpPr txBox="1"/>
          <p:nvPr/>
        </p:nvSpPr>
        <p:spPr>
          <a:xfrm>
            <a:off x="941832" y="2377440"/>
            <a:ext cx="27889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100" b="1" dirty="0">
                <a:solidFill>
                  <a:schemeClr val="tx1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Pilot</a:t>
            </a:r>
            <a:endParaRPr lang="en-US" sz="2100" dirty="0"/>
          </a:p>
        </p:txBody>
      </p:sp>
      <p:sp>
        <p:nvSpPr>
          <p:cNvPr id="7" name="teks-233"/>
          <p:cNvSpPr txBox="1"/>
          <p:nvPr/>
        </p:nvSpPr>
        <p:spPr>
          <a:xfrm>
            <a:off x="941832" y="2880360"/>
            <a:ext cx="2788920" cy="1691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203200" indent="-203200">
              <a:spcAft>
                <a:spcPts val="600"/>
              </a:spcAft>
              <a:buSzPct val="100000"/>
              <a:buChar char="•"/>
            </a:pPr>
            <a:r>
              <a:rPr lang="en-US" sz="1500" dirty="0">
                <a:solidFill>
                  <a:schemeClr val="tx1"/>
                </a:solidFill>
              </a:rPr>
              <a:t>1 Kantor Cabang, data riil berizin</a:t>
            </a:r>
            <a:endParaRPr lang="en-US" sz="1500" dirty="0"/>
          </a:p>
          <a:p>
            <a:pPr marL="203200" indent="-203200">
              <a:spcAft>
                <a:spcPts val="600"/>
              </a:spcAft>
              <a:buSzPct val="100000"/>
              <a:buChar char="•"/>
            </a:pPr>
            <a:r>
              <a:rPr lang="en-US" sz="1500" dirty="0">
                <a:solidFill>
                  <a:schemeClr val="tx1"/>
                </a:solidFill>
              </a:rPr>
              <a:t>Kalibrasi model dengan hasil pemeriksaan</a:t>
            </a:r>
            <a:endParaRPr lang="en-US" sz="1500" dirty="0"/>
          </a:p>
          <a:p>
            <a:pPr marL="203200" indent="-203200">
              <a:spcAft>
                <a:spcPts val="600"/>
              </a:spcAft>
              <a:buSzPct val="100000"/>
              <a:buChar char="•"/>
            </a:pPr>
            <a:r>
              <a:rPr lang="en-US" sz="1500" dirty="0">
                <a:solidFill>
                  <a:schemeClr val="tx1"/>
                </a:solidFill>
              </a:rPr>
              <a:t>Ukur hit rate vs cara saat ini</a:t>
            </a:r>
            <a:endParaRPr lang="en-US" sz="1500" dirty="0"/>
          </a:p>
        </p:txBody>
      </p:sp>
      <p:sp>
        <p:nvSpPr>
          <p:cNvPr id="8" name="panah-fase-234"/>
          <p:cNvSpPr/>
          <p:nvPr/>
        </p:nvSpPr>
        <p:spPr>
          <a:xfrm>
            <a:off x="4019474" y="3108960"/>
            <a:ext cx="365760" cy="274320"/>
          </a:xfrm>
          <a:prstGeom prst="rightArrow">
            <a:avLst/>
          </a:prstGeom>
          <a:solidFill>
            <a:schemeClr val="accent1"/>
          </a:solidFill>
          <a:ln/>
        </p:spPr>
      </p:sp>
      <p:sp>
        <p:nvSpPr>
          <p:cNvPr id="9" name="kartu-235"/>
          <p:cNvSpPr/>
          <p:nvPr/>
        </p:nvSpPr>
        <p:spPr>
          <a:xfrm>
            <a:off x="4472788" y="1828800"/>
            <a:ext cx="3246120" cy="2834640"/>
          </a:xfrm>
          <a:prstGeom prst="roundRect">
            <a:avLst>
              <a:gd name="adj" fmla="val 3871"/>
            </a:avLst>
          </a:prstGeom>
          <a:solidFill>
            <a:schemeClr val="bg1"/>
          </a:solidFill>
          <a:ln w="9525">
            <a:solidFill>
              <a:srgbClr val="DEDCD4"/>
            </a:solidFill>
            <a:prstDash val="solid"/>
          </a:ln>
        </p:spPr>
      </p:sp>
      <p:sp>
        <p:nvSpPr>
          <p:cNvPr id="10" name="teks-236"/>
          <p:cNvSpPr txBox="1"/>
          <p:nvPr/>
        </p:nvSpPr>
        <p:spPr>
          <a:xfrm>
            <a:off x="4728820" y="2057400"/>
            <a:ext cx="27889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b="1" spc="150" kern="0" dirty="0">
                <a:solidFill>
                  <a:schemeClr val="accent1"/>
                </a:solidFill>
              </a:rPr>
              <a:t>FASE 2 · ±6 BULAN</a:t>
            </a:r>
            <a:endParaRPr lang="en-US" sz="1200" dirty="0"/>
          </a:p>
        </p:txBody>
      </p:sp>
      <p:sp>
        <p:nvSpPr>
          <p:cNvPr id="11" name="teks-237"/>
          <p:cNvSpPr txBox="1"/>
          <p:nvPr/>
        </p:nvSpPr>
        <p:spPr>
          <a:xfrm>
            <a:off x="4728820" y="2377440"/>
            <a:ext cx="27889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100" b="1" dirty="0">
                <a:solidFill>
                  <a:schemeClr val="tx1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Integrasi</a:t>
            </a:r>
            <a:endParaRPr lang="en-US" sz="2100" dirty="0"/>
          </a:p>
        </p:txBody>
      </p:sp>
      <p:sp>
        <p:nvSpPr>
          <p:cNvPr id="12" name="teks-238"/>
          <p:cNvSpPr txBox="1"/>
          <p:nvPr/>
        </p:nvSpPr>
        <p:spPr>
          <a:xfrm>
            <a:off x="4728820" y="2880360"/>
            <a:ext cx="2788920" cy="1691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203200" indent="-203200">
              <a:spcAft>
                <a:spcPts val="600"/>
              </a:spcAft>
              <a:buSzPct val="100000"/>
              <a:buChar char="•"/>
            </a:pPr>
            <a:r>
              <a:rPr lang="en-US" sz="1500" dirty="0">
                <a:solidFill>
                  <a:schemeClr val="tx1"/>
                </a:solidFill>
              </a:rPr>
              <a:t>Kerja sama data BPJS TK &amp; OSS</a:t>
            </a:r>
            <a:endParaRPr lang="en-US" sz="1500" dirty="0"/>
          </a:p>
          <a:p>
            <a:pPr marL="203200" indent="-203200">
              <a:spcAft>
                <a:spcPts val="600"/>
              </a:spcAft>
              <a:buSzPct val="100000"/>
              <a:buChar char="•"/>
            </a:pPr>
            <a:r>
              <a:rPr lang="en-US" sz="1500" dirty="0">
                <a:solidFill>
                  <a:schemeClr val="tx1"/>
                </a:solidFill>
              </a:rPr>
              <a:t>Scan Headcount &amp; Status versi penuh</a:t>
            </a:r>
            <a:endParaRPr lang="en-US" sz="1500" dirty="0"/>
          </a:p>
          <a:p>
            <a:pPr marL="203200" indent="-203200">
              <a:spcAft>
                <a:spcPts val="600"/>
              </a:spcAft>
              <a:buSzPct val="100000"/>
              <a:buChar char="•"/>
            </a:pPr>
            <a:r>
              <a:rPr lang="en-US" sz="1500" dirty="0">
                <a:solidFill>
                  <a:schemeClr val="tx1"/>
                </a:solidFill>
              </a:rPr>
              <a:t>Terhubung ke sistem internal</a:t>
            </a:r>
            <a:endParaRPr lang="en-US" sz="1500" dirty="0"/>
          </a:p>
        </p:txBody>
      </p:sp>
      <p:sp>
        <p:nvSpPr>
          <p:cNvPr id="13" name="panah-fase-239"/>
          <p:cNvSpPr/>
          <p:nvPr/>
        </p:nvSpPr>
        <p:spPr>
          <a:xfrm>
            <a:off x="7806461" y="3108960"/>
            <a:ext cx="365760" cy="274320"/>
          </a:xfrm>
          <a:prstGeom prst="rightArrow">
            <a:avLst/>
          </a:prstGeom>
          <a:solidFill>
            <a:schemeClr val="accent1"/>
          </a:solidFill>
          <a:ln/>
        </p:spPr>
      </p:sp>
      <p:sp>
        <p:nvSpPr>
          <p:cNvPr id="14" name="kartu-240"/>
          <p:cNvSpPr/>
          <p:nvPr/>
        </p:nvSpPr>
        <p:spPr>
          <a:xfrm>
            <a:off x="8259775" y="1828800"/>
            <a:ext cx="3246120" cy="2834640"/>
          </a:xfrm>
          <a:prstGeom prst="roundRect">
            <a:avLst>
              <a:gd name="adj" fmla="val 3871"/>
            </a:avLst>
          </a:prstGeom>
          <a:solidFill>
            <a:schemeClr val="bg1"/>
          </a:solidFill>
          <a:ln w="9525">
            <a:solidFill>
              <a:srgbClr val="DEDCD4"/>
            </a:solidFill>
            <a:prstDash val="solid"/>
          </a:ln>
        </p:spPr>
      </p:sp>
      <p:sp>
        <p:nvSpPr>
          <p:cNvPr id="15" name="teks-241"/>
          <p:cNvSpPr txBox="1"/>
          <p:nvPr/>
        </p:nvSpPr>
        <p:spPr>
          <a:xfrm>
            <a:off x="8515807" y="2057400"/>
            <a:ext cx="27889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b="1" spc="150" kern="0" dirty="0">
                <a:solidFill>
                  <a:schemeClr val="accent1"/>
                </a:solidFill>
              </a:rPr>
              <a:t>FASE 3 · BERTAHAP</a:t>
            </a:r>
            <a:endParaRPr lang="en-US" sz="1200" dirty="0"/>
          </a:p>
        </p:txBody>
      </p:sp>
      <p:sp>
        <p:nvSpPr>
          <p:cNvPr id="16" name="teks-242"/>
          <p:cNvSpPr txBox="1"/>
          <p:nvPr/>
        </p:nvSpPr>
        <p:spPr>
          <a:xfrm>
            <a:off x="8515807" y="2377440"/>
            <a:ext cx="27889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100" b="1" dirty="0">
                <a:solidFill>
                  <a:schemeClr val="tx1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Skala nasional</a:t>
            </a:r>
            <a:endParaRPr lang="en-US" sz="2100" dirty="0"/>
          </a:p>
        </p:txBody>
      </p:sp>
      <p:sp>
        <p:nvSpPr>
          <p:cNvPr id="17" name="teks-243"/>
          <p:cNvSpPr txBox="1"/>
          <p:nvPr/>
        </p:nvSpPr>
        <p:spPr>
          <a:xfrm>
            <a:off x="8515807" y="2880360"/>
            <a:ext cx="2788920" cy="1691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203200" indent="-203200">
              <a:spcAft>
                <a:spcPts val="600"/>
              </a:spcAft>
              <a:buSzPct val="100000"/>
              <a:buChar char="•"/>
            </a:pPr>
            <a:r>
              <a:rPr lang="en-US" sz="1500" dirty="0">
                <a:solidFill>
                  <a:schemeClr val="tx1"/>
                </a:solidFill>
              </a:rPr>
              <a:t>Scan rutin setiap periode</a:t>
            </a:r>
            <a:endParaRPr lang="en-US" sz="1500" dirty="0"/>
          </a:p>
          <a:p>
            <a:pPr marL="203200" indent="-203200">
              <a:spcAft>
                <a:spcPts val="600"/>
              </a:spcAft>
              <a:buSzPct val="100000"/>
              <a:buChar char="•"/>
            </a:pPr>
            <a:r>
              <a:rPr lang="en-US" sz="1500" dirty="0">
                <a:solidFill>
                  <a:schemeClr val="tx1"/>
                </a:solidFill>
              </a:rPr>
              <a:t>Model diperbarui dari umpan balik</a:t>
            </a:r>
            <a:endParaRPr lang="en-US" sz="1500" dirty="0"/>
          </a:p>
          <a:p>
            <a:pPr marL="203200" indent="-203200">
              <a:spcAft>
                <a:spcPts val="600"/>
              </a:spcAft>
              <a:buSzPct val="100000"/>
              <a:buChar char="•"/>
            </a:pPr>
            <a:r>
              <a:rPr lang="en-US" sz="1500" dirty="0">
                <a:solidFill>
                  <a:schemeClr val="tx1"/>
                </a:solidFill>
              </a:rPr>
              <a:t>Dashboard per wilayah</a:t>
            </a:r>
            <a:endParaRPr lang="en-US" sz="1500" dirty="0"/>
          </a:p>
        </p:txBody>
      </p:sp>
      <p:sp>
        <p:nvSpPr>
          <p:cNvPr id="18" name="teks-244"/>
          <p:cNvSpPr txBox="1"/>
          <p:nvPr/>
        </p:nvSpPr>
        <p:spPr>
          <a:xfrm>
            <a:off x="685800" y="5074920"/>
            <a:ext cx="14630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b="1" spc="150" kern="0" dirty="0">
                <a:solidFill>
                  <a:schemeClr val="accent1"/>
                </a:solidFill>
              </a:rPr>
              <a:t>KEBUTUHAN</a:t>
            </a:r>
            <a:endParaRPr lang="en-US" sz="1200" dirty="0"/>
          </a:p>
        </p:txBody>
      </p:sp>
      <p:sp>
        <p:nvSpPr>
          <p:cNvPr id="19" name="kebutuhan-245"/>
          <p:cNvSpPr/>
          <p:nvPr/>
        </p:nvSpPr>
        <p:spPr>
          <a:xfrm>
            <a:off x="2286000" y="4983480"/>
            <a:ext cx="1929384" cy="457200"/>
          </a:xfrm>
          <a:prstGeom prst="roundRect">
            <a:avLst>
              <a:gd name="adj" fmla="val 50000"/>
            </a:avLst>
          </a:prstGeom>
          <a:solidFill>
            <a:schemeClr val="accent6"/>
          </a:solidFill>
          <a:ln/>
        </p:spPr>
      </p:sp>
      <p:sp>
        <p:nvSpPr>
          <p:cNvPr id="20" name="teks-246"/>
          <p:cNvSpPr txBox="1"/>
          <p:nvPr/>
        </p:nvSpPr>
        <p:spPr>
          <a:xfrm>
            <a:off x="2286000" y="4983480"/>
            <a:ext cx="1929384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chemeClr val="tx1"/>
                </a:solidFill>
              </a:rPr>
              <a:t>Akses data berizin</a:t>
            </a:r>
            <a:endParaRPr lang="en-US" sz="1400" dirty="0"/>
          </a:p>
        </p:txBody>
      </p:sp>
      <p:sp>
        <p:nvSpPr>
          <p:cNvPr id="21" name="kebutuhan-247"/>
          <p:cNvSpPr/>
          <p:nvPr/>
        </p:nvSpPr>
        <p:spPr>
          <a:xfrm>
            <a:off x="4398264" y="4983480"/>
            <a:ext cx="2025396" cy="457200"/>
          </a:xfrm>
          <a:prstGeom prst="roundRect">
            <a:avLst>
              <a:gd name="adj" fmla="val 50000"/>
            </a:avLst>
          </a:prstGeom>
          <a:solidFill>
            <a:schemeClr val="accent6"/>
          </a:solidFill>
          <a:ln/>
        </p:spPr>
      </p:sp>
      <p:sp>
        <p:nvSpPr>
          <p:cNvPr id="22" name="teks-248"/>
          <p:cNvSpPr txBox="1"/>
          <p:nvPr/>
        </p:nvSpPr>
        <p:spPr>
          <a:xfrm>
            <a:off x="4398264" y="4983480"/>
            <a:ext cx="2025396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chemeClr val="tx1"/>
                </a:solidFill>
              </a:rPr>
              <a:t>Mitra Kantor Cabang</a:t>
            </a:r>
            <a:endParaRPr lang="en-US" sz="1400" dirty="0"/>
          </a:p>
        </p:txBody>
      </p:sp>
      <p:sp>
        <p:nvSpPr>
          <p:cNvPr id="23" name="kebutuhan-249"/>
          <p:cNvSpPr/>
          <p:nvPr/>
        </p:nvSpPr>
        <p:spPr>
          <a:xfrm>
            <a:off x="6606540" y="4983480"/>
            <a:ext cx="1929384" cy="457200"/>
          </a:xfrm>
          <a:prstGeom prst="roundRect">
            <a:avLst>
              <a:gd name="adj" fmla="val 50000"/>
            </a:avLst>
          </a:prstGeom>
          <a:solidFill>
            <a:schemeClr val="accent6"/>
          </a:solidFill>
          <a:ln/>
        </p:spPr>
      </p:sp>
      <p:sp>
        <p:nvSpPr>
          <p:cNvPr id="24" name="teks-250"/>
          <p:cNvSpPr txBox="1"/>
          <p:nvPr/>
        </p:nvSpPr>
        <p:spPr>
          <a:xfrm>
            <a:off x="6606540" y="4983480"/>
            <a:ext cx="1929384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chemeClr val="tx1"/>
                </a:solidFill>
              </a:rPr>
              <a:t>Infrastruktur aman</a:t>
            </a:r>
            <a:endParaRPr lang="en-US" sz="1400" dirty="0"/>
          </a:p>
        </p:txBody>
      </p:sp>
      <p:sp>
        <p:nvSpPr>
          <p:cNvPr id="25" name="kebutuhan-251"/>
          <p:cNvSpPr/>
          <p:nvPr/>
        </p:nvSpPr>
        <p:spPr>
          <a:xfrm>
            <a:off x="8718804" y="4983480"/>
            <a:ext cx="2313432" cy="457200"/>
          </a:xfrm>
          <a:prstGeom prst="roundRect">
            <a:avLst>
              <a:gd name="adj" fmla="val 50000"/>
            </a:avLst>
          </a:prstGeom>
          <a:solidFill>
            <a:schemeClr val="accent6"/>
          </a:solidFill>
          <a:ln/>
        </p:spPr>
      </p:sp>
      <p:sp>
        <p:nvSpPr>
          <p:cNvPr id="26" name="teks-252"/>
          <p:cNvSpPr txBox="1"/>
          <p:nvPr/>
        </p:nvSpPr>
        <p:spPr>
          <a:xfrm>
            <a:off x="8718804" y="4983480"/>
            <a:ext cx="231343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chemeClr val="tx1"/>
                </a:solidFill>
              </a:rPr>
              <a:t>Pendampingan pemeriksa</a:t>
            </a:r>
            <a:endParaRPr lang="en-US" sz="14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957255" y="6327648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100">
                <a:solidFill>
                  <a:srgbClr val="5B6B70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15</a:t>
            </a:fld>
            <a:endParaRPr lang="en-US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body" hasCustomPrompt="1"/>
          </p:nvPr>
        </p:nvSpPr>
        <p:spPr>
          <a:xfrm>
            <a:off x="685800" y="566928"/>
            <a:ext cx="10820095" cy="292608"/>
          </a:xfrm>
          <a:prstGeom prst="rect">
            <a:avLst/>
          </a:prstGeom>
          <a:noFill/>
          <a:ln/>
        </p:spPr>
        <p:txBody>
          <a:bodyPr wrap="square" lIns="0" tIns="0" rIns="0" bIns="0" rtlCol="0"/>
          <a:lstStyle/>
          <a:p>
            <a:pPr indent="0" marL="0">
              <a:buNone/>
            </a:pPr>
            <a:r>
              <a:rPr lang="en-US" sz="1300" b="1" spc="200" kern="0" dirty="0">
                <a:solidFill>
                  <a:schemeClr val="accent1"/>
                </a:solidFill>
                <a:latin typeface="Source Sans 3" pitchFamily="34" charset="0"/>
                <a:ea typeface="Source Sans 3" pitchFamily="34" charset="-122"/>
                <a:cs typeface="Source Sans 3" pitchFamily="34" charset="-120"/>
              </a:rPr>
              <a:t>07 · DAMPAK &amp; METRIK</a:t>
            </a:r>
            <a:endParaRPr lang="en-US" sz="1300" dirty="0"/>
          </a:p>
        </p:txBody>
      </p:sp>
      <p:sp>
        <p:nvSpPr>
          <p:cNvPr id="3" name="Text 1"/>
          <p:cNvSpPr/>
          <p:nvPr>
            <p:ph idx="102" type="title" hasCustomPrompt="1"/>
          </p:nvPr>
        </p:nvSpPr>
        <p:spPr>
          <a:xfrm>
            <a:off x="685800" y="868680"/>
            <a:ext cx="10820095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4000" b="1" dirty="0">
                <a:solidFill>
                  <a:schemeClr val="tx1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Cara kami mengukur keberhasilan</a:t>
            </a:r>
            <a:endParaRPr lang="en-US" sz="4000" dirty="0"/>
          </a:p>
        </p:txBody>
      </p:sp>
      <p:graphicFrame>
        <p:nvGraphicFramePr>
          <p:cNvPr id="17" name="tabel-metrik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685800" y="1828800"/>
          <a:ext cx="10820095" cy="914400"/>
        </p:xfrm>
        <a:graphic>
          <a:graphicData uri="http://schemas.openxmlformats.org/drawingml/2006/table">
            <a:tbl>
              <a:tblPr/>
              <a:tblGrid>
                <a:gridCol w="3840480"/>
                <a:gridCol w="1737360"/>
                <a:gridCol w="2377440"/>
                <a:gridCol w="2864815"/>
              </a:tblGrid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b="1" dirty="0">
                          <a:solidFill>
                            <a:schemeClr val="tx1"/>
                          </a:solidFill>
                          <a:latin typeface="Source Sans 3" pitchFamily="34" charset="0"/>
                          <a:ea typeface="Source Sans 3" pitchFamily="34" charset="-122"/>
                          <a:cs typeface="Source Sans 3" pitchFamily="34" charset="-120"/>
                        </a:rPr>
                        <a:t>Metrik</a:t>
                      </a:r>
                      <a:endParaRPr lang="en-US" sz="1500" dirty="0">
                        <a:latin typeface="Source Sans 3" charset="0"/>
                        <a:ea typeface="Source Sans 3" charset="0"/>
                        <a:cs typeface="Source Sans 3" charset="0"/>
                      </a:endParaRPr>
                    </a:p>
                  </a:txBody>
                  <a:tcPr marL="109728" marR="109728" marT="0" marB="0" anchor="ctr">
                    <a:lnL w="9525" cap="flat" cmpd="sng" algn="ctr">
                      <a:solidFill>
                        <a:srgbClr val="DEDC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EDC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EDC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EDC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6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b="1" dirty="0">
                          <a:solidFill>
                            <a:schemeClr val="tx1"/>
                          </a:solidFill>
                          <a:latin typeface="Source Sans 3" pitchFamily="34" charset="0"/>
                          <a:ea typeface="Source Sans 3" pitchFamily="34" charset="-122"/>
                          <a:cs typeface="Source Sans 3" pitchFamily="34" charset="-120"/>
                        </a:rPr>
                        <a:t>Target</a:t>
                      </a:r>
                      <a:endParaRPr lang="en-US" sz="1500" dirty="0">
                        <a:latin typeface="Source Sans 3" charset="0"/>
                        <a:ea typeface="Source Sans 3" charset="0"/>
                        <a:cs typeface="Source Sans 3" charset="0"/>
                      </a:endParaRPr>
                    </a:p>
                  </a:txBody>
                  <a:tcPr marL="109728" marR="109728" marT="0" marB="0" anchor="ctr">
                    <a:lnL w="9525" cap="flat" cmpd="sng" algn="ctr">
                      <a:solidFill>
                        <a:srgbClr val="DEDC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EDC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EDC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EDC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6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b="1" dirty="0">
                          <a:solidFill>
                            <a:schemeClr val="tx1"/>
                          </a:solidFill>
                          <a:latin typeface="Source Sans 3" pitchFamily="34" charset="0"/>
                          <a:ea typeface="Source Sans 3" pitchFamily="34" charset="-122"/>
                          <a:cs typeface="Source Sans 3" pitchFamily="34" charset="-120"/>
                        </a:rPr>
                        <a:t>Hasil prototype</a:t>
                      </a:r>
                      <a:endParaRPr lang="en-US" sz="1500" dirty="0">
                        <a:latin typeface="Source Sans 3" charset="0"/>
                        <a:ea typeface="Source Sans 3" charset="0"/>
                        <a:cs typeface="Source Sans 3" charset="0"/>
                      </a:endParaRPr>
                    </a:p>
                  </a:txBody>
                  <a:tcPr marL="109728" marR="109728" marT="0" marB="0" anchor="ctr">
                    <a:lnL w="9525" cap="flat" cmpd="sng" algn="ctr">
                      <a:solidFill>
                        <a:srgbClr val="DEDC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EDC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EDC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EDC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6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b="1" dirty="0">
                          <a:solidFill>
                            <a:schemeClr val="tx1"/>
                          </a:solidFill>
                          <a:latin typeface="Source Sans 3" pitchFamily="34" charset="0"/>
                          <a:ea typeface="Source Sans 3" pitchFamily="34" charset="-122"/>
                          <a:cs typeface="Source Sans 3" pitchFamily="34" charset="-120"/>
                        </a:rPr>
                        <a:t>Cara ukur</a:t>
                      </a:r>
                      <a:endParaRPr lang="en-US" sz="1500" dirty="0">
                        <a:latin typeface="Source Sans 3" charset="0"/>
                        <a:ea typeface="Source Sans 3" charset="0"/>
                        <a:cs typeface="Source Sans 3" charset="0"/>
                      </a:endParaRPr>
                    </a:p>
                  </a:txBody>
                  <a:tcPr marL="109728" marR="109728" marT="0" marB="0" anchor="ctr">
                    <a:lnL w="9525" cap="flat" cmpd="sng" algn="ctr">
                      <a:solidFill>
                        <a:srgbClr val="DEDC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EDC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EDC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EDC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6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chemeClr val="tx1"/>
                          </a:solidFill>
                          <a:latin typeface="Source Sans 3" pitchFamily="34" charset="0"/>
                          <a:ea typeface="Source Sans 3" pitchFamily="34" charset="-122"/>
                          <a:cs typeface="Source Sans 3" pitchFamily="34" charset="-120"/>
                        </a:rPr>
                        <a:t>Precision pada 10% skor tertinggi</a:t>
                      </a:r>
                      <a:endParaRPr lang="en-US" sz="1500" dirty="0">
                        <a:latin typeface="Source Sans 3" charset="0"/>
                        <a:ea typeface="Source Sans 3" charset="0"/>
                        <a:cs typeface="Source Sans 3" charset="0"/>
                      </a:endParaRPr>
                    </a:p>
                  </a:txBody>
                  <a:tcPr marL="109728" marR="109728" marT="0" marB="0" anchor="ctr">
                    <a:lnL w="9525" cap="flat" cmpd="sng" algn="ctr">
                      <a:solidFill>
                        <a:srgbClr val="DEDC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EDC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EDC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EDC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chemeClr val="tx1"/>
                          </a:solidFill>
                          <a:latin typeface="Source Sans 3" pitchFamily="34" charset="0"/>
                          <a:ea typeface="Source Sans 3" pitchFamily="34" charset="-122"/>
                          <a:cs typeface="Source Sans 3" pitchFamily="34" charset="-120"/>
                        </a:rPr>
                        <a:t>≥ 70%</a:t>
                      </a:r>
                      <a:endParaRPr lang="en-US" sz="1500" dirty="0">
                        <a:latin typeface="Source Sans 3" charset="0"/>
                        <a:ea typeface="Source Sans 3" charset="0"/>
                        <a:cs typeface="Source Sans 3" charset="0"/>
                      </a:endParaRPr>
                    </a:p>
                  </a:txBody>
                  <a:tcPr marL="109728" marR="109728" marT="0" marB="0" anchor="ctr">
                    <a:lnL w="9525" cap="flat" cmpd="sng" algn="ctr">
                      <a:solidFill>
                        <a:srgbClr val="DEDC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EDC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EDC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EDC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b="1" dirty="0">
                          <a:solidFill>
                            <a:schemeClr val="accent1"/>
                          </a:solidFill>
                          <a:latin typeface="Source Sans 3" pitchFamily="34" charset="0"/>
                          <a:ea typeface="Source Sans 3" pitchFamily="34" charset="-122"/>
                          <a:cs typeface="Source Sans 3" pitchFamily="34" charset="-120"/>
                        </a:rPr>
                        <a:t>68,4%</a:t>
                      </a:r>
                      <a:endParaRPr lang="en-US" sz="1500" dirty="0">
                        <a:latin typeface="Source Sans 3" charset="0"/>
                        <a:ea typeface="Source Sans 3" charset="0"/>
                        <a:cs typeface="Source Sans 3" charset="0"/>
                      </a:endParaRPr>
                    </a:p>
                  </a:txBody>
                  <a:tcPr marL="109728" marR="109728" marT="0" marB="0" anchor="ctr">
                    <a:lnL w="9525" cap="flat" cmpd="sng" algn="ctr">
                      <a:solidFill>
                        <a:srgbClr val="DEDC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EDC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EDC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EDC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chemeClr val="tx1"/>
                          </a:solidFill>
                          <a:latin typeface="Source Sans 3" pitchFamily="34" charset="0"/>
                          <a:ea typeface="Source Sans 3" pitchFamily="34" charset="-122"/>
                          <a:cs typeface="Source Sans 3" pitchFamily="34" charset="-120"/>
                        </a:rPr>
                        <a:t>Data sintetis berlabel (holdout)</a:t>
                      </a:r>
                      <a:endParaRPr lang="en-US" sz="1500" dirty="0">
                        <a:latin typeface="Source Sans 3" charset="0"/>
                        <a:ea typeface="Source Sans 3" charset="0"/>
                        <a:cs typeface="Source Sans 3" charset="0"/>
                      </a:endParaRPr>
                    </a:p>
                  </a:txBody>
                  <a:tcPr marL="109728" marR="109728" marT="0" marB="0" anchor="ctr">
                    <a:lnL w="9525" cap="flat" cmpd="sng" algn="ctr">
                      <a:solidFill>
                        <a:srgbClr val="DEDC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EDC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EDC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EDC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chemeClr val="tx1"/>
                          </a:solidFill>
                          <a:latin typeface="Source Sans 3" pitchFamily="34" charset="0"/>
                          <a:ea typeface="Source Sans 3" pitchFamily="34" charset="-122"/>
                          <a:cs typeface="Source Sans 3" pitchFamily="34" charset="-120"/>
                        </a:rPr>
                        <a:t>Hit rate vs pemilihan acak</a:t>
                      </a:r>
                      <a:endParaRPr lang="en-US" sz="1500" dirty="0">
                        <a:latin typeface="Source Sans 3" charset="0"/>
                        <a:ea typeface="Source Sans 3" charset="0"/>
                        <a:cs typeface="Source Sans 3" charset="0"/>
                      </a:endParaRPr>
                    </a:p>
                  </a:txBody>
                  <a:tcPr marL="109728" marR="109728" marT="0" marB="0" anchor="ctr">
                    <a:lnL w="9525" cap="flat" cmpd="sng" algn="ctr">
                      <a:solidFill>
                        <a:srgbClr val="DEDC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EDC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EDC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EDC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chemeClr val="tx1"/>
                          </a:solidFill>
                          <a:latin typeface="Source Sans 3" pitchFamily="34" charset="0"/>
                          <a:ea typeface="Source Sans 3" pitchFamily="34" charset="-122"/>
                          <a:cs typeface="Source Sans 3" pitchFamily="34" charset="-120"/>
                        </a:rPr>
                        <a:t>≈ 4,7×</a:t>
                      </a:r>
                      <a:endParaRPr lang="en-US" sz="1500" dirty="0">
                        <a:latin typeface="Source Sans 3" charset="0"/>
                        <a:ea typeface="Source Sans 3" charset="0"/>
                        <a:cs typeface="Source Sans 3" charset="0"/>
                      </a:endParaRPr>
                    </a:p>
                  </a:txBody>
                  <a:tcPr marL="109728" marR="109728" marT="0" marB="0" anchor="ctr">
                    <a:lnL w="9525" cap="flat" cmpd="sng" algn="ctr">
                      <a:solidFill>
                        <a:srgbClr val="DEDC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EDC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EDC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EDC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b="1" dirty="0">
                          <a:solidFill>
                            <a:schemeClr val="accent1"/>
                          </a:solidFill>
                          <a:latin typeface="Source Sans 3" pitchFamily="34" charset="0"/>
                          <a:ea typeface="Source Sans 3" pitchFamily="34" charset="-122"/>
                          <a:cs typeface="Source Sans 3" pitchFamily="34" charset="-120"/>
                        </a:rPr>
                        <a:t>4,6×</a:t>
                      </a:r>
                      <a:endParaRPr lang="en-US" sz="1500" dirty="0">
                        <a:latin typeface="Source Sans 3" charset="0"/>
                        <a:ea typeface="Source Sans 3" charset="0"/>
                        <a:cs typeface="Source Sans 3" charset="0"/>
                      </a:endParaRPr>
                    </a:p>
                  </a:txBody>
                  <a:tcPr marL="109728" marR="109728" marT="0" marB="0" anchor="ctr">
                    <a:lnL w="9525" cap="flat" cmpd="sng" algn="ctr">
                      <a:solidFill>
                        <a:srgbClr val="DEDC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EDC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EDC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EDC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chemeClr val="tx1"/>
                          </a:solidFill>
                          <a:latin typeface="Source Sans 3" pitchFamily="34" charset="0"/>
                          <a:ea typeface="Source Sans 3" pitchFamily="34" charset="-122"/>
                          <a:cs typeface="Source Sans 3" pitchFamily="34" charset="-120"/>
                        </a:rPr>
                        <a:t>Simulasi, lalu pilot</a:t>
                      </a:r>
                      <a:endParaRPr lang="en-US" sz="1500" dirty="0">
                        <a:latin typeface="Source Sans 3" charset="0"/>
                        <a:ea typeface="Source Sans 3" charset="0"/>
                        <a:cs typeface="Source Sans 3" charset="0"/>
                      </a:endParaRPr>
                    </a:p>
                  </a:txBody>
                  <a:tcPr marL="109728" marR="109728" marT="0" marB="0" anchor="ctr">
                    <a:lnL w="9525" cap="flat" cmpd="sng" algn="ctr">
                      <a:solidFill>
                        <a:srgbClr val="DEDC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EDC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EDC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EDC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chemeClr val="tx1"/>
                          </a:solidFill>
                          <a:latin typeface="Source Sans 3" pitchFamily="34" charset="0"/>
                          <a:ea typeface="Source Sans 3" pitchFamily="34" charset="-122"/>
                          <a:cs typeface="Source Sans 3" pitchFamily="34" charset="-120"/>
                        </a:rPr>
                        <a:t>Iuran tertangkap per 100 pemeriksaan</a:t>
                      </a:r>
                      <a:endParaRPr lang="en-US" sz="1500" dirty="0">
                        <a:latin typeface="Source Sans 3" charset="0"/>
                        <a:ea typeface="Source Sans 3" charset="0"/>
                        <a:cs typeface="Source Sans 3" charset="0"/>
                      </a:endParaRPr>
                    </a:p>
                  </a:txBody>
                  <a:tcPr marL="109728" marR="109728" marT="0" marB="0" anchor="ctr">
                    <a:lnL w="9525" cap="flat" cmpd="sng" algn="ctr">
                      <a:solidFill>
                        <a:srgbClr val="DEDC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EDC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EDC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EDC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chemeClr val="tx1"/>
                          </a:solidFill>
                          <a:latin typeface="Source Sans 3" pitchFamily="34" charset="0"/>
                          <a:ea typeface="Source Sans 3" pitchFamily="34" charset="-122"/>
                          <a:cs typeface="Source Sans 3" pitchFamily="34" charset="-120"/>
                        </a:rPr>
                        <a:t>&gt; acak</a:t>
                      </a:r>
                      <a:endParaRPr lang="en-US" sz="1500" dirty="0">
                        <a:latin typeface="Source Sans 3" charset="0"/>
                        <a:ea typeface="Source Sans 3" charset="0"/>
                        <a:cs typeface="Source Sans 3" charset="0"/>
                      </a:endParaRPr>
                    </a:p>
                  </a:txBody>
                  <a:tcPr marL="109728" marR="109728" marT="0" marB="0" anchor="ctr">
                    <a:lnL w="9525" cap="flat" cmpd="sng" algn="ctr">
                      <a:solidFill>
                        <a:srgbClr val="DEDC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EDC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EDC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EDC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b="1" dirty="0">
                          <a:solidFill>
                            <a:schemeClr val="accent1"/>
                          </a:solidFill>
                          <a:latin typeface="Source Sans 3" pitchFamily="34" charset="0"/>
                          <a:ea typeface="Source Sans 3" pitchFamily="34" charset="-122"/>
                          <a:cs typeface="Source Sans 3" pitchFamily="34" charset="-120"/>
                        </a:rPr>
                        <a:t>Rp7,7 M vs Rp0,53 M</a:t>
                      </a:r>
                      <a:endParaRPr lang="en-US" sz="1500" dirty="0">
                        <a:latin typeface="Source Sans 3" charset="0"/>
                        <a:ea typeface="Source Sans 3" charset="0"/>
                        <a:cs typeface="Source Sans 3" charset="0"/>
                      </a:endParaRPr>
                    </a:p>
                  </a:txBody>
                  <a:tcPr marL="109728" marR="109728" marT="0" marB="0" anchor="ctr">
                    <a:lnL w="9525" cap="flat" cmpd="sng" algn="ctr">
                      <a:solidFill>
                        <a:srgbClr val="DEDC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EDC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EDC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EDC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chemeClr val="tx1"/>
                          </a:solidFill>
                          <a:latin typeface="Source Sans 3" pitchFamily="34" charset="0"/>
                          <a:ea typeface="Source Sans 3" pitchFamily="34" charset="-122"/>
                          <a:cs typeface="Source Sans 3" pitchFamily="34" charset="-120"/>
                        </a:rPr>
                        <a:t>Kalkulator PayRay</a:t>
                      </a:r>
                      <a:endParaRPr lang="en-US" sz="1500" dirty="0">
                        <a:latin typeface="Source Sans 3" charset="0"/>
                        <a:ea typeface="Source Sans 3" charset="0"/>
                        <a:cs typeface="Source Sans 3" charset="0"/>
                      </a:endParaRPr>
                    </a:p>
                  </a:txBody>
                  <a:tcPr marL="109728" marR="109728" marT="0" marB="0" anchor="ctr">
                    <a:lnL w="9525" cap="flat" cmpd="sng" algn="ctr">
                      <a:solidFill>
                        <a:srgbClr val="DEDC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EDC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EDC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EDC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chemeClr val="tx1"/>
                          </a:solidFill>
                          <a:latin typeface="Source Sans 3" pitchFamily="34" charset="0"/>
                          <a:ea typeface="Source Sans 3" pitchFamily="34" charset="-122"/>
                          <a:cs typeface="Source Sans 3" pitchFamily="34" charset="-120"/>
                        </a:rPr>
                        <a:t>Waktu menyusun daftar target</a:t>
                      </a:r>
                      <a:endParaRPr lang="en-US" sz="1500" dirty="0">
                        <a:latin typeface="Source Sans 3" charset="0"/>
                        <a:ea typeface="Source Sans 3" charset="0"/>
                        <a:cs typeface="Source Sans 3" charset="0"/>
                      </a:endParaRPr>
                    </a:p>
                  </a:txBody>
                  <a:tcPr marL="109728" marR="109728" marT="0" marB="0" anchor="ctr">
                    <a:lnL w="9525" cap="flat" cmpd="sng" algn="ctr">
                      <a:solidFill>
                        <a:srgbClr val="DEDC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EDC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EDC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EDC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chemeClr val="tx1"/>
                          </a:solidFill>
                          <a:latin typeface="Source Sans 3" pitchFamily="34" charset="0"/>
                          <a:ea typeface="Source Sans 3" pitchFamily="34" charset="-122"/>
                          <a:cs typeface="Source Sans 3" pitchFamily="34" charset="-120"/>
                        </a:rPr>
                        <a:t>Hari ke menit</a:t>
                      </a:r>
                      <a:endParaRPr lang="en-US" sz="1500" dirty="0">
                        <a:latin typeface="Source Sans 3" charset="0"/>
                        <a:ea typeface="Source Sans 3" charset="0"/>
                        <a:cs typeface="Source Sans 3" charset="0"/>
                      </a:endParaRPr>
                    </a:p>
                  </a:txBody>
                  <a:tcPr marL="109728" marR="109728" marT="0" marB="0" anchor="ctr">
                    <a:lnL w="9525" cap="flat" cmpd="sng" algn="ctr">
                      <a:solidFill>
                        <a:srgbClr val="DEDC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EDC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EDC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EDC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b="1" dirty="0">
                          <a:solidFill>
                            <a:schemeClr val="accent1"/>
                          </a:solidFill>
                          <a:latin typeface="Source Sans 3" pitchFamily="34" charset="0"/>
                          <a:ea typeface="Source Sans 3" pitchFamily="34" charset="-122"/>
                          <a:cs typeface="Source Sans 3" pitchFamily="34" charset="-120"/>
                        </a:rPr>
                        <a:t>Detik</a:t>
                      </a:r>
                      <a:endParaRPr lang="en-US" sz="1500" dirty="0">
                        <a:latin typeface="Source Sans 3" charset="0"/>
                        <a:ea typeface="Source Sans 3" charset="0"/>
                        <a:cs typeface="Source Sans 3" charset="0"/>
                      </a:endParaRPr>
                    </a:p>
                  </a:txBody>
                  <a:tcPr marL="109728" marR="109728" marT="0" marB="0" anchor="ctr">
                    <a:lnL w="9525" cap="flat" cmpd="sng" algn="ctr">
                      <a:solidFill>
                        <a:srgbClr val="DEDC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EDC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EDC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EDC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chemeClr val="tx1"/>
                          </a:solidFill>
                          <a:latin typeface="Source Sans 3" pitchFamily="34" charset="0"/>
                          <a:ea typeface="Source Sans 3" pitchFamily="34" charset="-122"/>
                          <a:cs typeface="Source Sans 3" pitchFamily="34" charset="-120"/>
                        </a:rPr>
                        <a:t>Uji alur kerja</a:t>
                      </a:r>
                      <a:endParaRPr lang="en-US" sz="1500" dirty="0">
                        <a:latin typeface="Source Sans 3" charset="0"/>
                        <a:ea typeface="Source Sans 3" charset="0"/>
                        <a:cs typeface="Source Sans 3" charset="0"/>
                      </a:endParaRPr>
                    </a:p>
                  </a:txBody>
                  <a:tcPr marL="109728" marR="109728" marT="0" marB="0" anchor="ctr">
                    <a:lnL w="9525" cap="flat" cmpd="sng" algn="ctr">
                      <a:solidFill>
                        <a:srgbClr val="DEDC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EDC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EDC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EDC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chemeClr val="tx1"/>
                          </a:solidFill>
                          <a:latin typeface="Source Sans 3" pitchFamily="34" charset="0"/>
                          <a:ea typeface="Source Sans 3" pitchFamily="34" charset="-122"/>
                          <a:cs typeface="Source Sans 3" pitchFamily="34" charset="-120"/>
                        </a:rPr>
                        <a:t>Salah tandai pada UMKM patuh</a:t>
                      </a:r>
                      <a:endParaRPr lang="en-US" sz="1500" dirty="0">
                        <a:latin typeface="Source Sans 3" charset="0"/>
                        <a:ea typeface="Source Sans 3" charset="0"/>
                        <a:cs typeface="Source Sans 3" charset="0"/>
                      </a:endParaRPr>
                    </a:p>
                  </a:txBody>
                  <a:tcPr marL="109728" marR="109728" marT="0" marB="0" anchor="ctr">
                    <a:lnL w="9525" cap="flat" cmpd="sng" algn="ctr">
                      <a:solidFill>
                        <a:srgbClr val="DEDC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EDC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EDC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EDC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chemeClr val="tx1"/>
                          </a:solidFill>
                          <a:latin typeface="Source Sans 3" pitchFamily="34" charset="0"/>
                          <a:ea typeface="Source Sans 3" pitchFamily="34" charset="-122"/>
                          <a:cs typeface="Source Sans 3" pitchFamily="34" charset="-120"/>
                        </a:rPr>
                        <a:t>≤ 5%</a:t>
                      </a:r>
                      <a:endParaRPr lang="en-US" sz="1500" dirty="0">
                        <a:latin typeface="Source Sans 3" charset="0"/>
                        <a:ea typeface="Source Sans 3" charset="0"/>
                        <a:cs typeface="Source Sans 3" charset="0"/>
                      </a:endParaRPr>
                    </a:p>
                  </a:txBody>
                  <a:tcPr marL="109728" marR="109728" marT="0" marB="0" anchor="ctr">
                    <a:lnL w="9525" cap="flat" cmpd="sng" algn="ctr">
                      <a:solidFill>
                        <a:srgbClr val="DEDC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EDC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EDC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EDC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b="1" dirty="0">
                          <a:solidFill>
                            <a:schemeClr val="accent1"/>
                          </a:solidFill>
                          <a:latin typeface="Source Sans 3" pitchFamily="34" charset="0"/>
                          <a:ea typeface="Source Sans 3" pitchFamily="34" charset="-122"/>
                          <a:cs typeface="Source Sans 3" pitchFamily="34" charset="-120"/>
                        </a:rPr>
                        <a:t>2,7%</a:t>
                      </a:r>
                      <a:endParaRPr lang="en-US" sz="1500" dirty="0">
                        <a:latin typeface="Source Sans 3" charset="0"/>
                        <a:ea typeface="Source Sans 3" charset="0"/>
                        <a:cs typeface="Source Sans 3" charset="0"/>
                      </a:endParaRPr>
                    </a:p>
                  </a:txBody>
                  <a:tcPr marL="109728" marR="109728" marT="0" marB="0" anchor="ctr">
                    <a:lnL w="9525" cap="flat" cmpd="sng" algn="ctr">
                      <a:solidFill>
                        <a:srgbClr val="DEDC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EDC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EDC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EDC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chemeClr val="tx1"/>
                          </a:solidFill>
                          <a:latin typeface="Source Sans 3" pitchFamily="34" charset="0"/>
                          <a:ea typeface="Source Sans 3" pitchFamily="34" charset="-122"/>
                          <a:cs typeface="Source Sans 3" pitchFamily="34" charset="-120"/>
                        </a:rPr>
                        <a:t>Uji bias per skala usaha</a:t>
                      </a:r>
                      <a:endParaRPr lang="en-US" sz="1500" dirty="0">
                        <a:latin typeface="Source Sans 3" charset="0"/>
                        <a:ea typeface="Source Sans 3" charset="0"/>
                        <a:cs typeface="Source Sans 3" charset="0"/>
                      </a:endParaRPr>
                    </a:p>
                  </a:txBody>
                  <a:tcPr marL="109728" marR="109728" marT="0" marB="0" anchor="ctr">
                    <a:lnL w="9525" cap="flat" cmpd="sng" algn="ctr">
                      <a:solidFill>
                        <a:srgbClr val="DEDC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EDC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EDC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EDC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</a:tr>
            </a:tbl>
          </a:graphicData>
        </a:graphic>
      </p:graphicFrame>
      <p:sp>
        <p:nvSpPr>
          <p:cNvPr id="5" name="kartu-253"/>
          <p:cNvSpPr/>
          <p:nvPr/>
        </p:nvSpPr>
        <p:spPr>
          <a:xfrm>
            <a:off x="685800" y="4846320"/>
            <a:ext cx="10820095" cy="777240"/>
          </a:xfrm>
          <a:prstGeom prst="roundRect">
            <a:avLst>
              <a:gd name="adj" fmla="val 14118"/>
            </a:avLst>
          </a:prstGeom>
          <a:solidFill>
            <a:schemeClr val="accent6"/>
          </a:solidFill>
          <a:ln/>
        </p:spPr>
      </p:sp>
      <p:pic>
        <p:nvPicPr>
          <p:cNvPr id="6" name="ikon-peringatan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60120" y="5074920"/>
            <a:ext cx="310896" cy="310896"/>
          </a:xfrm>
          <a:prstGeom prst="rect">
            <a:avLst/>
          </a:prstGeom>
        </p:spPr>
      </p:pic>
      <p:sp>
        <p:nvSpPr>
          <p:cNvPr id="7" name="catatan-metrik"/>
          <p:cNvSpPr txBox="1"/>
          <p:nvPr/>
        </p:nvSpPr>
        <p:spPr>
          <a:xfrm>
            <a:off x="1463040" y="4846320"/>
            <a:ext cx="9814255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chemeClr val="tx1"/>
                </a:solidFill>
              </a:rPr>
              <a:t>Semua angka adalah hasil pada </a:t>
            </a:r>
            <a:pPr indent="0" marL="0">
              <a:buNone/>
            </a:pPr>
            <a:r>
              <a:rPr lang="en-US" sz="1600" b="1" dirty="0">
                <a:solidFill>
                  <a:schemeClr val="tx1"/>
                </a:solidFill>
              </a:rPr>
              <a:t>data simulasi</a:t>
            </a:r>
            <a:pPr indent="0" marL="0">
              <a:buNone/>
            </a:pPr>
            <a:r>
              <a:rPr lang="en-US" sz="1600" dirty="0">
                <a:solidFill>
                  <a:schemeClr val="tx1"/>
                </a:solidFill>
              </a:rPr>
              <a:t>. Nilai riil baru diukur saat pilot.</a:t>
            </a:r>
            <a:endParaRPr lang="en-US" sz="16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957255" y="6327648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100">
                <a:solidFill>
                  <a:srgbClr val="5B6B70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16</a:t>
            </a:fld>
            <a:endParaRPr lang="en-US"/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body" hasCustomPrompt="1"/>
          </p:nvPr>
        </p:nvSpPr>
        <p:spPr>
          <a:xfrm>
            <a:off x="685800" y="566928"/>
            <a:ext cx="10820095" cy="292608"/>
          </a:xfrm>
          <a:prstGeom prst="rect">
            <a:avLst/>
          </a:prstGeom>
          <a:noFill/>
          <a:ln/>
        </p:spPr>
        <p:txBody>
          <a:bodyPr wrap="square" lIns="0" tIns="0" rIns="0" bIns="0" rtlCol="0"/>
          <a:lstStyle/>
          <a:p>
            <a:pPr indent="0" marL="0">
              <a:buNone/>
            </a:pPr>
            <a:r>
              <a:rPr lang="en-US" sz="1300" b="1" spc="200" kern="0" dirty="0">
                <a:solidFill>
                  <a:schemeClr val="accent1"/>
                </a:solidFill>
                <a:latin typeface="Source Sans 3" pitchFamily="34" charset="0"/>
                <a:ea typeface="Source Sans 3" pitchFamily="34" charset="-122"/>
                <a:cs typeface="Source Sans 3" pitchFamily="34" charset="-120"/>
              </a:rPr>
              <a:t>07 · PENERIMA MANFAAT</a:t>
            </a:r>
            <a:endParaRPr lang="en-US" sz="1300" dirty="0"/>
          </a:p>
        </p:txBody>
      </p:sp>
      <p:sp>
        <p:nvSpPr>
          <p:cNvPr id="3" name="Text 1"/>
          <p:cNvSpPr/>
          <p:nvPr>
            <p:ph idx="102" type="title" hasCustomPrompt="1"/>
          </p:nvPr>
        </p:nvSpPr>
        <p:spPr>
          <a:xfrm>
            <a:off x="685800" y="868680"/>
            <a:ext cx="10820095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4000" b="1" dirty="0">
                <a:solidFill>
                  <a:schemeClr val="tx1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Siapa yang diuntungkan</a:t>
            </a:r>
            <a:endParaRPr lang="en-US" sz="4000" dirty="0"/>
          </a:p>
        </p:txBody>
      </p:sp>
      <p:sp>
        <p:nvSpPr>
          <p:cNvPr id="4" name="kartu-254"/>
          <p:cNvSpPr/>
          <p:nvPr/>
        </p:nvSpPr>
        <p:spPr>
          <a:xfrm>
            <a:off x="685800" y="1828800"/>
            <a:ext cx="5272888" cy="1783080"/>
          </a:xfrm>
          <a:prstGeom prst="roundRect">
            <a:avLst>
              <a:gd name="adj" fmla="val 6154"/>
            </a:avLst>
          </a:prstGeom>
          <a:solidFill>
            <a:schemeClr val="bg1"/>
          </a:solidFill>
          <a:ln w="9525">
            <a:solidFill>
              <a:srgbClr val="DEDCD4"/>
            </a:solidFill>
            <a:prstDash val="solid"/>
          </a:ln>
        </p:spPr>
      </p:sp>
      <p:sp>
        <p:nvSpPr>
          <p:cNvPr id="5" name="lingkar-ikon-255"/>
          <p:cNvSpPr/>
          <p:nvPr/>
        </p:nvSpPr>
        <p:spPr>
          <a:xfrm>
            <a:off x="960120" y="2103120"/>
            <a:ext cx="566928" cy="566928"/>
          </a:xfrm>
          <a:prstGeom prst="ellipse">
            <a:avLst/>
          </a:prstGeom>
          <a:solidFill>
            <a:schemeClr val="accent6"/>
          </a:solidFill>
          <a:ln/>
        </p:spPr>
      </p:sp>
      <p:pic>
        <p:nvPicPr>
          <p:cNvPr id="6" name="ikon-256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96183" y="2239183"/>
            <a:ext cx="294803" cy="294803"/>
          </a:xfrm>
          <a:prstGeom prst="rect">
            <a:avLst/>
          </a:prstGeom>
        </p:spPr>
      </p:pic>
      <p:sp>
        <p:nvSpPr>
          <p:cNvPr id="7" name="teks-257"/>
          <p:cNvSpPr txBox="1"/>
          <p:nvPr/>
        </p:nvSpPr>
        <p:spPr>
          <a:xfrm>
            <a:off x="1783080" y="2121408"/>
            <a:ext cx="3901288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000" b="1" dirty="0">
                <a:solidFill>
                  <a:schemeClr val="tx1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BPJS Kesehatan</a:t>
            </a:r>
            <a:endParaRPr lang="en-US" sz="2000" dirty="0"/>
          </a:p>
        </p:txBody>
      </p:sp>
      <p:sp>
        <p:nvSpPr>
          <p:cNvPr id="8" name="teks-258"/>
          <p:cNvSpPr txBox="1"/>
          <p:nvPr/>
        </p:nvSpPr>
        <p:spPr>
          <a:xfrm>
            <a:off x="1783080" y="2578608"/>
            <a:ext cx="3901288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dirty="0">
                <a:solidFill>
                  <a:schemeClr val="accent5"/>
                </a:solidFill>
              </a:rPr>
              <a:t>Pemeriksaan lebih tepat sasaran, penerimaan iuran naik.</a:t>
            </a:r>
            <a:endParaRPr lang="en-US" sz="1600" dirty="0"/>
          </a:p>
        </p:txBody>
      </p:sp>
      <p:sp>
        <p:nvSpPr>
          <p:cNvPr id="9" name="kartu-259"/>
          <p:cNvSpPr/>
          <p:nvPr/>
        </p:nvSpPr>
        <p:spPr>
          <a:xfrm>
            <a:off x="6233008" y="1828800"/>
            <a:ext cx="5272888" cy="1783080"/>
          </a:xfrm>
          <a:prstGeom prst="roundRect">
            <a:avLst>
              <a:gd name="adj" fmla="val 6154"/>
            </a:avLst>
          </a:prstGeom>
          <a:solidFill>
            <a:schemeClr val="bg1"/>
          </a:solidFill>
          <a:ln w="9525">
            <a:solidFill>
              <a:srgbClr val="DEDCD4"/>
            </a:solidFill>
            <a:prstDash val="solid"/>
          </a:ln>
        </p:spPr>
      </p:sp>
      <p:sp>
        <p:nvSpPr>
          <p:cNvPr id="10" name="lingkar-ikon-260"/>
          <p:cNvSpPr/>
          <p:nvPr/>
        </p:nvSpPr>
        <p:spPr>
          <a:xfrm>
            <a:off x="6507328" y="2103120"/>
            <a:ext cx="566928" cy="566928"/>
          </a:xfrm>
          <a:prstGeom prst="ellipse">
            <a:avLst/>
          </a:prstGeom>
          <a:solidFill>
            <a:schemeClr val="accent6"/>
          </a:solidFill>
          <a:ln/>
        </p:spPr>
      </p:sp>
      <p:pic>
        <p:nvPicPr>
          <p:cNvPr id="11" name="ikon-26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643390" y="2239183"/>
            <a:ext cx="294803" cy="294803"/>
          </a:xfrm>
          <a:prstGeom prst="rect">
            <a:avLst/>
          </a:prstGeom>
        </p:spPr>
      </p:pic>
      <p:sp>
        <p:nvSpPr>
          <p:cNvPr id="12" name="teks-262"/>
          <p:cNvSpPr txBox="1"/>
          <p:nvPr/>
        </p:nvSpPr>
        <p:spPr>
          <a:xfrm>
            <a:off x="7330288" y="2121408"/>
            <a:ext cx="3901288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000" b="1" dirty="0">
                <a:solidFill>
                  <a:schemeClr val="tx1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Pekerja</a:t>
            </a:r>
            <a:endParaRPr lang="en-US" sz="2000" dirty="0"/>
          </a:p>
        </p:txBody>
      </p:sp>
      <p:sp>
        <p:nvSpPr>
          <p:cNvPr id="13" name="teks-263"/>
          <p:cNvSpPr txBox="1"/>
          <p:nvPr/>
        </p:nvSpPr>
        <p:spPr>
          <a:xfrm>
            <a:off x="7330288" y="2578608"/>
            <a:ext cx="3901288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dirty="0">
                <a:solidFill>
                  <a:schemeClr val="accent5"/>
                </a:solidFill>
              </a:rPr>
              <a:t>Terdaftar sesuai upah dan status sebenarnya, tidak dipindah diam-diam ke segmen mandiri.</a:t>
            </a:r>
            <a:endParaRPr lang="en-US" sz="1600" dirty="0"/>
          </a:p>
        </p:txBody>
      </p:sp>
      <p:sp>
        <p:nvSpPr>
          <p:cNvPr id="14" name="kartu-264"/>
          <p:cNvSpPr/>
          <p:nvPr/>
        </p:nvSpPr>
        <p:spPr>
          <a:xfrm>
            <a:off x="685800" y="3840480"/>
            <a:ext cx="5272888" cy="1783080"/>
          </a:xfrm>
          <a:prstGeom prst="roundRect">
            <a:avLst>
              <a:gd name="adj" fmla="val 6154"/>
            </a:avLst>
          </a:prstGeom>
          <a:solidFill>
            <a:schemeClr val="bg1"/>
          </a:solidFill>
          <a:ln w="9525">
            <a:solidFill>
              <a:srgbClr val="DEDCD4"/>
            </a:solidFill>
            <a:prstDash val="solid"/>
          </a:ln>
        </p:spPr>
      </p:sp>
      <p:sp>
        <p:nvSpPr>
          <p:cNvPr id="15" name="lingkar-ikon-265"/>
          <p:cNvSpPr/>
          <p:nvPr/>
        </p:nvSpPr>
        <p:spPr>
          <a:xfrm>
            <a:off x="960120" y="4114800"/>
            <a:ext cx="566928" cy="566928"/>
          </a:xfrm>
          <a:prstGeom prst="ellipse">
            <a:avLst/>
          </a:prstGeom>
          <a:solidFill>
            <a:schemeClr val="accent6"/>
          </a:solidFill>
          <a:ln/>
        </p:spPr>
      </p:sp>
      <p:pic>
        <p:nvPicPr>
          <p:cNvPr id="16" name="ikon-266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96183" y="4250863"/>
            <a:ext cx="294803" cy="294803"/>
          </a:xfrm>
          <a:prstGeom prst="rect">
            <a:avLst/>
          </a:prstGeom>
        </p:spPr>
      </p:pic>
      <p:sp>
        <p:nvSpPr>
          <p:cNvPr id="17" name="teks-267"/>
          <p:cNvSpPr txBox="1"/>
          <p:nvPr/>
        </p:nvSpPr>
        <p:spPr>
          <a:xfrm>
            <a:off x="1783080" y="4133088"/>
            <a:ext cx="3901288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000" b="1" dirty="0">
                <a:solidFill>
                  <a:schemeClr val="tx1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Pemberi kerja yang patuh</a:t>
            </a:r>
            <a:endParaRPr lang="en-US" sz="2000" dirty="0"/>
          </a:p>
        </p:txBody>
      </p:sp>
      <p:sp>
        <p:nvSpPr>
          <p:cNvPr id="18" name="teks-268"/>
          <p:cNvSpPr txBox="1"/>
          <p:nvPr/>
        </p:nvSpPr>
        <p:spPr>
          <a:xfrm>
            <a:off x="1783080" y="4590288"/>
            <a:ext cx="3901288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dirty="0">
                <a:solidFill>
                  <a:schemeClr val="accent5"/>
                </a:solidFill>
              </a:rPr>
              <a:t>Persaingan lebih adil, dan tidak diperiksa tanpa alasan yang jelas.</a:t>
            </a:r>
            <a:endParaRPr lang="en-US" sz="1600" dirty="0"/>
          </a:p>
        </p:txBody>
      </p:sp>
      <p:sp>
        <p:nvSpPr>
          <p:cNvPr id="19" name="kartu-269"/>
          <p:cNvSpPr/>
          <p:nvPr/>
        </p:nvSpPr>
        <p:spPr>
          <a:xfrm>
            <a:off x="6233008" y="3840480"/>
            <a:ext cx="5272888" cy="1783080"/>
          </a:xfrm>
          <a:prstGeom prst="roundRect">
            <a:avLst>
              <a:gd name="adj" fmla="val 6154"/>
            </a:avLst>
          </a:prstGeom>
          <a:solidFill>
            <a:schemeClr val="bg1"/>
          </a:solidFill>
          <a:ln w="9525">
            <a:solidFill>
              <a:srgbClr val="DEDCD4"/>
            </a:solidFill>
            <a:prstDash val="solid"/>
          </a:ln>
        </p:spPr>
      </p:sp>
      <p:sp>
        <p:nvSpPr>
          <p:cNvPr id="20" name="lingkar-ikon-270"/>
          <p:cNvSpPr/>
          <p:nvPr/>
        </p:nvSpPr>
        <p:spPr>
          <a:xfrm>
            <a:off x="6507328" y="4114800"/>
            <a:ext cx="566928" cy="566928"/>
          </a:xfrm>
          <a:prstGeom prst="ellipse">
            <a:avLst/>
          </a:prstGeom>
          <a:solidFill>
            <a:schemeClr val="accent6"/>
          </a:solidFill>
          <a:ln/>
        </p:spPr>
      </p:sp>
      <p:pic>
        <p:nvPicPr>
          <p:cNvPr id="21" name="ikon-271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643390" y="4250863"/>
            <a:ext cx="294803" cy="294803"/>
          </a:xfrm>
          <a:prstGeom prst="rect">
            <a:avLst/>
          </a:prstGeom>
        </p:spPr>
      </p:pic>
      <p:sp>
        <p:nvSpPr>
          <p:cNvPr id="22" name="teks-272"/>
          <p:cNvSpPr txBox="1"/>
          <p:nvPr/>
        </p:nvSpPr>
        <p:spPr>
          <a:xfrm>
            <a:off x="7330288" y="4133088"/>
            <a:ext cx="3901288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000" b="1" dirty="0">
                <a:solidFill>
                  <a:schemeClr val="tx1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Sistem JKN</a:t>
            </a:r>
            <a:endParaRPr lang="en-US" sz="2000" dirty="0"/>
          </a:p>
        </p:txBody>
      </p:sp>
      <p:sp>
        <p:nvSpPr>
          <p:cNvPr id="23" name="teks-273"/>
          <p:cNvSpPr txBox="1"/>
          <p:nvPr/>
        </p:nvSpPr>
        <p:spPr>
          <a:xfrm>
            <a:off x="7330288" y="4590288"/>
            <a:ext cx="3901288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dirty="0">
                <a:solidFill>
                  <a:schemeClr val="accent5"/>
                </a:solidFill>
              </a:rPr>
              <a:t>Dana lebih berkelanjutan, gotong royong lebih adil.</a:t>
            </a:r>
            <a:endParaRPr lang="en-US" sz="16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957255" y="6327648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100">
                <a:solidFill>
                  <a:srgbClr val="5B6B70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17</a:t>
            </a:fld>
            <a:endParaRPr lang="en-US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body" hasCustomPrompt="1"/>
          </p:nvPr>
        </p:nvSpPr>
        <p:spPr>
          <a:xfrm>
            <a:off x="685800" y="566928"/>
            <a:ext cx="10820095" cy="292608"/>
          </a:xfrm>
          <a:prstGeom prst="rect">
            <a:avLst/>
          </a:prstGeom>
          <a:noFill/>
          <a:ln/>
        </p:spPr>
        <p:txBody>
          <a:bodyPr wrap="square" lIns="0" tIns="0" rIns="0" bIns="0" rtlCol="0"/>
          <a:lstStyle/>
          <a:p>
            <a:pPr indent="0" marL="0">
              <a:buNone/>
            </a:pPr>
            <a:r>
              <a:rPr lang="en-US" sz="1300" b="1" spc="200" kern="0" dirty="0">
                <a:solidFill>
                  <a:schemeClr val="accent1"/>
                </a:solidFill>
                <a:latin typeface="Source Sans 3" pitchFamily="34" charset="0"/>
                <a:ea typeface="Source Sans 3" pitchFamily="34" charset="-122"/>
                <a:cs typeface="Source Sans 3" pitchFamily="34" charset="-120"/>
              </a:rPr>
              <a:t>08 · RISIKO, PRIVASI &amp; ETIKA</a:t>
            </a:r>
            <a:endParaRPr lang="en-US" sz="1300" dirty="0"/>
          </a:p>
        </p:txBody>
      </p:sp>
      <p:sp>
        <p:nvSpPr>
          <p:cNvPr id="3" name="Text 1"/>
          <p:cNvSpPr/>
          <p:nvPr>
            <p:ph idx="102" type="title" hasCustomPrompt="1"/>
          </p:nvPr>
        </p:nvSpPr>
        <p:spPr>
          <a:xfrm>
            <a:off x="685800" y="868680"/>
            <a:ext cx="10820095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4000" b="1" dirty="0">
                <a:solidFill>
                  <a:schemeClr val="tx1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Dirancang aman sejak awal</a:t>
            </a:r>
            <a:endParaRPr lang="en-US" sz="4000" dirty="0"/>
          </a:p>
        </p:txBody>
      </p:sp>
      <p:sp>
        <p:nvSpPr>
          <p:cNvPr id="4" name="kartu-274"/>
          <p:cNvSpPr/>
          <p:nvPr/>
        </p:nvSpPr>
        <p:spPr>
          <a:xfrm>
            <a:off x="685800" y="1783080"/>
            <a:ext cx="5272888" cy="1874520"/>
          </a:xfrm>
          <a:prstGeom prst="roundRect">
            <a:avLst>
              <a:gd name="adj" fmla="val 5854"/>
            </a:avLst>
          </a:prstGeom>
          <a:solidFill>
            <a:schemeClr val="bg1"/>
          </a:solidFill>
          <a:ln w="9525">
            <a:solidFill>
              <a:srgbClr val="DEDCD4"/>
            </a:solidFill>
            <a:prstDash val="solid"/>
          </a:ln>
        </p:spPr>
      </p:sp>
      <p:sp>
        <p:nvSpPr>
          <p:cNvPr id="5" name="lingkar-ikon-275"/>
          <p:cNvSpPr/>
          <p:nvPr/>
        </p:nvSpPr>
        <p:spPr>
          <a:xfrm>
            <a:off x="960120" y="2011680"/>
            <a:ext cx="457200" cy="457200"/>
          </a:xfrm>
          <a:prstGeom prst="ellipse">
            <a:avLst/>
          </a:prstGeom>
          <a:solidFill>
            <a:schemeClr val="accent6"/>
          </a:solidFill>
          <a:ln/>
        </p:spPr>
      </p:sp>
      <p:pic>
        <p:nvPicPr>
          <p:cNvPr id="6" name="ikon-276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69848" y="2121408"/>
            <a:ext cx="237744" cy="237744"/>
          </a:xfrm>
          <a:prstGeom prst="rect">
            <a:avLst/>
          </a:prstGeom>
        </p:spPr>
      </p:pic>
      <p:sp>
        <p:nvSpPr>
          <p:cNvPr id="7" name="teks-277"/>
          <p:cNvSpPr txBox="1"/>
          <p:nvPr/>
        </p:nvSpPr>
        <p:spPr>
          <a:xfrm>
            <a:off x="1554480" y="2039112"/>
            <a:ext cx="417560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b="1" dirty="0">
                <a:solidFill>
                  <a:schemeClr val="tx1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Perlindungan data (UU PDP)</a:t>
            </a:r>
            <a:endParaRPr lang="en-US" sz="1800" dirty="0"/>
          </a:p>
        </p:txBody>
      </p:sp>
      <p:sp>
        <p:nvSpPr>
          <p:cNvPr id="8" name="teks-278"/>
          <p:cNvSpPr txBox="1"/>
          <p:nvPr/>
        </p:nvSpPr>
        <p:spPr>
          <a:xfrm>
            <a:off x="960120" y="2560320"/>
            <a:ext cx="4769968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203200" indent="-203200">
              <a:spcAft>
                <a:spcPts val="300"/>
              </a:spcAft>
              <a:buSzPct val="100000"/>
              <a:buChar char="•"/>
            </a:pPr>
            <a:r>
              <a:rPr lang="en-US" sz="1400" dirty="0">
                <a:solidFill>
                  <a:schemeClr val="tx1"/>
                </a:solidFill>
              </a:rPr>
              <a:t>Prototype 100% data sintetis</a:t>
            </a:r>
            <a:endParaRPr lang="en-US" sz="1400" dirty="0"/>
          </a:p>
          <a:p>
            <a:pPr marL="203200" indent="-203200">
              <a:spcAft>
                <a:spcPts val="300"/>
              </a:spcAft>
              <a:buSzPct val="100000"/>
              <a:buChar char="•"/>
            </a:pPr>
            <a:r>
              <a:rPr lang="en-US" sz="1400" dirty="0">
                <a:solidFill>
                  <a:schemeClr val="tx1"/>
                </a:solidFill>
              </a:rPr>
              <a:t>Analisis agregat per badan usaha, NIK dipseudonimisasi</a:t>
            </a:r>
            <a:endParaRPr lang="en-US" sz="1400" dirty="0"/>
          </a:p>
          <a:p>
            <a:pPr marL="203200" indent="-203200">
              <a:spcAft>
                <a:spcPts val="300"/>
              </a:spcAft>
              <a:buSzPct val="100000"/>
              <a:buChar char="•"/>
            </a:pPr>
            <a:r>
              <a:rPr lang="en-US" sz="1400" dirty="0">
                <a:solidFill>
                  <a:schemeClr val="tx1"/>
                </a:solidFill>
              </a:rPr>
              <a:t>Enkripsi, akses berbasis peran, audit log</a:t>
            </a:r>
            <a:endParaRPr lang="en-US" sz="1400" dirty="0"/>
          </a:p>
        </p:txBody>
      </p:sp>
      <p:sp>
        <p:nvSpPr>
          <p:cNvPr id="9" name="kartu-279"/>
          <p:cNvSpPr/>
          <p:nvPr/>
        </p:nvSpPr>
        <p:spPr>
          <a:xfrm>
            <a:off x="6233008" y="1783080"/>
            <a:ext cx="5272888" cy="1874520"/>
          </a:xfrm>
          <a:prstGeom prst="roundRect">
            <a:avLst>
              <a:gd name="adj" fmla="val 5854"/>
            </a:avLst>
          </a:prstGeom>
          <a:solidFill>
            <a:schemeClr val="bg1"/>
          </a:solidFill>
          <a:ln w="9525">
            <a:solidFill>
              <a:srgbClr val="DEDCD4"/>
            </a:solidFill>
            <a:prstDash val="solid"/>
          </a:ln>
        </p:spPr>
      </p:sp>
      <p:sp>
        <p:nvSpPr>
          <p:cNvPr id="10" name="lingkar-ikon-280"/>
          <p:cNvSpPr/>
          <p:nvPr/>
        </p:nvSpPr>
        <p:spPr>
          <a:xfrm>
            <a:off x="6507328" y="2011680"/>
            <a:ext cx="457200" cy="457200"/>
          </a:xfrm>
          <a:prstGeom prst="ellipse">
            <a:avLst/>
          </a:prstGeom>
          <a:solidFill>
            <a:schemeClr val="accent6"/>
          </a:solidFill>
          <a:ln/>
        </p:spPr>
      </p:sp>
      <p:pic>
        <p:nvPicPr>
          <p:cNvPr id="11" name="ikon-28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617056" y="2121408"/>
            <a:ext cx="237744" cy="237744"/>
          </a:xfrm>
          <a:prstGeom prst="rect">
            <a:avLst/>
          </a:prstGeom>
        </p:spPr>
      </p:pic>
      <p:sp>
        <p:nvSpPr>
          <p:cNvPr id="12" name="teks-282"/>
          <p:cNvSpPr txBox="1"/>
          <p:nvPr/>
        </p:nvSpPr>
        <p:spPr>
          <a:xfrm>
            <a:off x="7101688" y="2039112"/>
            <a:ext cx="417560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b="1" dirty="0">
                <a:solidFill>
                  <a:schemeClr val="tx1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Bias &amp; keterbatasan</a:t>
            </a:r>
            <a:endParaRPr lang="en-US" sz="1800" dirty="0"/>
          </a:p>
        </p:txBody>
      </p:sp>
      <p:sp>
        <p:nvSpPr>
          <p:cNvPr id="13" name="teks-283"/>
          <p:cNvSpPr txBox="1"/>
          <p:nvPr/>
        </p:nvSpPr>
        <p:spPr>
          <a:xfrm>
            <a:off x="6507328" y="2560320"/>
            <a:ext cx="4769968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203200" indent="-203200">
              <a:spcAft>
                <a:spcPts val="300"/>
              </a:spcAft>
              <a:buSzPct val="100000"/>
              <a:buChar char="•"/>
            </a:pPr>
            <a:r>
              <a:rPr lang="en-US" sz="1400" dirty="0">
                <a:solidFill>
                  <a:schemeClr val="tx1"/>
                </a:solidFill>
              </a:rPr>
              <a:t>UMKM dikecualikan dari upah minimum (PP 36/2021): aturan dibedakan per skala</a:t>
            </a:r>
            <a:endParaRPr lang="en-US" sz="1400" dirty="0"/>
          </a:p>
          <a:p>
            <a:pPr marL="203200" indent="-203200">
              <a:spcAft>
                <a:spcPts val="300"/>
              </a:spcAft>
              <a:buSzPct val="100000"/>
              <a:buChar char="•"/>
            </a:pPr>
            <a:r>
              <a:rPr lang="en-US" sz="1400" dirty="0">
                <a:solidFill>
                  <a:schemeClr val="tx1"/>
                </a:solidFill>
              </a:rPr>
              <a:t>Wilayah minim data diberi keyakinan rendah</a:t>
            </a:r>
            <a:endParaRPr lang="en-US" sz="1400" dirty="0"/>
          </a:p>
        </p:txBody>
      </p:sp>
      <p:sp>
        <p:nvSpPr>
          <p:cNvPr id="14" name="kartu-284"/>
          <p:cNvSpPr/>
          <p:nvPr/>
        </p:nvSpPr>
        <p:spPr>
          <a:xfrm>
            <a:off x="685800" y="3840480"/>
            <a:ext cx="5272888" cy="1874520"/>
          </a:xfrm>
          <a:prstGeom prst="roundRect">
            <a:avLst>
              <a:gd name="adj" fmla="val 5854"/>
            </a:avLst>
          </a:prstGeom>
          <a:solidFill>
            <a:schemeClr val="bg1"/>
          </a:solidFill>
          <a:ln w="9525">
            <a:solidFill>
              <a:srgbClr val="DEDCD4"/>
            </a:solidFill>
            <a:prstDash val="solid"/>
          </a:ln>
        </p:spPr>
      </p:sp>
      <p:sp>
        <p:nvSpPr>
          <p:cNvPr id="15" name="lingkar-ikon-285"/>
          <p:cNvSpPr/>
          <p:nvPr/>
        </p:nvSpPr>
        <p:spPr>
          <a:xfrm>
            <a:off x="960120" y="4069080"/>
            <a:ext cx="457200" cy="457200"/>
          </a:xfrm>
          <a:prstGeom prst="ellipse">
            <a:avLst/>
          </a:prstGeom>
          <a:solidFill>
            <a:schemeClr val="accent6"/>
          </a:solidFill>
          <a:ln/>
        </p:spPr>
      </p:sp>
      <p:pic>
        <p:nvPicPr>
          <p:cNvPr id="16" name="ikon-286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69848" y="4178808"/>
            <a:ext cx="237744" cy="237744"/>
          </a:xfrm>
          <a:prstGeom prst="rect">
            <a:avLst/>
          </a:prstGeom>
        </p:spPr>
      </p:pic>
      <p:sp>
        <p:nvSpPr>
          <p:cNvPr id="17" name="teks-287"/>
          <p:cNvSpPr txBox="1"/>
          <p:nvPr/>
        </p:nvSpPr>
        <p:spPr>
          <a:xfrm>
            <a:off x="1554480" y="4096512"/>
            <a:ext cx="417560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b="1" dirty="0">
                <a:solidFill>
                  <a:schemeClr val="tx1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Human-in-the-loop</a:t>
            </a:r>
            <a:endParaRPr lang="en-US" sz="1800" dirty="0"/>
          </a:p>
        </p:txBody>
      </p:sp>
      <p:sp>
        <p:nvSpPr>
          <p:cNvPr id="18" name="teks-288"/>
          <p:cNvSpPr txBox="1"/>
          <p:nvPr/>
        </p:nvSpPr>
        <p:spPr>
          <a:xfrm>
            <a:off x="960120" y="4617720"/>
            <a:ext cx="4769968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203200" indent="-203200">
              <a:spcAft>
                <a:spcPts val="300"/>
              </a:spcAft>
              <a:buSzPct val="100000"/>
              <a:buChar char="•"/>
            </a:pPr>
            <a:r>
              <a:rPr lang="en-US" sz="1400" dirty="0">
                <a:solidFill>
                  <a:schemeClr val="tx1"/>
                </a:solidFill>
              </a:rPr>
              <a:t>PayRay hanya mengurutkan prioritas</a:t>
            </a:r>
            <a:endParaRPr lang="en-US" sz="1400" dirty="0"/>
          </a:p>
          <a:p>
            <a:pPr marL="203200" indent="-203200">
              <a:spcAft>
                <a:spcPts val="300"/>
              </a:spcAft>
              <a:buSzPct val="100000"/>
              <a:buChar char="•"/>
            </a:pPr>
            <a:r>
              <a:rPr lang="en-US" sz="1400" dirty="0">
                <a:solidFill>
                  <a:schemeClr val="tx1"/>
                </a:solidFill>
              </a:rPr>
              <a:t>Keputusan pemeriksaan &amp; sanksi tetap di petugas</a:t>
            </a:r>
            <a:endParaRPr lang="en-US" sz="1400" dirty="0"/>
          </a:p>
          <a:p>
            <a:pPr marL="203200" indent="-203200">
              <a:spcAft>
                <a:spcPts val="300"/>
              </a:spcAft>
              <a:buSzPct val="100000"/>
              <a:buChar char="•"/>
            </a:pPr>
            <a:r>
              <a:rPr lang="en-US" sz="1400" dirty="0">
                <a:solidFill>
                  <a:schemeClr val="tx1"/>
                </a:solidFill>
              </a:rPr>
              <a:t>Hasil pemeriksaan kembali jadi label</a:t>
            </a:r>
            <a:endParaRPr lang="en-US" sz="1400" dirty="0"/>
          </a:p>
        </p:txBody>
      </p:sp>
      <p:sp>
        <p:nvSpPr>
          <p:cNvPr id="19" name="kartu-289"/>
          <p:cNvSpPr/>
          <p:nvPr/>
        </p:nvSpPr>
        <p:spPr>
          <a:xfrm>
            <a:off x="6233008" y="3840480"/>
            <a:ext cx="5272888" cy="1874520"/>
          </a:xfrm>
          <a:prstGeom prst="roundRect">
            <a:avLst>
              <a:gd name="adj" fmla="val 5854"/>
            </a:avLst>
          </a:prstGeom>
          <a:solidFill>
            <a:schemeClr val="bg1"/>
          </a:solidFill>
          <a:ln w="9525">
            <a:solidFill>
              <a:srgbClr val="DEDCD4"/>
            </a:solidFill>
            <a:prstDash val="solid"/>
          </a:ln>
        </p:spPr>
      </p:sp>
      <p:sp>
        <p:nvSpPr>
          <p:cNvPr id="20" name="lingkar-ikon-290"/>
          <p:cNvSpPr/>
          <p:nvPr/>
        </p:nvSpPr>
        <p:spPr>
          <a:xfrm>
            <a:off x="6507328" y="4069080"/>
            <a:ext cx="457200" cy="457200"/>
          </a:xfrm>
          <a:prstGeom prst="ellipse">
            <a:avLst/>
          </a:prstGeom>
          <a:solidFill>
            <a:schemeClr val="accent6"/>
          </a:solidFill>
          <a:ln/>
        </p:spPr>
      </p:sp>
      <p:pic>
        <p:nvPicPr>
          <p:cNvPr id="21" name="ikon-291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617056" y="4178808"/>
            <a:ext cx="237744" cy="237744"/>
          </a:xfrm>
          <a:prstGeom prst="rect">
            <a:avLst/>
          </a:prstGeom>
        </p:spPr>
      </p:pic>
      <p:sp>
        <p:nvSpPr>
          <p:cNvPr id="22" name="teks-292"/>
          <p:cNvSpPr txBox="1"/>
          <p:nvPr/>
        </p:nvSpPr>
        <p:spPr>
          <a:xfrm>
            <a:off x="7101688" y="4096512"/>
            <a:ext cx="417560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b="1" dirty="0">
                <a:solidFill>
                  <a:schemeClr val="tx1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Mitigasi risiko utama</a:t>
            </a:r>
            <a:endParaRPr lang="en-US" sz="1800" dirty="0"/>
          </a:p>
        </p:txBody>
      </p:sp>
      <p:sp>
        <p:nvSpPr>
          <p:cNvPr id="23" name="teks-293"/>
          <p:cNvSpPr txBox="1"/>
          <p:nvPr/>
        </p:nvSpPr>
        <p:spPr>
          <a:xfrm>
            <a:off x="6507328" y="4617720"/>
            <a:ext cx="4769968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203200" indent="-203200">
              <a:spcAft>
                <a:spcPts val="300"/>
              </a:spcAft>
              <a:buSzPct val="100000"/>
              <a:buChar char="•"/>
            </a:pPr>
            <a:r>
              <a:rPr lang="en-US" sz="1400" dirty="0">
                <a:solidFill>
                  <a:schemeClr val="tx1"/>
                </a:solidFill>
              </a:rPr>
              <a:t>Salah tandai → ambang skor + review petugas</a:t>
            </a:r>
            <a:endParaRPr lang="en-US" sz="1400" dirty="0"/>
          </a:p>
          <a:p>
            <a:pPr marL="203200" indent="-203200">
              <a:spcAft>
                <a:spcPts val="300"/>
              </a:spcAft>
              <a:buSzPct val="100000"/>
              <a:buChar char="•"/>
            </a:pPr>
            <a:r>
              <a:rPr lang="en-US" sz="1400" dirty="0">
                <a:solidFill>
                  <a:schemeClr val="tx1"/>
                </a:solidFill>
              </a:rPr>
              <a:t>Model usang → retrain berkala dari umpan balik</a:t>
            </a:r>
            <a:endParaRPr lang="en-US" sz="1400" dirty="0"/>
          </a:p>
          <a:p>
            <a:pPr marL="203200" indent="-203200">
              <a:spcAft>
                <a:spcPts val="300"/>
              </a:spcAft>
              <a:buSzPct val="100000"/>
              <a:buChar char="•"/>
            </a:pPr>
            <a:r>
              <a:rPr lang="en-US" sz="1400" dirty="0">
                <a:solidFill>
                  <a:schemeClr val="tx1"/>
                </a:solidFill>
              </a:rPr>
              <a:t>Kebocoran data → minimisasi data + enkripsi</a:t>
            </a:r>
            <a:endParaRPr lang="en-US" sz="1400" dirty="0"/>
          </a:p>
        </p:txBody>
      </p:sp>
      <p:sp>
        <p:nvSpPr>
          <p:cNvPr id="24" name="teks-294"/>
          <p:cNvSpPr txBox="1"/>
          <p:nvPr/>
        </p:nvSpPr>
        <p:spPr>
          <a:xfrm>
            <a:off x="685800" y="5943600"/>
            <a:ext cx="10820095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chemeClr val="accent1"/>
                </a:solidFill>
              </a:rPr>
              <a:t>Tidak menggunakan data peserta JKN riil tanpa izin resmi dari pihak berwenang.</a:t>
            </a:r>
            <a:endParaRPr lang="en-US" sz="14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957255" y="6327648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100">
                <a:solidFill>
                  <a:srgbClr val="5B6B70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18</a:t>
            </a:fld>
            <a:endParaRPr lang="en-US"/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body" hasCustomPrompt="1"/>
          </p:nvPr>
        </p:nvSpPr>
        <p:spPr>
          <a:xfrm>
            <a:off x="685800" y="566928"/>
            <a:ext cx="10820095" cy="292608"/>
          </a:xfrm>
          <a:prstGeom prst="rect">
            <a:avLst/>
          </a:prstGeom>
          <a:noFill/>
          <a:ln/>
        </p:spPr>
        <p:txBody>
          <a:bodyPr wrap="square" lIns="0" tIns="0" rIns="0" bIns="0" rtlCol="0"/>
          <a:lstStyle/>
          <a:p>
            <a:pPr indent="0" marL="0">
              <a:buNone/>
            </a:pPr>
            <a:r>
              <a:rPr lang="en-US" sz="1300" b="1" spc="200" kern="0" dirty="0">
                <a:solidFill>
                  <a:schemeClr val="accent1"/>
                </a:solidFill>
                <a:latin typeface="Source Sans 3" pitchFamily="34" charset="0"/>
                <a:ea typeface="Source Sans 3" pitchFamily="34" charset="-122"/>
                <a:cs typeface="Source Sans 3" pitchFamily="34" charset="-120"/>
              </a:rPr>
              <a:t>09 · PROFIL TIM · PLAN WITH US</a:t>
            </a:r>
            <a:endParaRPr lang="en-US" sz="1300" dirty="0"/>
          </a:p>
        </p:txBody>
      </p:sp>
      <p:sp>
        <p:nvSpPr>
          <p:cNvPr id="3" name="Text 1"/>
          <p:cNvSpPr/>
          <p:nvPr>
            <p:ph idx="102" type="title" hasCustomPrompt="1"/>
          </p:nvPr>
        </p:nvSpPr>
        <p:spPr>
          <a:xfrm>
            <a:off x="685800" y="868680"/>
            <a:ext cx="10820095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4000" b="1" dirty="0">
                <a:solidFill>
                  <a:schemeClr val="tx1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Teknis, data, dan produk</a:t>
            </a:r>
            <a:endParaRPr lang="en-US" sz="4000" dirty="0"/>
          </a:p>
        </p:txBody>
      </p:sp>
      <p:sp>
        <p:nvSpPr>
          <p:cNvPr id="4" name="kartu-295"/>
          <p:cNvSpPr/>
          <p:nvPr/>
        </p:nvSpPr>
        <p:spPr>
          <a:xfrm>
            <a:off x="685800" y="1828800"/>
            <a:ext cx="3423818" cy="3703320"/>
          </a:xfrm>
          <a:prstGeom prst="roundRect">
            <a:avLst>
              <a:gd name="adj" fmla="val 3205"/>
            </a:avLst>
          </a:prstGeom>
          <a:solidFill>
            <a:schemeClr val="bg1"/>
          </a:solidFill>
          <a:ln w="9525">
            <a:solidFill>
              <a:srgbClr val="DEDCD4"/>
            </a:solidFill>
            <a:prstDash val="solid"/>
          </a:ln>
        </p:spPr>
      </p:sp>
      <p:sp>
        <p:nvSpPr>
          <p:cNvPr id="5" name="avatar-296"/>
          <p:cNvSpPr/>
          <p:nvPr/>
        </p:nvSpPr>
        <p:spPr>
          <a:xfrm>
            <a:off x="960120" y="2103120"/>
            <a:ext cx="685800" cy="685800"/>
          </a:xfrm>
          <a:prstGeom prst="ellipse">
            <a:avLst/>
          </a:prstGeom>
          <a:solidFill>
            <a:srgbClr val="1B7F57"/>
          </a:solidFill>
          <a:ln/>
        </p:spPr>
      </p:sp>
      <p:sp>
        <p:nvSpPr>
          <p:cNvPr id="6" name="teks-297"/>
          <p:cNvSpPr txBox="1"/>
          <p:nvPr/>
        </p:nvSpPr>
        <p:spPr>
          <a:xfrm>
            <a:off x="960120" y="2103120"/>
            <a:ext cx="68580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chemeClr val="bg1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RH</a:t>
            </a:r>
            <a:endParaRPr lang="en-US" sz="2400" dirty="0"/>
          </a:p>
        </p:txBody>
      </p:sp>
      <p:pic>
        <p:nvPicPr>
          <p:cNvPr id="7" name="ikon-linkedin-298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828800" y="2331720"/>
            <a:ext cx="219456" cy="219456"/>
          </a:xfrm>
          <a:prstGeom prst="rect">
            <a:avLst/>
          </a:prstGeom>
        </p:spPr>
      </p:pic>
      <p:sp>
        <p:nvSpPr>
          <p:cNvPr id="8" name="teks-299"/>
          <p:cNvSpPr txBox="1"/>
          <p:nvPr/>
        </p:nvSpPr>
        <p:spPr>
          <a:xfrm>
            <a:off x="2103120" y="2286000"/>
            <a:ext cx="1777898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u="sng" dirty="0">
                <a:solidFill>
                  <a:schemeClr val="accent1"/>
                </a:solidFill>
                <a:hlinkClick r:id="rId2" invalidUrl="" action="" tgtFrame="" tooltip="LinkedIn Rachdian Habi Yahya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/in/rachdiaaan</a:t>
            </a:r>
            <a:endParaRPr lang="en-US" sz="1300" dirty="0"/>
          </a:p>
        </p:txBody>
      </p:sp>
      <p:sp>
        <p:nvSpPr>
          <p:cNvPr id="9" name="teks-300"/>
          <p:cNvSpPr txBox="1"/>
          <p:nvPr/>
        </p:nvSpPr>
        <p:spPr>
          <a:xfrm>
            <a:off x="960120" y="2926080"/>
            <a:ext cx="287517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b="1" dirty="0">
                <a:solidFill>
                  <a:schemeClr val="tx1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Rachdian Habi Yahya</a:t>
            </a:r>
            <a:endParaRPr lang="en-US" sz="1800" dirty="0"/>
          </a:p>
        </p:txBody>
      </p:sp>
      <p:sp>
        <p:nvSpPr>
          <p:cNvPr id="10" name="teks-301"/>
          <p:cNvSpPr txBox="1"/>
          <p:nvPr/>
        </p:nvSpPr>
        <p:spPr>
          <a:xfrm>
            <a:off x="960120" y="3291840"/>
            <a:ext cx="287517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chemeClr val="accent1"/>
                </a:solidFill>
              </a:rPr>
              <a:t>Ketua Tim · Data Scientist</a:t>
            </a:r>
            <a:endParaRPr lang="en-US" sz="1400" dirty="0"/>
          </a:p>
        </p:txBody>
      </p:sp>
      <p:sp>
        <p:nvSpPr>
          <p:cNvPr id="11" name="teks-302"/>
          <p:cNvSpPr txBox="1"/>
          <p:nvPr/>
        </p:nvSpPr>
        <p:spPr>
          <a:xfrm>
            <a:off x="960120" y="3703320"/>
            <a:ext cx="2920898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203200" indent="-203200">
              <a:spcAft>
                <a:spcPts val="300"/>
              </a:spcAft>
              <a:buSzPct val="100000"/>
              <a:buChar char="•"/>
            </a:pPr>
            <a:r>
              <a:rPr lang="en-US" sz="1400" dirty="0">
                <a:solidFill>
                  <a:schemeClr val="tx1"/>
                </a:solidFill>
              </a:rPr>
              <a:t>Mahasiswa S2 Digital Business Strategy, Telkom University</a:t>
            </a:r>
            <a:endParaRPr lang="en-US" sz="1400" dirty="0"/>
          </a:p>
          <a:p>
            <a:pPr marL="203200" indent="-203200">
              <a:spcAft>
                <a:spcPts val="300"/>
              </a:spcAft>
              <a:buSzPct val="100000"/>
              <a:buChar char="•"/>
            </a:pPr>
            <a:r>
              <a:rPr lang="en-US" sz="1400" dirty="0">
                <a:solidFill>
                  <a:schemeClr val="tx1"/>
                </a:solidFill>
              </a:rPr>
              <a:t>Peran: pemodelan, evaluasi, uji bias per skala usaha</a:t>
            </a:r>
            <a:endParaRPr lang="en-US" sz="1400" dirty="0"/>
          </a:p>
          <a:p>
            <a:pPr marL="203200" indent="-203200">
              <a:spcAft>
                <a:spcPts val="300"/>
              </a:spcAft>
              <a:buSzPct val="100000"/>
              <a:buChar char="•"/>
            </a:pPr>
            <a:r>
              <a:rPr lang="en-US" sz="1400" dirty="0">
                <a:solidFill>
                  <a:schemeClr val="tx1"/>
                </a:solidFill>
              </a:rPr>
              <a:t>Menerjemahkan hasil model ke nilai bisnis &amp; kebijakan</a:t>
            </a:r>
            <a:endParaRPr lang="en-US" sz="1400" dirty="0"/>
          </a:p>
        </p:txBody>
      </p:sp>
      <p:sp>
        <p:nvSpPr>
          <p:cNvPr id="12" name="kartu-303"/>
          <p:cNvSpPr/>
          <p:nvPr/>
        </p:nvSpPr>
        <p:spPr>
          <a:xfrm>
            <a:off x="4383938" y="1828800"/>
            <a:ext cx="3423818" cy="3703320"/>
          </a:xfrm>
          <a:prstGeom prst="roundRect">
            <a:avLst>
              <a:gd name="adj" fmla="val 3205"/>
            </a:avLst>
          </a:prstGeom>
          <a:solidFill>
            <a:schemeClr val="bg1"/>
          </a:solidFill>
          <a:ln w="9525">
            <a:solidFill>
              <a:srgbClr val="DEDCD4"/>
            </a:solidFill>
            <a:prstDash val="solid"/>
          </a:ln>
        </p:spPr>
      </p:sp>
      <p:sp>
        <p:nvSpPr>
          <p:cNvPr id="13" name="avatar-304"/>
          <p:cNvSpPr/>
          <p:nvPr/>
        </p:nvSpPr>
        <p:spPr>
          <a:xfrm>
            <a:off x="4658258" y="2103120"/>
            <a:ext cx="685800" cy="685800"/>
          </a:xfrm>
          <a:prstGeom prst="ellipse">
            <a:avLst/>
          </a:prstGeom>
          <a:solidFill>
            <a:srgbClr val="2A9D6F"/>
          </a:solidFill>
          <a:ln/>
        </p:spPr>
      </p:sp>
      <p:sp>
        <p:nvSpPr>
          <p:cNvPr id="14" name="teks-305"/>
          <p:cNvSpPr txBox="1"/>
          <p:nvPr/>
        </p:nvSpPr>
        <p:spPr>
          <a:xfrm>
            <a:off x="4658258" y="2103120"/>
            <a:ext cx="68580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chemeClr val="bg1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RS</a:t>
            </a:r>
            <a:endParaRPr lang="en-US" sz="2400" dirty="0"/>
          </a:p>
        </p:txBody>
      </p:sp>
      <p:sp>
        <p:nvSpPr>
          <p:cNvPr id="15" name="teks-306"/>
          <p:cNvSpPr txBox="1"/>
          <p:nvPr/>
        </p:nvSpPr>
        <p:spPr>
          <a:xfrm>
            <a:off x="4658258" y="2926080"/>
            <a:ext cx="287517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b="1" dirty="0">
                <a:solidFill>
                  <a:schemeClr val="tx1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Rifqi Sigwan Nugraha</a:t>
            </a:r>
            <a:endParaRPr lang="en-US" sz="1800" dirty="0"/>
          </a:p>
        </p:txBody>
      </p:sp>
      <p:sp>
        <p:nvSpPr>
          <p:cNvPr id="16" name="teks-307"/>
          <p:cNvSpPr txBox="1"/>
          <p:nvPr/>
        </p:nvSpPr>
        <p:spPr>
          <a:xfrm>
            <a:off x="4658258" y="3291840"/>
            <a:ext cx="287517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chemeClr val="accent1"/>
                </a:solidFill>
              </a:rPr>
              <a:t>Lead Engineer · Backend &amp; AI</a:t>
            </a:r>
            <a:endParaRPr lang="en-US" sz="1400" dirty="0"/>
          </a:p>
        </p:txBody>
      </p:sp>
      <p:sp>
        <p:nvSpPr>
          <p:cNvPr id="17" name="teks-308"/>
          <p:cNvSpPr txBox="1"/>
          <p:nvPr/>
        </p:nvSpPr>
        <p:spPr>
          <a:xfrm>
            <a:off x="4658258" y="3703320"/>
            <a:ext cx="2920898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203200" indent="-203200">
              <a:spcAft>
                <a:spcPts val="300"/>
              </a:spcAft>
              <a:buSzPct val="100000"/>
              <a:buChar char="•"/>
            </a:pPr>
            <a:r>
              <a:rPr lang="en-US" sz="1400" dirty="0">
                <a:solidFill>
                  <a:schemeClr val="tx1"/>
                </a:solidFill>
              </a:rPr>
              <a:t>Lulusan IT, Telkom University</a:t>
            </a:r>
            <a:endParaRPr lang="en-US" sz="1400" dirty="0"/>
          </a:p>
          <a:p>
            <a:pPr marL="203200" indent="-203200">
              <a:spcAft>
                <a:spcPts val="300"/>
              </a:spcAft>
              <a:buSzPct val="100000"/>
              <a:buChar char="•"/>
            </a:pPr>
            <a:r>
              <a:rPr lang="en-US" sz="1400" dirty="0">
                <a:solidFill>
                  <a:schemeClr val="tx1"/>
                </a:solidFill>
              </a:rPr>
              <a:t>Co-founder Plus The Site (agensi web &amp; software)</a:t>
            </a:r>
            <a:endParaRPr lang="en-US" sz="1400" dirty="0"/>
          </a:p>
          <a:p>
            <a:pPr marL="203200" indent="-203200">
              <a:spcAft>
                <a:spcPts val="300"/>
              </a:spcAft>
              <a:buSzPct val="100000"/>
              <a:buChar char="•"/>
            </a:pPr>
            <a:r>
              <a:rPr lang="en-US" sz="1400" dirty="0">
                <a:solidFill>
                  <a:schemeClr val="tx1"/>
                </a:solidFill>
              </a:rPr>
              <a:t>Python, FastAPI, PostgreSQL, multi-agent AI</a:t>
            </a:r>
            <a:endParaRPr lang="en-US" sz="1400" dirty="0"/>
          </a:p>
          <a:p>
            <a:pPr marL="203200" indent="-203200">
              <a:spcAft>
                <a:spcPts val="300"/>
              </a:spcAft>
              <a:buSzPct val="100000"/>
              <a:buChar char="•"/>
            </a:pPr>
            <a:r>
              <a:rPr lang="en-US" sz="1400" dirty="0">
                <a:solidFill>
                  <a:schemeClr val="tx1"/>
                </a:solidFill>
              </a:rPr>
              <a:t>Publikasi ICORIS 2024 (pemodelan data IoT)</a:t>
            </a:r>
            <a:endParaRPr lang="en-US" sz="1400" dirty="0"/>
          </a:p>
        </p:txBody>
      </p:sp>
      <p:sp>
        <p:nvSpPr>
          <p:cNvPr id="18" name="kartu-309"/>
          <p:cNvSpPr/>
          <p:nvPr/>
        </p:nvSpPr>
        <p:spPr>
          <a:xfrm>
            <a:off x="8082077" y="1828800"/>
            <a:ext cx="3423818" cy="3703320"/>
          </a:xfrm>
          <a:prstGeom prst="roundRect">
            <a:avLst>
              <a:gd name="adj" fmla="val 3205"/>
            </a:avLst>
          </a:prstGeom>
          <a:solidFill>
            <a:schemeClr val="bg1"/>
          </a:solidFill>
          <a:ln w="9525">
            <a:solidFill>
              <a:srgbClr val="DEDCD4"/>
            </a:solidFill>
            <a:prstDash val="solid"/>
          </a:ln>
        </p:spPr>
      </p:sp>
      <p:sp>
        <p:nvSpPr>
          <p:cNvPr id="19" name="avatar-310"/>
          <p:cNvSpPr/>
          <p:nvPr/>
        </p:nvSpPr>
        <p:spPr>
          <a:xfrm>
            <a:off x="8356397" y="2103120"/>
            <a:ext cx="685800" cy="685800"/>
          </a:xfrm>
          <a:prstGeom prst="ellipse">
            <a:avLst/>
          </a:prstGeom>
          <a:solidFill>
            <a:srgbClr val="A6CE39"/>
          </a:solidFill>
          <a:ln/>
        </p:spPr>
      </p:sp>
      <p:sp>
        <p:nvSpPr>
          <p:cNvPr id="20" name="teks-311"/>
          <p:cNvSpPr txBox="1"/>
          <p:nvPr/>
        </p:nvSpPr>
        <p:spPr>
          <a:xfrm>
            <a:off x="8356397" y="2103120"/>
            <a:ext cx="68580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chemeClr val="tx1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MG</a:t>
            </a:r>
            <a:endParaRPr lang="en-US" sz="2400" dirty="0"/>
          </a:p>
        </p:txBody>
      </p:sp>
      <p:pic>
        <p:nvPicPr>
          <p:cNvPr id="21" name="ikon-linkedin-31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225077" y="2331720"/>
            <a:ext cx="219456" cy="219456"/>
          </a:xfrm>
          <a:prstGeom prst="rect">
            <a:avLst/>
          </a:prstGeom>
        </p:spPr>
      </p:pic>
      <p:sp>
        <p:nvSpPr>
          <p:cNvPr id="22" name="teks-313"/>
          <p:cNvSpPr txBox="1"/>
          <p:nvPr/>
        </p:nvSpPr>
        <p:spPr>
          <a:xfrm>
            <a:off x="9499397" y="2286000"/>
            <a:ext cx="1777898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u="sng" dirty="0">
                <a:solidFill>
                  <a:schemeClr val="accent1"/>
                </a:solidFill>
                <a:hlinkClick r:id="rId4" invalidUrl="" action="" tgtFrame="" tooltip="LinkedIn Muhammad Al Ghani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/in/muhammad-al-ghani</a:t>
            </a:r>
            <a:endParaRPr lang="en-US" sz="1300" dirty="0"/>
          </a:p>
        </p:txBody>
      </p:sp>
      <p:sp>
        <p:nvSpPr>
          <p:cNvPr id="23" name="teks-314"/>
          <p:cNvSpPr txBox="1"/>
          <p:nvPr/>
        </p:nvSpPr>
        <p:spPr>
          <a:xfrm>
            <a:off x="8356397" y="2926080"/>
            <a:ext cx="287517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b="1" dirty="0">
                <a:solidFill>
                  <a:schemeClr val="tx1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Muhammad Al Ghani</a:t>
            </a:r>
            <a:endParaRPr lang="en-US" sz="1800" dirty="0"/>
          </a:p>
        </p:txBody>
      </p:sp>
      <p:sp>
        <p:nvSpPr>
          <p:cNvPr id="24" name="teks-315"/>
          <p:cNvSpPr txBox="1"/>
          <p:nvPr/>
        </p:nvSpPr>
        <p:spPr>
          <a:xfrm>
            <a:off x="8356397" y="3291840"/>
            <a:ext cx="287517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chemeClr val="accent1"/>
                </a:solidFill>
              </a:rPr>
              <a:t>Product Manager</a:t>
            </a:r>
            <a:endParaRPr lang="en-US" sz="1400" dirty="0"/>
          </a:p>
        </p:txBody>
      </p:sp>
      <p:sp>
        <p:nvSpPr>
          <p:cNvPr id="25" name="teks-316"/>
          <p:cNvSpPr txBox="1"/>
          <p:nvPr/>
        </p:nvSpPr>
        <p:spPr>
          <a:xfrm>
            <a:off x="8356397" y="3703320"/>
            <a:ext cx="2920898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203200" indent="-203200">
              <a:spcAft>
                <a:spcPts val="300"/>
              </a:spcAft>
              <a:buSzPct val="100000"/>
              <a:buChar char="•"/>
            </a:pPr>
            <a:r>
              <a:rPr lang="en-US" sz="1400" dirty="0">
                <a:solidFill>
                  <a:schemeClr val="tx1"/>
                </a:solidFill>
              </a:rPr>
              <a:t>UI/UX Designer di Torch.id</a:t>
            </a:r>
            <a:endParaRPr lang="en-US" sz="1400" dirty="0"/>
          </a:p>
          <a:p>
            <a:pPr marL="203200" indent="-203200">
              <a:spcAft>
                <a:spcPts val="300"/>
              </a:spcAft>
              <a:buSzPct val="100000"/>
              <a:buChar char="•"/>
            </a:pPr>
            <a:r>
              <a:rPr lang="en-US" sz="1400" dirty="0">
                <a:solidFill>
                  <a:schemeClr val="tx1"/>
                </a:solidFill>
              </a:rPr>
              <a:t>Peran: kebutuhan petugas &amp; alur kerja pemeriksaan</a:t>
            </a:r>
            <a:endParaRPr lang="en-US" sz="1400" dirty="0"/>
          </a:p>
          <a:p>
            <a:pPr marL="203200" indent="-203200">
              <a:spcAft>
                <a:spcPts val="300"/>
              </a:spcAft>
              <a:buSzPct val="100000"/>
              <a:buChar char="•"/>
            </a:pPr>
            <a:r>
              <a:rPr lang="en-US" sz="1400" dirty="0">
                <a:solidFill>
                  <a:schemeClr val="tx1"/>
                </a:solidFill>
              </a:rPr>
              <a:t>Desain dashboard &amp; lembar hasil scan, proposal &amp; demo</a:t>
            </a:r>
            <a:endParaRPr lang="en-US" sz="1400" dirty="0"/>
          </a:p>
        </p:txBody>
      </p:sp>
      <p:sp>
        <p:nvSpPr>
          <p:cNvPr id="26" name="teks-317"/>
          <p:cNvSpPr txBox="1"/>
          <p:nvPr/>
        </p:nvSpPr>
        <p:spPr>
          <a:xfrm>
            <a:off x="685800" y="5760720"/>
            <a:ext cx="10820095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700" dirty="0">
                <a:solidFill>
                  <a:schemeClr val="accent5"/>
                </a:solidFill>
              </a:rPr>
              <a:t>Kami membangun, mengukur, dan memastikan PayRay masuk akal di lapangan.</a:t>
            </a:r>
            <a:endParaRPr lang="en-US" sz="17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957255" y="6327648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100">
                <a:solidFill>
                  <a:srgbClr val="5B6B70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19</a:t>
            </a:fld>
            <a:endParaRPr lang="en-US"/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judul-penutup"/>
          <p:cNvSpPr txBox="1"/>
          <p:nvPr/>
        </p:nvSpPr>
        <p:spPr>
          <a:xfrm>
            <a:off x="0" y="1874520"/>
            <a:ext cx="12191695" cy="1325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9200" b="1" dirty="0">
                <a:solidFill>
                  <a:schemeClr val="bg1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Pay</a:t>
            </a:r>
            <a:pPr algn="ctr" indent="0" marL="0">
              <a:buNone/>
            </a:pPr>
            <a:r>
              <a:rPr lang="en-US" sz="9200" b="1" dirty="0">
                <a:solidFill>
                  <a:schemeClr val="accent2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Ray</a:t>
            </a:r>
            <a:endParaRPr lang="en-US" sz="9200" dirty="0"/>
          </a:p>
        </p:txBody>
      </p:sp>
      <p:sp>
        <p:nvSpPr>
          <p:cNvPr id="3" name="teks-318"/>
          <p:cNvSpPr txBox="1"/>
          <p:nvPr/>
        </p:nvSpPr>
        <p:spPr>
          <a:xfrm>
            <a:off x="0" y="3291840"/>
            <a:ext cx="12191695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3000" b="1" dirty="0">
                <a:solidFill>
                  <a:schemeClr val="bg1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Memeriksa yang tepat, lebih dulu.</a:t>
            </a:r>
            <a:endParaRPr lang="en-US" sz="3000" dirty="0"/>
          </a:p>
        </p:txBody>
      </p:sp>
      <p:sp>
        <p:nvSpPr>
          <p:cNvPr id="4" name="teks-319"/>
          <p:cNvSpPr txBox="1"/>
          <p:nvPr/>
        </p:nvSpPr>
        <p:spPr>
          <a:xfrm>
            <a:off x="0" y="3931920"/>
            <a:ext cx="12191695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2000" dirty="0">
                <a:solidFill>
                  <a:srgbClr val="B9C7C9"/>
                </a:solidFill>
              </a:rPr>
              <a:t>Rontgen kepatuhan pemberi kerja untuk JKN yang lebih kuat.</a:t>
            </a:r>
            <a:endParaRPr lang="en-US" sz="2000" dirty="0"/>
          </a:p>
        </p:txBody>
      </p:sp>
      <p:sp>
        <p:nvSpPr>
          <p:cNvPr id="5" name="teks-320"/>
          <p:cNvSpPr txBox="1"/>
          <p:nvPr/>
        </p:nvSpPr>
        <p:spPr>
          <a:xfrm>
            <a:off x="0" y="4572000"/>
            <a:ext cx="12191695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600" dirty="0">
                <a:solidFill>
                  <a:srgbClr val="B9C7C9"/>
                </a:solidFill>
              </a:rPr>
              <a:t>Tim Plan with Us · rachdiaaan@gmail.com</a:t>
            </a:r>
            <a:endParaRPr lang="en-US" sz="16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PayRay">
  <a:themeElements>
    <a:clrScheme name="PayRay">
      <a:dk1>
        <a:srgbClr val="172A30"/>
      </a:dk1>
      <a:lt1>
        <a:srgbClr val="FFFFFF"/>
      </a:lt1>
      <a:dk2>
        <a:srgbClr val="0E1C20"/>
      </a:dk2>
      <a:lt2>
        <a:srgbClr val="F3F2EE"/>
      </a:lt2>
      <a:accent1>
        <a:srgbClr val="1B7F57"/>
      </a:accent1>
      <a:accent2>
        <a:srgbClr val="A6CE39"/>
      </a:accent2>
      <a:accent3>
        <a:srgbClr val="17343A"/>
      </a:accent3>
      <a:accent4>
        <a:srgbClr val="9A3B12"/>
      </a:accent4>
      <a:accent5>
        <a:srgbClr val="5B6B70"/>
      </a:accent5>
      <a:accent6>
        <a:srgbClr val="E3EFE7"/>
      </a:accent6>
      <a:hlink>
        <a:srgbClr val="1B7F57"/>
      </a:hlink>
      <a:folHlink>
        <a:srgbClr val="5B6B70"/>
      </a:folHlink>
    </a:clrScheme>
    <a:fontScheme name="PayRay">
      <a:majorFont>
        <a:latin typeface="Montserrat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Source Sans 3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20</Slides>
  <Notes>20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20</vt:i4>
      </vt:variant>
    </vt:vector>
  </HeadingPairs>
  <TitlesOfParts>
    <vt:vector size="23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  <vt:lpstr>Slide 18</vt:lpstr>
      <vt:lpstr>Slide 19</vt:lpstr>
      <vt:lpstr>Slide 20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PayRay · Healthkathon 2026</dc:title>
  <dc:subject>PptxGenJS Presentation</dc:subject>
  <dc:creator>Tim PayRay</dc:creator>
  <cp:lastModifiedBy>Tim PayRay</cp:lastModifiedBy>
  <cp:revision>1</cp:revision>
  <dcterms:created xsi:type="dcterms:W3CDTF">2026-10-10T10:49:51Z</dcterms:created>
  <dcterms:modified xsi:type="dcterms:W3CDTF">2026-10-10T10:49:51Z</dcterms:modified>
</cp:coreProperties>
</file>