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617b40a-d2bd-868b-b901-06294000af17}">
          <p14:sldIdLst>
            <p14:sldId id="256"/>
            <p14:sldId id="257"/>
          </p14:sldIdLst>
        </p14:section>
        <p14:section name="Masalah" id="{12d03ad3-49d4-82fe-8412-4163b02eb711}">
          <p14:sldIdLst>
            <p14:sldId id="258"/>
            <p14:sldId id="259"/>
          </p14:sldIdLst>
        </p14:section>
        <p14:section name="Solusi" id="{e420b1c1-01da-3706-e528-ebf422432d6b}">
          <p14:sldIdLst>
            <p14:sldId id="260"/>
            <p14:sldId id="261"/>
            <p14:sldId id="262"/>
          </p14:sldIdLst>
        </p14:section>
        <p14:section name="Teknis &amp; data" id="{3e037953-5812-a8a8-c98d-5ad5cdd4f43e}">
          <p14:sldIdLst>
            <p14:sldId id="263"/>
            <p14:sldId id="264"/>
            <p14:sldId id="265"/>
          </p14:sldIdLst>
        </p14:section>
        <p14:section name="Hasil" id="{16a64f76-3866-50e1-3d48-5faea1b068fd}">
          <p14:sldIdLst>
            <p14:sldId id="266"/>
            <p14:sldId id="267"/>
            <p14:sldId id="268"/>
          </p14:sldIdLst>
        </p14:section>
        <p14:section name="Rencana" id="{8f356064-e1ac-851a-17d0-3296fa471180}">
          <p14:sldIdLst>
            <p14:sldId id="269"/>
            <p14:sldId id="270"/>
          </p14:sldIdLst>
        </p14:section>
        <p14:section name="Dampak" id="{4d8ac6a7-436b-d329-a959-fb77881601e7}">
          <p14:sldIdLst>
            <p14:sldId id="271"/>
            <p14:sldId id="272"/>
            <p14:sldId id="273"/>
          </p14:sldIdLst>
        </p14:section>
        <p14:section name="Tim &amp; penutup" id="{c3a933b1-2285-2a83-ee49-ab44d92eb45f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72A30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72A30"/>
                </a:solidFill>
                <a:latin typeface="+mj-lt"/>
              </a:rPr>
              <a:t>Precision pada 10% skor tertinggi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B9C7C9"/>
            </a:solidFill>
            <a:effectLst/>
          </c:spPr>
          <c:invertIfNegative val="0"/>
          <c:dLbls>
            <c:numFmt formatCode="#0\,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7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7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</c:v>
                  </c:pt>
                  <c:pt idx="1">
                    <c:v>Best single rule</c:v>
                  </c:pt>
                  <c:pt idx="2">
                    <c:v>PayRay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538</c:v>
                </c:pt>
                <c:pt idx="2">
                  <c:v>684</c:v>
                </c:pt>
              </c:numCache>
            </c:numRef>
          </c:val>
        </c:ser>
        <c:dLbls>
          <c:numFmt formatCode="#0\,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7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7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72A30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72A30"/>
                </a:solidFill>
                <a:latin typeface="+mj-lt"/>
              </a:rPr>
              <a:t>Rp miliar/thn per 100 pemeriksaan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Iuran</c:v>
                </c:pt>
              </c:strCache>
            </c:strRef>
          </c:tx>
          <c:spPr>
            <a:solidFill>
              <a:srgbClr val="B9C7C9"/>
            </a:solidFill>
            <a:effectLst/>
          </c:spPr>
          <c:invertIfNegative val="0"/>
          <c:dLbls>
            <c:numFmt formatCode="0\,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7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</c:v>
                  </c:pt>
                  <c:pt idx="1">
                    <c:v>PayRay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775</c:v>
                </c:pt>
              </c:numCache>
            </c:numRef>
          </c:val>
        </c:ser>
        <c:dLbls>
          <c:numFmt formatCode="0\,00" sourceLinked="0"/>
          <c:txPr>
            <a:bodyPr/>
            <a:lstStyle/>
            <a:p>
              <a:pPr>
                <a:defRPr b="0" i="0" strike="noStrike" sz="1300" u="none">
                  <a:solidFill>
                    <a:srgbClr val="17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7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PayRay = Pay + X-Ray: rontgen kepatuhan pemberi kerja. Fokus kategori Peserta JKN &amp; Pemberi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pembeda tidak lagi mengklaim 'bukan sampel', tetapi tiga hal yang bisa dibuktikan: alasan yang bisa dibaca, estimasi rupiah, dan perlindungan UMKM (aturan dibedakan per skala, PP 36/2021).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modus kebocoran yang menjadi sub-kategori fokus.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Rp31,61 T BUKAN iuran yang bocor: BPK menyatakan pendapatan iuran PPU BU &amp; PN sebesar itu tidak dapat diyakini kebenarannya karena tidak didukung data memadai (IHPS II 2025). Celah verifikasi inilah yang diisi PayRay. Verifikasi angka di PDF IHPS II 2025 (bpk.go.id/ihps) sebelum submit. Peserta: Portal Data BPJS Kesehatan, rekap 30 Sep 2026. Tulungagung: ANTARA Jatim 20 Jun 2026, Kepala BPJS Kesehatan Cabang Tulungagung.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 judul: tidak lagi 'dari sampel', supaya tidak mengklaim praktik internal BPJS yang tidak kita ketahui. Mesin prototype menilai 5.000 badan usaha dalam ±7 detik.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'pekerja masih aktif bekerja' ditandai fase lanjut karena butuh data BPJS TK. Setiap bullet = satu aturan transparan di mesin (engine/rules.py).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ini keluaran asli mesin (hasil/lembar_scan/BU04224.md), bukan karangan. Estimasi Rp212 jt vs kerugian sebenarnya Rp215 jt di data simulasi. Menggantikan contoh lama yang kontradiktif ('upah tidak naik 3 tahun' vs '92% tepat di UMK').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rumus kalkulator kini memuat plafon upah iuran Rp12 jt (Perpres 64/2020, verifikasi sebelum submit) dan ada jawaban 'kenapa AI, bukan aturan saja'.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 baru: kepesertaan per segmen dari Portal Data BPJS (sudah di-scrape) dan upah BPS Sakernas Agustus 2025 (sekunder via CNBC; cocokkan ke bps.go.id). Kalibrasi: urutan rata-rata upah antarsektor di generator berkorelasi Spearman 0,90 dengan 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baru (to-do revisi). Generator: generator/ di repo. Pelanggaran disisipkan oleh anggota yang tidak membangun model, dengan seed rahasia; folder label terpisah. Audit kebocoran: AUC metadata ≈ 0,5, beda missingness antar kelas ≤ 0,7%.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baru. Angka dari hasil_holdout/laporan_akurasi.md (seed dunia 2026, seed injeksi berbeda). Best single rule = rasio pekerja vs OSS (53,8%). Data dev: 69,4% / 4,63×. Akui kelemahan bila ditanya: recall modus sulit 18–37%, salah tandai menengah/besar ±6%.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asli dari dashboard/index.html (HTML statis, dibangun dari output mesin; buka langsung di browser). Tombol Tandai wajar / Temuan terbukti menyimpan label feedback dan bisa diunduh sebagai CSV. Feedback loop disimulasikan di engine/feedback.py: precision putaran 2 naik 21,8% → 26,8%, iuran tertangkap Rp1,60 M → Rp1,81 M (holdout). Waktu menyusun daftar: 5.000 badan usaha diskor dalam hitungan detik.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penanda 'Saat ini: Ide' dihapus. Isi link demo, video, dan repo sebelum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per 10 Okt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lanjut termasuk cek 'pekerja masih aktif bekerja' dengan data BPJS TK.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placeholder terisi. Precision 68,4% sedikit di bawah target 70%. Sampaikan jujur: target ≥70% dikejar lewat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Pemberi kerja patuh dilindungi: hard negative dan aturan per skala menekan salah tandai UMKM ke 2,7%.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Revisi: footer kini konsisten dengan slide lain (dari layout).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 Plan with Us. Tidak ada Domain Expert di tim: validasi aturan sebaiknya lewat konsultasi pakar HR-payroll/jaminan sosial dan disebut di sini bila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Kontak: email ketua 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YRAY_LIGHT">
    <p:bg>
      <p:bgPr>
        <a:solidFill>
          <a:srgbClr val="F3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PayRay · Healthkathon 2026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YRAY_DARK">
    <p:bg>
      <p:bgPr>
        <a:solidFill>
          <a:srgbClr val="0E1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7C9"/>
                </a:solidFill>
              </a:rPr>
              <a:t>PayRay · Healthkathon 2026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7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YRAY_COVER">
    <p:bg>
      <p:bgPr>
        <a:solidFill>
          <a:srgbClr val="0E1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rachdiaaan" TargetMode="External"/><Relationship Id="rId4" Type="http://schemas.openxmlformats.org/officeDocument/2006/relationships/hyperlink" Target="https://www.linkedin.com/in/muhammad-al-ghani" TargetMode="External"/><Relationship Id="rId1" Type="http://schemas.openxmlformats.org/officeDocument/2006/relationships/image" Target="../media/image-19-1.png"/><Relationship Id="rId3" Type="http://schemas.openxmlformats.org/officeDocument/2006/relationships/image" Target="../media/image-19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-1"/>
          <p:cNvSpPr txBox="1"/>
          <p:nvPr/>
        </p:nvSpPr>
        <p:spPr>
          <a:xfrm>
            <a:off x="68580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HEALTHKATHON 2026 · DETECT SMARTER, PROTECT JKN</a:t>
            </a:r>
            <a:endParaRPr lang="en-US" sz="1200" dirty="0"/>
          </a:p>
        </p:txBody>
      </p:sp>
      <p:sp>
        <p:nvSpPr>
          <p:cNvPr id="3" name="judul-cover"/>
          <p:cNvSpPr txBox="1"/>
          <p:nvPr/>
        </p:nvSpPr>
        <p:spPr>
          <a:xfrm>
            <a:off x="685800" y="192024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</a:t>
            </a:r>
            <a:pPr indent="0" marL="0">
              <a:buNone/>
            </a:pPr>
            <a:r>
              <a:rPr lang="en-US" sz="9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Ray</a:t>
            </a:r>
            <a:endParaRPr lang="en-US" sz="9200" dirty="0"/>
          </a:p>
        </p:txBody>
      </p:sp>
      <p:sp>
        <p:nvSpPr>
          <p:cNvPr id="4" name="teks-2"/>
          <p:cNvSpPr txBox="1"/>
          <p:nvPr/>
        </p:nvSpPr>
        <p:spPr>
          <a:xfrm>
            <a:off x="685800" y="3383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Rontgen kepatuhan pemberi kerja untuk JKN.</a:t>
            </a:r>
            <a:endParaRPr lang="en-US" sz="2800" dirty="0"/>
          </a:p>
        </p:txBody>
      </p:sp>
      <p:sp>
        <p:nvSpPr>
          <p:cNvPr id="5" name="teks-3"/>
          <p:cNvSpPr txBox="1"/>
          <p:nvPr/>
        </p:nvSpPr>
        <p:spPr>
          <a:xfrm>
            <a:off x="685800" y="4389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7C9"/>
                </a:solidFill>
              </a:rPr>
              <a:t>Skor risiko berbasis AI yang menemukan upah dan pekerja yang tidak dilaporkan, supaya pemeriksaan dimulai dari badan usaha yang paling berisiko.</a:t>
            </a:r>
            <a:endParaRPr lang="en-US" sz="1800" dirty="0"/>
          </a:p>
        </p:txBody>
      </p:sp>
      <p:sp>
        <p:nvSpPr>
          <p:cNvPr id="6" name="kategori-cover"/>
          <p:cNvSpPr txBox="1"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C9"/>
                </a:solidFill>
              </a:rPr>
              <a:t>Kategori: </a:t>
            </a:r>
            <a:pPr indent="0" marL="0">
              <a:buNone/>
            </a:pPr>
            <a:r>
              <a:rPr lang="en-US" sz="1400" b="1" dirty="0">
                <a:solidFill>
                  <a:srgbClr val="B9C7C9"/>
                </a:solidFill>
              </a:rPr>
              <a:t>Peserta JKN &amp; Pemberi Kerja</a:t>
            </a:r>
            <a:pPr indent="0" marL="0">
              <a:buNone/>
            </a:pPr>
            <a:r>
              <a:rPr lang="en-US" sz="1400" dirty="0">
                <a:solidFill>
                  <a:srgbClr val="B9C7C9"/>
                </a:solidFill>
              </a:rPr>
              <a:t> · Tim Plan with Us</a:t>
            </a:r>
            <a:endParaRPr lang="en-US" sz="1400" dirty="0"/>
          </a:p>
        </p:txBody>
      </p:sp>
      <p:sp>
        <p:nvSpPr>
          <p:cNvPr id="7" name="radar-4"/>
          <p:cNvSpPr/>
          <p:nvPr/>
        </p:nvSpPr>
        <p:spPr>
          <a:xfrm>
            <a:off x="7315200" y="1463040"/>
            <a:ext cx="3566160" cy="3566160"/>
          </a:xfrm>
          <a:prstGeom prst="ellipse">
            <a:avLst/>
          </a:prstGeom>
          <a:ln w="9525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8" name="radar-5"/>
          <p:cNvSpPr/>
          <p:nvPr/>
        </p:nvSpPr>
        <p:spPr>
          <a:xfrm>
            <a:off x="7707478" y="1855318"/>
            <a:ext cx="2781605" cy="2781605"/>
          </a:xfrm>
          <a:prstGeom prst="ellipse">
            <a:avLst/>
          </a:prstGeom>
          <a:ln w="9525">
            <a:solidFill>
              <a:schemeClr val="accent2">
                <a:alpha val="25000"/>
              </a:schemeClr>
            </a:solidFill>
            <a:prstDash val="solid"/>
          </a:ln>
        </p:spPr>
      </p:sp>
      <p:sp>
        <p:nvSpPr>
          <p:cNvPr id="9" name="radar-6"/>
          <p:cNvSpPr/>
          <p:nvPr/>
        </p:nvSpPr>
        <p:spPr>
          <a:xfrm>
            <a:off x="8099755" y="2247595"/>
            <a:ext cx="1997050" cy="1997050"/>
          </a:xfrm>
          <a:prstGeom prst="ellipse">
            <a:avLst/>
          </a:prstGeom>
          <a:ln w="9525">
            <a:solidFill>
              <a:schemeClr val="accent2">
                <a:alpha val="20000"/>
              </a:schemeClr>
            </a:solidFill>
            <a:prstDash val="solid"/>
          </a:ln>
        </p:spPr>
      </p:sp>
      <p:sp>
        <p:nvSpPr>
          <p:cNvPr id="10" name="dokumen-7"/>
          <p:cNvSpPr/>
          <p:nvPr/>
        </p:nvSpPr>
        <p:spPr>
          <a:xfrm>
            <a:off x="8367217" y="2247595"/>
            <a:ext cx="1462126" cy="1997050"/>
          </a:xfrm>
          <a:prstGeom prst="roundRect">
            <a:avLst>
              <a:gd name="adj" fmla="val 5003"/>
            </a:avLst>
          </a:prstGeom>
          <a:solidFill>
            <a:schemeClr val="accent3"/>
          </a:solidFill>
          <a:ln w="12700">
            <a:solidFill>
              <a:srgbClr val="5FC6A6"/>
            </a:solidFill>
            <a:prstDash val="solid"/>
          </a:ln>
        </p:spPr>
      </p:sp>
      <p:sp>
        <p:nvSpPr>
          <p:cNvPr id="11" name="baris-dokumen-8"/>
          <p:cNvSpPr/>
          <p:nvPr/>
        </p:nvSpPr>
        <p:spPr>
          <a:xfrm>
            <a:off x="8513521" y="2448763"/>
            <a:ext cx="959004" cy="64008"/>
          </a:xfrm>
          <a:prstGeom prst="roundRect">
            <a:avLst>
              <a:gd name="adj" fmla="val 42857"/>
            </a:avLst>
          </a:prstGeom>
          <a:solidFill>
            <a:srgbClr val="3E7F72"/>
          </a:solidFill>
          <a:ln/>
        </p:spPr>
      </p:sp>
      <p:sp>
        <p:nvSpPr>
          <p:cNvPr id="12" name="baris-dokumen-9"/>
          <p:cNvSpPr/>
          <p:nvPr/>
        </p:nvSpPr>
        <p:spPr>
          <a:xfrm>
            <a:off x="8513521" y="2631643"/>
            <a:ext cx="643235" cy="64008"/>
          </a:xfrm>
          <a:prstGeom prst="roundRect">
            <a:avLst>
              <a:gd name="adj" fmla="val 42857"/>
            </a:avLst>
          </a:prstGeom>
          <a:solidFill>
            <a:srgbClr val="3E7F72"/>
          </a:solidFill>
          <a:ln/>
        </p:spPr>
      </p:sp>
      <p:sp>
        <p:nvSpPr>
          <p:cNvPr id="13" name="baris-dokumen-10"/>
          <p:cNvSpPr/>
          <p:nvPr/>
        </p:nvSpPr>
        <p:spPr>
          <a:xfrm>
            <a:off x="8513521" y="2814523"/>
            <a:ext cx="842053" cy="64008"/>
          </a:xfrm>
          <a:prstGeom prst="roundRect">
            <a:avLst>
              <a:gd name="adj" fmla="val 42857"/>
            </a:avLst>
          </a:prstGeom>
          <a:solidFill>
            <a:srgbClr val="3E7F72"/>
          </a:solidFill>
          <a:ln/>
        </p:spPr>
      </p:sp>
      <p:sp>
        <p:nvSpPr>
          <p:cNvPr id="14" name="baris-dokumen-11"/>
          <p:cNvSpPr/>
          <p:nvPr/>
        </p:nvSpPr>
        <p:spPr>
          <a:xfrm>
            <a:off x="8513521" y="2997403"/>
            <a:ext cx="491197" cy="64008"/>
          </a:xfrm>
          <a:prstGeom prst="roundRect">
            <a:avLst>
              <a:gd name="adj" fmla="val 42857"/>
            </a:avLst>
          </a:prstGeom>
          <a:solidFill>
            <a:srgbClr val="3E7F72"/>
          </a:solidFill>
          <a:ln/>
        </p:spPr>
      </p:sp>
      <p:sp>
        <p:nvSpPr>
          <p:cNvPr id="15" name="baris-terdeteksi-12"/>
          <p:cNvSpPr/>
          <p:nvPr/>
        </p:nvSpPr>
        <p:spPr>
          <a:xfrm>
            <a:off x="8513521" y="3538728"/>
            <a:ext cx="584759" cy="73152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</p:sp>
      <p:sp>
        <p:nvSpPr>
          <p:cNvPr id="16" name="baris-terdeteksi-13"/>
          <p:cNvSpPr/>
          <p:nvPr/>
        </p:nvSpPr>
        <p:spPr>
          <a:xfrm>
            <a:off x="8513521" y="3721608"/>
            <a:ext cx="350855" cy="73152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</p:sp>
      <p:sp>
        <p:nvSpPr>
          <p:cNvPr id="17" name="cahaya-pindai-14"/>
          <p:cNvSpPr/>
          <p:nvPr/>
        </p:nvSpPr>
        <p:spPr>
          <a:xfrm>
            <a:off x="7493508" y="3447288"/>
            <a:ext cx="3209544" cy="310896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8" name="garis-pindai-15"/>
          <p:cNvSpPr/>
          <p:nvPr/>
        </p:nvSpPr>
        <p:spPr>
          <a:xfrm>
            <a:off x="7493508" y="3602736"/>
            <a:ext cx="320954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bracket-16"/>
          <p:cNvSpPr/>
          <p:nvPr/>
        </p:nvSpPr>
        <p:spPr>
          <a:xfrm>
            <a:off x="7636154" y="1783994"/>
            <a:ext cx="29260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0" name="bracket-17"/>
          <p:cNvSpPr/>
          <p:nvPr/>
        </p:nvSpPr>
        <p:spPr>
          <a:xfrm>
            <a:off x="7636154" y="1783994"/>
            <a:ext cx="0" cy="29260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1" name="bracket-18"/>
          <p:cNvSpPr/>
          <p:nvPr/>
        </p:nvSpPr>
        <p:spPr>
          <a:xfrm>
            <a:off x="10267798" y="1783994"/>
            <a:ext cx="29260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2" name="bracket-19"/>
          <p:cNvSpPr/>
          <p:nvPr/>
        </p:nvSpPr>
        <p:spPr>
          <a:xfrm>
            <a:off x="10560406" y="1783994"/>
            <a:ext cx="0" cy="29260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3" name="bracket-20"/>
          <p:cNvSpPr/>
          <p:nvPr/>
        </p:nvSpPr>
        <p:spPr>
          <a:xfrm>
            <a:off x="7636154" y="4708246"/>
            <a:ext cx="29260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4" name="bracket-21"/>
          <p:cNvSpPr/>
          <p:nvPr/>
        </p:nvSpPr>
        <p:spPr>
          <a:xfrm>
            <a:off x="7636154" y="4415638"/>
            <a:ext cx="0" cy="29260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5" name="bracket-22"/>
          <p:cNvSpPr/>
          <p:nvPr/>
        </p:nvSpPr>
        <p:spPr>
          <a:xfrm>
            <a:off x="10267798" y="4708246"/>
            <a:ext cx="29260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6" name="bracket-23"/>
          <p:cNvSpPr/>
          <p:nvPr/>
        </p:nvSpPr>
        <p:spPr>
          <a:xfrm>
            <a:off x="10560406" y="4415638"/>
            <a:ext cx="0" cy="29260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· IDENTITAS &amp; POSITIONING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PayRay dalam satu kalimat</a:t>
            </a:r>
            <a:endParaRPr lang="en-US" sz="4000" dirty="0"/>
          </a:p>
        </p:txBody>
      </p:sp>
      <p:sp>
        <p:nvSpPr>
          <p:cNvPr id="4" name="kalimat-utama"/>
          <p:cNvSpPr txBox="1"/>
          <p:nvPr/>
        </p:nvSpPr>
        <p:spPr>
          <a:xfrm>
            <a:off x="685800" y="18745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PayRay memberi skor risiko kepatuhan ke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seluruh</a:t>
            </a:r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badan usaha setiap periode, sehingga petugas BPJS Kesehatan memeriksa yang paling berisiko lebih dulu.</a:t>
            </a:r>
            <a:endParaRPr lang="en-US" sz="2600" dirty="0"/>
          </a:p>
        </p:txBody>
      </p:sp>
      <p:sp>
        <p:nvSpPr>
          <p:cNvPr id="5" name="kartu-24"/>
          <p:cNvSpPr/>
          <p:nvPr/>
        </p:nvSpPr>
        <p:spPr>
          <a:xfrm>
            <a:off x="685800" y="3429000"/>
            <a:ext cx="342381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6" name="teks-25"/>
          <p:cNvSpPr txBox="1"/>
          <p:nvPr/>
        </p:nvSpPr>
        <p:spPr>
          <a:xfrm>
            <a:off x="960120" y="370332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KATEGORI</a:t>
            </a:r>
            <a:endParaRPr lang="en-US" sz="1200" dirty="0"/>
          </a:p>
        </p:txBody>
      </p:sp>
      <p:sp>
        <p:nvSpPr>
          <p:cNvPr id="7" name="teks-26"/>
          <p:cNvSpPr txBox="1"/>
          <p:nvPr/>
        </p:nvSpPr>
        <p:spPr>
          <a:xfrm>
            <a:off x="960120" y="41148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Peserta JKN &amp; Pemberi Kerja</a:t>
            </a:r>
            <a:endParaRPr lang="en-US" sz="1800" dirty="0"/>
          </a:p>
        </p:txBody>
      </p:sp>
      <p:sp>
        <p:nvSpPr>
          <p:cNvPr id="8" name="kartu-27"/>
          <p:cNvSpPr/>
          <p:nvPr/>
        </p:nvSpPr>
        <p:spPr>
          <a:xfrm>
            <a:off x="4383938" y="3429000"/>
            <a:ext cx="342381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9" name="teks-28"/>
          <p:cNvSpPr txBox="1"/>
          <p:nvPr/>
        </p:nvSpPr>
        <p:spPr>
          <a:xfrm>
            <a:off x="4658258" y="370332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SUB-KATEGORI FOKUS</a:t>
            </a:r>
            <a:endParaRPr lang="en-US" sz="1200" dirty="0"/>
          </a:p>
        </p:txBody>
      </p:sp>
      <p:sp>
        <p:nvSpPr>
          <p:cNvPr id="10" name="teks-29"/>
          <p:cNvSpPr txBox="1"/>
          <p:nvPr/>
        </p:nvSpPr>
        <p:spPr>
          <a:xfrm>
            <a:off x="4658258" y="41148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Under-reporting Upah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Pendaftaran Pekerja Sebagian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Misklasifikasi Status Kerja</a:t>
            </a:r>
            <a:endParaRPr lang="en-US" sz="1800" dirty="0"/>
          </a:p>
        </p:txBody>
      </p:sp>
      <p:sp>
        <p:nvSpPr>
          <p:cNvPr id="11" name="kartu-30"/>
          <p:cNvSpPr/>
          <p:nvPr/>
        </p:nvSpPr>
        <p:spPr>
          <a:xfrm>
            <a:off x="8082077" y="3429000"/>
            <a:ext cx="342381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2" name="teks-31"/>
          <p:cNvSpPr txBox="1"/>
          <p:nvPr/>
        </p:nvSpPr>
        <p:spPr>
          <a:xfrm>
            <a:off x="8356397" y="370332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PEMBEDA</a:t>
            </a:r>
            <a:endParaRPr lang="en-US" sz="1200" dirty="0"/>
          </a:p>
        </p:txBody>
      </p:sp>
      <p:sp>
        <p:nvSpPr>
          <p:cNvPr id="13" name="teks-32"/>
          <p:cNvSpPr txBox="1"/>
          <p:nvPr/>
        </p:nvSpPr>
        <p:spPr>
          <a:xfrm>
            <a:off x="8356397" y="4114800"/>
            <a:ext cx="28751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Alasan yang bisa dibaca petugas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Estimasi potensi iuran dalam rupiah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Aturan dibedakan per skala usaha: UMKM terlindungi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· MASALAH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Iuran PPU bocor lewat laporan</a:t>
            </a:r>
            <a:endParaRPr lang="en-US" sz="4000" dirty="0"/>
          </a:p>
        </p:txBody>
      </p:sp>
      <p:sp>
        <p:nvSpPr>
          <p:cNvPr id="4" name="pengantar-masalah"/>
          <p:cNvSpPr txBox="1"/>
          <p:nvPr/>
        </p:nvSpPr>
        <p:spPr>
          <a:xfrm>
            <a:off x="68580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Iuran pekerja penerima upah (PPU) dihitung 5% dari upah: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4% pemberi kerja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dan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1% pekerja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. Setiap rupiah upah atau setiap pekerja yang tidak dilaporkan langsung mengurangi iuran yang masuk.</a:t>
            </a:r>
            <a:endParaRPr lang="en-US" sz="1800" dirty="0"/>
          </a:p>
        </p:txBody>
      </p:sp>
      <p:sp>
        <p:nvSpPr>
          <p:cNvPr id="5" name="kartu-33"/>
          <p:cNvSpPr/>
          <p:nvPr/>
        </p:nvSpPr>
        <p:spPr>
          <a:xfrm>
            <a:off x="685800" y="2880360"/>
            <a:ext cx="3423818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6" name="lingkar-ikon-34"/>
          <p:cNvSpPr/>
          <p:nvPr/>
        </p:nvSpPr>
        <p:spPr>
          <a:xfrm>
            <a:off x="960120" y="31546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kon-3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3290743"/>
            <a:ext cx="294803" cy="294803"/>
          </a:xfrm>
          <a:prstGeom prst="rect">
            <a:avLst/>
          </a:prstGeom>
        </p:spPr>
      </p:pic>
      <p:sp>
        <p:nvSpPr>
          <p:cNvPr id="8" name="teks-36"/>
          <p:cNvSpPr txBox="1"/>
          <p:nvPr/>
        </p:nvSpPr>
        <p:spPr>
          <a:xfrm>
            <a:off x="3103778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ks-37"/>
          <p:cNvSpPr txBox="1"/>
          <p:nvPr/>
        </p:nvSpPr>
        <p:spPr>
          <a:xfrm>
            <a:off x="960120" y="38862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Under-reporting upah</a:t>
            </a:r>
            <a:endParaRPr lang="en-US" sz="2000" dirty="0"/>
          </a:p>
        </p:txBody>
      </p:sp>
      <p:sp>
        <p:nvSpPr>
          <p:cNvPr id="10" name="teks-38"/>
          <p:cNvSpPr txBox="1"/>
          <p:nvPr/>
        </p:nvSpPr>
        <p:spPr>
          <a:xfrm>
            <a:off x="960120" y="466344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Upah dilaporkan setara UMK, padahal upah riil lebih tinggi.</a:t>
            </a:r>
            <a:endParaRPr lang="en-US" sz="1700" dirty="0"/>
          </a:p>
        </p:txBody>
      </p:sp>
      <p:sp>
        <p:nvSpPr>
          <p:cNvPr id="11" name="kartu-39"/>
          <p:cNvSpPr/>
          <p:nvPr/>
        </p:nvSpPr>
        <p:spPr>
          <a:xfrm>
            <a:off x="4383938" y="2880360"/>
            <a:ext cx="3423818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2" name="lingkar-ikon-40"/>
          <p:cNvSpPr/>
          <p:nvPr/>
        </p:nvSpPr>
        <p:spPr>
          <a:xfrm>
            <a:off x="4658258" y="31546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kon-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321" y="3290743"/>
            <a:ext cx="294803" cy="294803"/>
          </a:xfrm>
          <a:prstGeom prst="rect">
            <a:avLst/>
          </a:prstGeom>
        </p:spPr>
      </p:pic>
      <p:sp>
        <p:nvSpPr>
          <p:cNvPr id="14" name="teks-42"/>
          <p:cNvSpPr txBox="1"/>
          <p:nvPr/>
        </p:nvSpPr>
        <p:spPr>
          <a:xfrm>
            <a:off x="6801917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ks-43"/>
          <p:cNvSpPr txBox="1"/>
          <p:nvPr/>
        </p:nvSpPr>
        <p:spPr>
          <a:xfrm>
            <a:off x="4658258" y="38862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Pendaftaran sebagian</a:t>
            </a:r>
            <a:endParaRPr lang="en-US" sz="2000" dirty="0"/>
          </a:p>
        </p:txBody>
      </p:sp>
      <p:sp>
        <p:nvSpPr>
          <p:cNvPr id="16" name="teks-44"/>
          <p:cNvSpPr txBox="1"/>
          <p:nvPr/>
        </p:nvSpPr>
        <p:spPr>
          <a:xfrm>
            <a:off x="4658258" y="466344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Hanya sebagian karyawan yang didaftarkan untuk menekan beban iuran.</a:t>
            </a:r>
            <a:endParaRPr lang="en-US" sz="1700" dirty="0"/>
          </a:p>
        </p:txBody>
      </p:sp>
      <p:sp>
        <p:nvSpPr>
          <p:cNvPr id="17" name="kartu-45"/>
          <p:cNvSpPr/>
          <p:nvPr/>
        </p:nvSpPr>
        <p:spPr>
          <a:xfrm>
            <a:off x="8082077" y="2880360"/>
            <a:ext cx="3423818" cy="2971800"/>
          </a:xfrm>
          <a:prstGeom prst="roundRect">
            <a:avLst>
              <a:gd name="adj" fmla="val 3692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8" name="lingkar-ikon-46"/>
          <p:cNvSpPr/>
          <p:nvPr/>
        </p:nvSpPr>
        <p:spPr>
          <a:xfrm>
            <a:off x="8356397" y="31546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ikon-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60" y="3290743"/>
            <a:ext cx="294803" cy="294803"/>
          </a:xfrm>
          <a:prstGeom prst="rect">
            <a:avLst/>
          </a:prstGeom>
        </p:spPr>
      </p:pic>
      <p:sp>
        <p:nvSpPr>
          <p:cNvPr id="20" name="teks-48"/>
          <p:cNvSpPr txBox="1"/>
          <p:nvPr/>
        </p:nvSpPr>
        <p:spPr>
          <a:xfrm>
            <a:off x="10500055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ks-49"/>
          <p:cNvSpPr txBox="1"/>
          <p:nvPr/>
        </p:nvSpPr>
        <p:spPr>
          <a:xfrm>
            <a:off x="8356397" y="388620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Misklasifikasi status</a:t>
            </a:r>
            <a:endParaRPr lang="en-US" sz="2000" dirty="0"/>
          </a:p>
        </p:txBody>
      </p:sp>
      <p:sp>
        <p:nvSpPr>
          <p:cNvPr id="22" name="teks-50"/>
          <p:cNvSpPr txBox="1"/>
          <p:nvPr/>
        </p:nvSpPr>
        <p:spPr>
          <a:xfrm>
            <a:off x="8356397" y="466344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Pekerja dipindah ke segmen mandiri (PBPU) agar lepas dari porsi 4%.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· URGENSI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Skala masalahnya</a:t>
            </a:r>
            <a:endParaRPr lang="en-US" sz="4000" dirty="0"/>
          </a:p>
        </p:txBody>
      </p:sp>
      <p:sp>
        <p:nvSpPr>
          <p:cNvPr id="4" name="kartu-51"/>
          <p:cNvSpPr/>
          <p:nvPr/>
        </p:nvSpPr>
        <p:spPr>
          <a:xfrm>
            <a:off x="685800" y="1874520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teks-52"/>
          <p:cNvSpPr txBox="1"/>
          <p:nvPr/>
        </p:nvSpPr>
        <p:spPr>
          <a:xfrm>
            <a:off x="960120" y="21031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282,8 jt</a:t>
            </a:r>
            <a:endParaRPr lang="en-US" sz="4600" dirty="0"/>
          </a:p>
        </p:txBody>
      </p:sp>
      <p:sp>
        <p:nvSpPr>
          <p:cNvPr id="6" name="teks-53"/>
          <p:cNvSpPr txBox="1"/>
          <p:nvPr/>
        </p:nvSpPr>
        <p:spPr>
          <a:xfrm>
            <a:off x="960120" y="2926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peserta JKN per 30 September 2026</a:t>
            </a:r>
            <a:endParaRPr lang="en-US" sz="1600" dirty="0"/>
          </a:p>
        </p:txBody>
      </p:sp>
      <p:sp>
        <p:nvSpPr>
          <p:cNvPr id="7" name="teks-54"/>
          <p:cNvSpPr txBox="1"/>
          <p:nvPr/>
        </p:nvSpPr>
        <p:spPr>
          <a:xfrm>
            <a:off x="960120" y="37490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Sumber: Portal Data BPJS Kesehatan</a:t>
            </a:r>
            <a:endParaRPr lang="en-US" sz="1200" dirty="0"/>
          </a:p>
        </p:txBody>
      </p:sp>
      <p:sp>
        <p:nvSpPr>
          <p:cNvPr id="8" name="kartu-55"/>
          <p:cNvSpPr/>
          <p:nvPr/>
        </p:nvSpPr>
        <p:spPr>
          <a:xfrm>
            <a:off x="4383938" y="1874520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9" name="teks-56"/>
          <p:cNvSpPr txBox="1"/>
          <p:nvPr/>
        </p:nvSpPr>
        <p:spPr>
          <a:xfrm>
            <a:off x="4658258" y="21031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47,0 jt</a:t>
            </a:r>
            <a:endParaRPr lang="en-US" sz="4600" dirty="0"/>
          </a:p>
        </p:txBody>
      </p:sp>
      <p:sp>
        <p:nvSpPr>
          <p:cNvPr id="10" name="teks-57"/>
          <p:cNvSpPr txBox="1"/>
          <p:nvPr/>
        </p:nvSpPr>
        <p:spPr>
          <a:xfrm>
            <a:off x="4658258" y="2926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peserta PPU Badan Usaha, 16,6% peserta JKN, segmen yang dilindungi PayRay</a:t>
            </a:r>
            <a:endParaRPr lang="en-US" sz="1600" dirty="0"/>
          </a:p>
        </p:txBody>
      </p:sp>
      <p:sp>
        <p:nvSpPr>
          <p:cNvPr id="11" name="teks-58"/>
          <p:cNvSpPr txBox="1"/>
          <p:nvPr/>
        </p:nvSpPr>
        <p:spPr>
          <a:xfrm>
            <a:off x="4658258" y="37490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Sumber: Portal Data BPJS Kesehatan</a:t>
            </a:r>
            <a:endParaRPr lang="en-US" sz="1200" dirty="0"/>
          </a:p>
        </p:txBody>
      </p:sp>
      <p:sp>
        <p:nvSpPr>
          <p:cNvPr id="12" name="kartu-59"/>
          <p:cNvSpPr/>
          <p:nvPr/>
        </p:nvSpPr>
        <p:spPr>
          <a:xfrm>
            <a:off x="8082077" y="1874520"/>
            <a:ext cx="342381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3" name="teks-60"/>
          <p:cNvSpPr txBox="1"/>
          <p:nvPr/>
        </p:nvSpPr>
        <p:spPr>
          <a:xfrm>
            <a:off x="8356397" y="21031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Rp31,61 T</a:t>
            </a:r>
            <a:endParaRPr lang="en-US" sz="4600" dirty="0"/>
          </a:p>
        </p:txBody>
      </p:sp>
      <p:sp>
        <p:nvSpPr>
          <p:cNvPr id="14" name="teks-61"/>
          <p:cNvSpPr txBox="1"/>
          <p:nvPr/>
        </p:nvSpPr>
        <p:spPr>
          <a:xfrm>
            <a:off x="8356397" y="2926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pendapatan iuran PPU badan usaha &amp; penyelenggara negara tidak didukung data memadai</a:t>
            </a:r>
            <a:endParaRPr lang="en-US" sz="1600" dirty="0"/>
          </a:p>
        </p:txBody>
      </p:sp>
      <p:sp>
        <p:nvSpPr>
          <p:cNvPr id="15" name="teks-62"/>
          <p:cNvSpPr txBox="1"/>
          <p:nvPr/>
        </p:nvSpPr>
        <p:spPr>
          <a:xfrm>
            <a:off x="8356397" y="374904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Sumber: BPK, IHPS II Tahun 2025</a:t>
            </a:r>
            <a:endParaRPr lang="en-US" sz="1200" dirty="0"/>
          </a:p>
        </p:txBody>
      </p:sp>
      <p:sp>
        <p:nvSpPr>
          <p:cNvPr id="16" name="kartu-63"/>
          <p:cNvSpPr/>
          <p:nvPr/>
        </p:nvSpPr>
        <p:spPr>
          <a:xfrm>
            <a:off x="685800" y="4389120"/>
            <a:ext cx="10820095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/>
        </p:spPr>
      </p:sp>
      <p:sp>
        <p:nvSpPr>
          <p:cNvPr id="17" name="teks-64"/>
          <p:cNvSpPr txBox="1"/>
          <p:nvPr/>
        </p:nvSpPr>
        <p:spPr>
          <a:xfrm>
            <a:off x="1005840" y="461772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Di Tulungagung, baru 416 dari 1.092 badan usaha terdata yang mendaftarkan pekerjanya (ANTARA, Juni 2026).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Kapasitas pemeriksaan terbatas; tanpa prioritas berbasis data, sebagian ketidakpatuhan tidak terpantau.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accent1"/>
                </a:solidFill>
              </a:rPr>
              <a:t>Kami membingkainya sebagai efisiensi dan integritas, bukan tuduhan.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· SOLUSI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Prioritas pemeriksaan berbasis data</a:t>
            </a:r>
            <a:endParaRPr lang="en-US" sz="4000" dirty="0"/>
          </a:p>
        </p:txBody>
      </p:sp>
      <p:sp>
        <p:nvSpPr>
          <p:cNvPr id="4" name="kartu-65"/>
          <p:cNvSpPr/>
          <p:nvPr/>
        </p:nvSpPr>
        <p:spPr>
          <a:xfrm>
            <a:off x="685800" y="2103120"/>
            <a:ext cx="4937760" cy="329184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/>
        </p:spPr>
      </p:sp>
      <p:sp>
        <p:nvSpPr>
          <p:cNvPr id="5" name="teks-66"/>
          <p:cNvSpPr txBox="1"/>
          <p:nvPr/>
        </p:nvSpPr>
        <p:spPr>
          <a:xfrm>
            <a:off x="105156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HARI INI</a:t>
            </a:r>
            <a:endParaRPr lang="en-US" sz="1200" dirty="0"/>
          </a:p>
        </p:txBody>
      </p:sp>
      <p:sp>
        <p:nvSpPr>
          <p:cNvPr id="6" name="teks-67"/>
          <p:cNvSpPr txBox="1"/>
          <p:nvPr/>
        </p:nvSpPr>
        <p:spPr>
          <a:xfrm>
            <a:off x="1051560" y="27889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9C7C9"/>
                </a:solidFill>
              </a:rPr>
              <a:t>Target pemeriksaan bergantung pada kapasitas dan informasi yang tersedia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9C7C9"/>
                </a:solidFill>
              </a:rPr>
              <a:t>Ketidakpatuhan sering baru terlihat setelah iuran lama bocor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B9C7C9"/>
                </a:solidFill>
              </a:rPr>
              <a:t>Sulit membandingkan ribuan badan usaha sekaligus</a:t>
            </a:r>
            <a:endParaRPr lang="en-US" sz="1700" dirty="0"/>
          </a:p>
        </p:txBody>
      </p:sp>
      <p:sp>
        <p:nvSpPr>
          <p:cNvPr id="7" name="panah-solusi"/>
          <p:cNvSpPr/>
          <p:nvPr/>
        </p:nvSpPr>
        <p:spPr>
          <a:xfrm>
            <a:off x="5870448" y="3520440"/>
            <a:ext cx="5029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kartu-68"/>
          <p:cNvSpPr/>
          <p:nvPr/>
        </p:nvSpPr>
        <p:spPr>
          <a:xfrm>
            <a:off x="6565392" y="2103120"/>
            <a:ext cx="4937760" cy="3291840"/>
          </a:xfrm>
          <a:prstGeom prst="roundRect">
            <a:avLst>
              <a:gd name="adj" fmla="val 3333"/>
            </a:avLst>
          </a:prstGeom>
          <a:solidFill>
            <a:schemeClr val="accent1">
              <a:alpha val="45000"/>
            </a:schemeClr>
          </a:solidFill>
          <a:ln w="9525">
            <a:solidFill>
              <a:srgbClr val="A6CE39"/>
            </a:solidFill>
            <a:prstDash val="solid"/>
          </a:ln>
        </p:spPr>
      </p:sp>
      <p:sp>
        <p:nvSpPr>
          <p:cNvPr id="9" name="teks-69"/>
          <p:cNvSpPr txBox="1"/>
          <p:nvPr/>
        </p:nvSpPr>
        <p:spPr>
          <a:xfrm>
            <a:off x="6931152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DENGAN PAYRAY</a:t>
            </a:r>
            <a:endParaRPr lang="en-US" sz="1200" dirty="0"/>
          </a:p>
        </p:txBody>
      </p:sp>
      <p:sp>
        <p:nvSpPr>
          <p:cNvPr id="10" name="teks-70"/>
          <p:cNvSpPr txBox="1"/>
          <p:nvPr/>
        </p:nvSpPr>
        <p:spPr>
          <a:xfrm>
            <a:off x="6931152" y="27889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Semua badan usaha diskor otomatis setiap periode, &lt; 1 menit untuk 5.000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Petugas mulai dari prioritas tertinggi, berdasarkan skor dan keyakinan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Setiap skor disertai alasan dan estimasi potensi iuran dalam rupiah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7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· CARA KERJA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Tiga sudut pandang scan</a:t>
            </a:r>
            <a:endParaRPr lang="en-US" sz="4000" dirty="0"/>
          </a:p>
        </p:txBody>
      </p:sp>
      <p:sp>
        <p:nvSpPr>
          <p:cNvPr id="4" name="kartu-71"/>
          <p:cNvSpPr/>
          <p:nvPr/>
        </p:nvSpPr>
        <p:spPr>
          <a:xfrm>
            <a:off x="685800" y="1874520"/>
            <a:ext cx="3423818" cy="406908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lingkar-ikon-72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kon-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284903"/>
            <a:ext cx="294803" cy="294803"/>
          </a:xfrm>
          <a:prstGeom prst="rect">
            <a:avLst/>
          </a:prstGeom>
        </p:spPr>
      </p:pic>
      <p:sp>
        <p:nvSpPr>
          <p:cNvPr id="7" name="teks-74"/>
          <p:cNvSpPr txBox="1"/>
          <p:nvPr/>
        </p:nvSpPr>
        <p:spPr>
          <a:xfrm>
            <a:off x="960120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Upah</a:t>
            </a:r>
            <a:endParaRPr lang="en-US" sz="2100" dirty="0"/>
          </a:p>
        </p:txBody>
      </p:sp>
      <p:sp>
        <p:nvSpPr>
          <p:cNvPr id="8" name="teks-75"/>
          <p:cNvSpPr txBox="1"/>
          <p:nvPr/>
        </p:nvSpPr>
        <p:spPr>
          <a:xfrm>
            <a:off x="960120" y="331012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Under-reporting Upah</a:t>
            </a:r>
            <a:endParaRPr lang="en-US" sz="1500" dirty="0"/>
          </a:p>
        </p:txBody>
      </p:sp>
      <p:sp>
        <p:nvSpPr>
          <p:cNvPr id="9" name="teks-76"/>
          <p:cNvSpPr txBox="1"/>
          <p:nvPr/>
        </p:nvSpPr>
        <p:spPr>
          <a:xfrm>
            <a:off x="960120" y="3749040"/>
            <a:ext cx="28751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Bunching tepat di UMK vs sektor sejenis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Tidak ada staf di atas UMK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Upah beku saat UMK naik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Upah teratas jauh di bawah sektor &amp; wilayah</a:t>
            </a:r>
            <a:endParaRPr lang="en-US" sz="1500" dirty="0"/>
          </a:p>
        </p:txBody>
      </p:sp>
      <p:sp>
        <p:nvSpPr>
          <p:cNvPr id="10" name="kartu-77"/>
          <p:cNvSpPr/>
          <p:nvPr/>
        </p:nvSpPr>
        <p:spPr>
          <a:xfrm>
            <a:off x="4383938" y="1874520"/>
            <a:ext cx="3423818" cy="406908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1" name="lingkar-ikon-78"/>
          <p:cNvSpPr/>
          <p:nvPr/>
        </p:nvSpPr>
        <p:spPr>
          <a:xfrm>
            <a:off x="4658258" y="21488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kon-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321" y="2284903"/>
            <a:ext cx="294803" cy="294803"/>
          </a:xfrm>
          <a:prstGeom prst="rect">
            <a:avLst/>
          </a:prstGeom>
        </p:spPr>
      </p:pic>
      <p:sp>
        <p:nvSpPr>
          <p:cNvPr id="13" name="teks-80"/>
          <p:cNvSpPr txBox="1"/>
          <p:nvPr/>
        </p:nvSpPr>
        <p:spPr>
          <a:xfrm>
            <a:off x="4658258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Headcount</a:t>
            </a:r>
            <a:endParaRPr lang="en-US" sz="2100" dirty="0"/>
          </a:p>
        </p:txBody>
      </p:sp>
      <p:sp>
        <p:nvSpPr>
          <p:cNvPr id="14" name="teks-81"/>
          <p:cNvSpPr txBox="1"/>
          <p:nvPr/>
        </p:nvSpPr>
        <p:spPr>
          <a:xfrm>
            <a:off x="4658258" y="331012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Pendaftaran Pekerja Sebagian</a:t>
            </a:r>
            <a:endParaRPr lang="en-US" sz="1500" dirty="0"/>
          </a:p>
        </p:txBody>
      </p:sp>
      <p:sp>
        <p:nvSpPr>
          <p:cNvPr id="15" name="teks-82"/>
          <p:cNvSpPr txBox="1"/>
          <p:nvPr/>
        </p:nvSpPr>
        <p:spPr>
          <a:xfrm>
            <a:off x="4658258" y="3749040"/>
            <a:ext cx="28751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Pekerja terdaftar vs rencana tenaga kerja di NIB/OSS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Pola jumlah pekerja per sektor (KBLI) &amp; skala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Fase lanjut: dicocokkan dengan BPJS Ketenagakerjaan</a:t>
            </a:r>
            <a:endParaRPr lang="en-US" sz="1500" dirty="0"/>
          </a:p>
        </p:txBody>
      </p:sp>
      <p:sp>
        <p:nvSpPr>
          <p:cNvPr id="16" name="kartu-83"/>
          <p:cNvSpPr/>
          <p:nvPr/>
        </p:nvSpPr>
        <p:spPr>
          <a:xfrm>
            <a:off x="8082077" y="1874520"/>
            <a:ext cx="3423818" cy="406908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7" name="lingkar-ikon-84"/>
          <p:cNvSpPr/>
          <p:nvPr/>
        </p:nvSpPr>
        <p:spPr>
          <a:xfrm>
            <a:off x="8356397" y="21488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kon-8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60" y="2284903"/>
            <a:ext cx="294803" cy="294803"/>
          </a:xfrm>
          <a:prstGeom prst="rect">
            <a:avLst/>
          </a:prstGeom>
        </p:spPr>
      </p:pic>
      <p:sp>
        <p:nvSpPr>
          <p:cNvPr id="19" name="teks-86"/>
          <p:cNvSpPr txBox="1"/>
          <p:nvPr/>
        </p:nvSpPr>
        <p:spPr>
          <a:xfrm>
            <a:off x="8356397" y="2880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Status</a:t>
            </a:r>
            <a:endParaRPr lang="en-US" sz="2100" dirty="0"/>
          </a:p>
        </p:txBody>
      </p:sp>
      <p:sp>
        <p:nvSpPr>
          <p:cNvPr id="20" name="teks-87"/>
          <p:cNvSpPr txBox="1"/>
          <p:nvPr/>
        </p:nvSpPr>
        <p:spPr>
          <a:xfrm>
            <a:off x="8356397" y="331012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Misklasifikasi Status Kerja</a:t>
            </a:r>
            <a:endParaRPr lang="en-US" sz="1500" dirty="0"/>
          </a:p>
        </p:txBody>
      </p:sp>
      <p:sp>
        <p:nvSpPr>
          <p:cNvPr id="21" name="teks-88"/>
          <p:cNvSpPr txBox="1"/>
          <p:nvPr/>
        </p:nvSpPr>
        <p:spPr>
          <a:xfrm>
            <a:off x="8356397" y="3749040"/>
            <a:ext cx="28751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Klaster keluar PPU lalu terdaftar PBPU ≤ 30 hari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Dari satu pemberi kerja, dalam 3 bulan, bukan PHK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Fase lanjut: cek pekerja masih aktif bekerja (data BPJS TK)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· OUTPUT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Lembar hasil scan untuk petugas</a:t>
            </a:r>
            <a:endParaRPr lang="en-US" sz="4000" dirty="0"/>
          </a:p>
        </p:txBody>
      </p:sp>
      <p:sp>
        <p:nvSpPr>
          <p:cNvPr id="4" name="kartu-89"/>
          <p:cNvSpPr/>
          <p:nvPr/>
        </p:nvSpPr>
        <p:spPr>
          <a:xfrm>
            <a:off x="685800" y="1828800"/>
            <a:ext cx="6537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teks-90"/>
          <p:cNvSpPr txBox="1"/>
          <p:nvPr/>
        </p:nvSpPr>
        <p:spPr>
          <a:xfrm>
            <a:off x="100584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PT Cahaya Mandiri</a:t>
            </a:r>
            <a:endParaRPr lang="en-US" sz="2100" dirty="0"/>
          </a:p>
        </p:txBody>
      </p:sp>
      <p:sp>
        <p:nvSpPr>
          <p:cNvPr id="6" name="lencana-risiko"/>
          <p:cNvSpPr/>
          <p:nvPr/>
        </p:nvSpPr>
        <p:spPr>
          <a:xfrm>
            <a:off x="5440680" y="210312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BE3D6"/>
          </a:solidFill>
          <a:ln/>
        </p:spPr>
      </p:sp>
      <p:sp>
        <p:nvSpPr>
          <p:cNvPr id="7" name="teks-91"/>
          <p:cNvSpPr txBox="1"/>
          <p:nvPr/>
        </p:nvSpPr>
        <p:spPr>
          <a:xfrm>
            <a:off x="544068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3B12"/>
                </a:solidFill>
              </a:rPr>
              <a:t>Risiko Tinggi</a:t>
            </a:r>
            <a:endParaRPr lang="en-US" sz="1400" dirty="0"/>
          </a:p>
        </p:txBody>
      </p:sp>
      <p:sp>
        <p:nvSpPr>
          <p:cNvPr id="8" name="teks-92"/>
          <p:cNvSpPr txBox="1"/>
          <p:nvPr/>
        </p:nvSpPr>
        <p:spPr>
          <a:xfrm>
            <a:off x="1005840" y="256032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Keluaran asli mesin PayRay, data sintetis · Industri alas kaki · 49 pekerja dilaporkan</a:t>
            </a:r>
            <a:endParaRPr lang="en-US" sz="1300" dirty="0"/>
          </a:p>
        </p:txBody>
      </p:sp>
      <p:sp>
        <p:nvSpPr>
          <p:cNvPr id="9" name="skor"/>
          <p:cNvSpPr txBox="1"/>
          <p:nvPr/>
        </p:nvSpPr>
        <p:spPr>
          <a:xfrm>
            <a:off x="100584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</a:t>
            </a:r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/100</a:t>
            </a:r>
            <a:endParaRPr lang="en-US" sz="4400" dirty="0"/>
          </a:p>
        </p:txBody>
      </p:sp>
      <p:sp>
        <p:nvSpPr>
          <p:cNvPr id="10" name="lencana-keyakinan"/>
          <p:cNvSpPr/>
          <p:nvPr/>
        </p:nvSpPr>
        <p:spPr>
          <a:xfrm>
            <a:off x="3383280" y="3072384"/>
            <a:ext cx="178308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1" name="teks-93"/>
          <p:cNvSpPr txBox="1"/>
          <p:nvPr/>
        </p:nvSpPr>
        <p:spPr>
          <a:xfrm>
            <a:off x="3383280" y="30723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Keyakinan: tinggi</a:t>
            </a:r>
            <a:endParaRPr lang="en-US" sz="1400" dirty="0"/>
          </a:p>
        </p:txBody>
      </p:sp>
      <p:sp>
        <p:nvSpPr>
          <p:cNvPr id="12" name="teks-94"/>
          <p:cNvSpPr txBox="1"/>
          <p:nvPr/>
        </p:nvSpPr>
        <p:spPr>
          <a:xfrm>
            <a:off x="10058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ALASAN UTAMA</a:t>
            </a:r>
            <a:endParaRPr lang="en-US" sz="1200" dirty="0"/>
          </a:p>
        </p:txBody>
      </p:sp>
      <p:sp>
        <p:nvSpPr>
          <p:cNvPr id="13" name="teks-95"/>
          <p:cNvSpPr txBox="1"/>
          <p:nvPr/>
        </p:nvSpPr>
        <p:spPr>
          <a:xfrm>
            <a:off x="1005840" y="4023360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24 pekerja pindah ke PBPU ≤ 30 hari, dalam 3 bulan, bukan PHK (46%)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Terdaftar 48 pekerja, rencana tenaga kerja di OSS 112 (43%)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Kombinasi pola tidak biasa dibanding usaha seskala</a:t>
            </a:r>
            <a:endParaRPr lang="en-US" sz="1500" dirty="0"/>
          </a:p>
        </p:txBody>
      </p:sp>
      <p:sp>
        <p:nvSpPr>
          <p:cNvPr id="14" name="pemisah"/>
          <p:cNvSpPr/>
          <p:nvPr/>
        </p:nvSpPr>
        <p:spPr>
          <a:xfrm>
            <a:off x="1005840" y="5074920"/>
            <a:ext cx="5897880" cy="0"/>
          </a:xfrm>
          <a:prstGeom prst="line">
            <a:avLst/>
          </a:prstGeom>
          <a:noFill/>
          <a:ln w="9525">
            <a:solidFill>
              <a:srgbClr val="DEDCD4"/>
            </a:solidFill>
            <a:prstDash val="solid"/>
          </a:ln>
        </p:spPr>
      </p:sp>
      <p:sp>
        <p:nvSpPr>
          <p:cNvPr id="15" name="teks-96"/>
          <p:cNvSpPr txBox="1"/>
          <p:nvPr/>
        </p:nvSpPr>
        <p:spPr>
          <a:xfrm>
            <a:off x="1005840" y="5230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Estimasi potensi iuran tak tertagih</a:t>
            </a:r>
            <a:endParaRPr lang="en-US" sz="1400" dirty="0"/>
          </a:p>
        </p:txBody>
      </p:sp>
      <p:sp>
        <p:nvSpPr>
          <p:cNvPr id="16" name="teks-97"/>
          <p:cNvSpPr txBox="1"/>
          <p:nvPr/>
        </p:nvSpPr>
        <p:spPr>
          <a:xfrm>
            <a:off x="4160520" y="5184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± Rp212 jt/thn</a:t>
            </a:r>
            <a:endParaRPr lang="en-US" sz="2400" dirty="0"/>
          </a:p>
        </p:txBody>
      </p:sp>
      <p:sp>
        <p:nvSpPr>
          <p:cNvPr id="17" name="teks-98"/>
          <p:cNvSpPr txBox="1"/>
          <p:nvPr/>
        </p:nvSpPr>
        <p:spPr>
          <a:xfrm>
            <a:off x="1005840" y="566928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Kerugian sebenarnya di simulasi: Rp215 jt/thn</a:t>
            </a:r>
            <a:endParaRPr lang="en-US" sz="1200" dirty="0"/>
          </a:p>
        </p:txBody>
      </p:sp>
      <p:sp>
        <p:nvSpPr>
          <p:cNvPr id="18" name="teks-99"/>
          <p:cNvSpPr txBox="1"/>
          <p:nvPr/>
        </p:nvSpPr>
        <p:spPr>
          <a:xfrm>
            <a:off x="7635240" y="187452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Skor + keyakinan</a:t>
            </a:r>
            <a:endParaRPr lang="en-US" sz="1800" dirty="0"/>
          </a:p>
        </p:txBody>
      </p:sp>
      <p:sp>
        <p:nvSpPr>
          <p:cNvPr id="19" name="teks-100"/>
          <p:cNvSpPr txBox="1"/>
          <p:nvPr/>
        </p:nvSpPr>
        <p:spPr>
          <a:xfrm>
            <a:off x="7635240" y="225856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Skor dengan keyakinan rendah tidak diprioritaskan.</a:t>
            </a:r>
            <a:endParaRPr lang="en-US" sz="1500" dirty="0"/>
          </a:p>
        </p:txBody>
      </p:sp>
      <p:sp>
        <p:nvSpPr>
          <p:cNvPr id="20" name="teks-101"/>
          <p:cNvSpPr txBox="1"/>
          <p:nvPr/>
        </p:nvSpPr>
        <p:spPr>
          <a:xfrm>
            <a:off x="7635240" y="289864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Alasan yang bisa dibaca</a:t>
            </a:r>
            <a:endParaRPr lang="en-US" sz="1800" dirty="0"/>
          </a:p>
        </p:txBody>
      </p:sp>
      <p:sp>
        <p:nvSpPr>
          <p:cNvPr id="21" name="teks-102"/>
          <p:cNvSpPr txBox="1"/>
          <p:nvPr/>
        </p:nvSpPr>
        <p:spPr>
          <a:xfrm>
            <a:off x="7635240" y="3282696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Bukan kotak hitam: setiap skor punya bukti.</a:t>
            </a:r>
            <a:endParaRPr lang="en-US" sz="1500" dirty="0"/>
          </a:p>
        </p:txBody>
      </p:sp>
      <p:sp>
        <p:nvSpPr>
          <p:cNvPr id="22" name="teks-103"/>
          <p:cNvSpPr txBox="1"/>
          <p:nvPr/>
        </p:nvSpPr>
        <p:spPr>
          <a:xfrm>
            <a:off x="7635240" y="392277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Estimasi dalam rupiah</a:t>
            </a:r>
            <a:endParaRPr lang="en-US" sz="1800" dirty="0"/>
          </a:p>
        </p:txBody>
      </p:sp>
      <p:sp>
        <p:nvSpPr>
          <p:cNvPr id="23" name="teks-104"/>
          <p:cNvSpPr txBox="1"/>
          <p:nvPr/>
        </p:nvSpPr>
        <p:spPr>
          <a:xfrm>
            <a:off x="7635240" y="4306824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Prioritas berdasarkan nilai, bukan skor saja.</a:t>
            </a:r>
            <a:endParaRPr lang="en-US" sz="1500" dirty="0"/>
          </a:p>
        </p:txBody>
      </p:sp>
      <p:sp>
        <p:nvSpPr>
          <p:cNvPr id="24" name="teks-105"/>
          <p:cNvSpPr txBox="1"/>
          <p:nvPr/>
        </p:nvSpPr>
        <p:spPr>
          <a:xfrm>
            <a:off x="7635240" y="4946904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Keputusan di petugas</a:t>
            </a:r>
            <a:endParaRPr lang="en-US" sz="1800" dirty="0"/>
          </a:p>
        </p:txBody>
      </p:sp>
      <p:sp>
        <p:nvSpPr>
          <p:cNvPr id="25" name="teks-106"/>
          <p:cNvSpPr txBox="1"/>
          <p:nvPr/>
        </p:nvSpPr>
        <p:spPr>
          <a:xfrm>
            <a:off x="7635240" y="5330952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PayRay mengurutkan, manusia memutuskan.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· PENDEKATAN TEKNIS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 data ke keputusan</a:t>
            </a:r>
            <a:endParaRPr lang="en-US" sz="4000" dirty="0"/>
          </a:p>
        </p:txBody>
      </p:sp>
      <p:sp>
        <p:nvSpPr>
          <p:cNvPr id="4" name="kartu-107"/>
          <p:cNvSpPr/>
          <p:nvPr/>
        </p:nvSpPr>
        <p:spPr>
          <a:xfrm>
            <a:off x="685800" y="1828800"/>
            <a:ext cx="32461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teks-108"/>
          <p:cNvSpPr txBox="1"/>
          <p:nvPr/>
        </p:nvSpPr>
        <p:spPr>
          <a:xfrm>
            <a:off x="941832" y="2011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1 · INPUT</a:t>
            </a:r>
            <a:endParaRPr lang="en-US" sz="1200" dirty="0"/>
          </a:p>
        </p:txBody>
      </p:sp>
      <p:sp>
        <p:nvSpPr>
          <p:cNvPr id="6" name="teks-109"/>
          <p:cNvSpPr txBox="1"/>
          <p:nvPr/>
        </p:nvSpPr>
        <p:spPr>
          <a:xfrm>
            <a:off x="941832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900" dirty="0"/>
          </a:p>
        </p:txBody>
      </p:sp>
      <p:sp>
        <p:nvSpPr>
          <p:cNvPr id="7" name="teks-110"/>
          <p:cNvSpPr txBox="1"/>
          <p:nvPr/>
        </p:nvSpPr>
        <p:spPr>
          <a:xfrm>
            <a:off x="941832" y="2697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Kepesertaan &amp; upah PPU (sintetis)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UMP / UMK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Upah per sektor (BPS)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Skala usaha &amp; KBLI (OSS)</a:t>
            </a:r>
            <a:endParaRPr lang="en-US" sz="1400" dirty="0"/>
          </a:p>
        </p:txBody>
      </p:sp>
      <p:sp>
        <p:nvSpPr>
          <p:cNvPr id="8" name="panah-111"/>
          <p:cNvSpPr/>
          <p:nvPr/>
        </p:nvSpPr>
        <p:spPr>
          <a:xfrm>
            <a:off x="4019474" y="2862072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kartu-112"/>
          <p:cNvSpPr/>
          <p:nvPr/>
        </p:nvSpPr>
        <p:spPr>
          <a:xfrm>
            <a:off x="4472788" y="1828800"/>
            <a:ext cx="32461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1B7F57"/>
            </a:solidFill>
            <a:prstDash val="solid"/>
          </a:ln>
        </p:spPr>
      </p:sp>
      <p:sp>
        <p:nvSpPr>
          <p:cNvPr id="10" name="teks-113"/>
          <p:cNvSpPr txBox="1"/>
          <p:nvPr/>
        </p:nvSpPr>
        <p:spPr>
          <a:xfrm>
            <a:off x="4728820" y="2011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2 · PROSES</a:t>
            </a:r>
            <a:endParaRPr lang="en-US" sz="1200" dirty="0"/>
          </a:p>
        </p:txBody>
      </p:sp>
      <p:sp>
        <p:nvSpPr>
          <p:cNvPr id="11" name="teks-114"/>
          <p:cNvSpPr txBox="1"/>
          <p:nvPr/>
        </p:nvSpPr>
        <p:spPr>
          <a:xfrm>
            <a:off x="4728820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Mesin scan</a:t>
            </a:r>
            <a:endParaRPr lang="en-US" sz="1900" dirty="0"/>
          </a:p>
        </p:txBody>
      </p:sp>
      <p:sp>
        <p:nvSpPr>
          <p:cNvPr id="12" name="teks-115"/>
          <p:cNvSpPr txBox="1"/>
          <p:nvPr/>
        </p:nvSpPr>
        <p:spPr>
          <a:xfrm>
            <a:off x="4728820" y="2697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 aturan bisnis transparan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Isolation Forest untuk anomali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Skor gabungan + reason code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Kalkulator estimasi iuran</a:t>
            </a:r>
            <a:endParaRPr lang="en-US" sz="1400" dirty="0"/>
          </a:p>
        </p:txBody>
      </p:sp>
      <p:sp>
        <p:nvSpPr>
          <p:cNvPr id="13" name="panah-116"/>
          <p:cNvSpPr/>
          <p:nvPr/>
        </p:nvSpPr>
        <p:spPr>
          <a:xfrm>
            <a:off x="7806461" y="2862072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kartu-117"/>
          <p:cNvSpPr/>
          <p:nvPr/>
        </p:nvSpPr>
        <p:spPr>
          <a:xfrm>
            <a:off x="8259775" y="1828800"/>
            <a:ext cx="32461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5" name="teks-118"/>
          <p:cNvSpPr txBox="1"/>
          <p:nvPr/>
        </p:nvSpPr>
        <p:spPr>
          <a:xfrm>
            <a:off x="8515807" y="2011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3 · OUTPUT</a:t>
            </a:r>
            <a:endParaRPr lang="en-US" sz="1200" dirty="0"/>
          </a:p>
        </p:txBody>
      </p:sp>
      <p:sp>
        <p:nvSpPr>
          <p:cNvPr id="16" name="teks-119"/>
          <p:cNvSpPr txBox="1"/>
          <p:nvPr/>
        </p:nvSpPr>
        <p:spPr>
          <a:xfrm>
            <a:off x="8515807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Keputusan</a:t>
            </a:r>
            <a:endParaRPr lang="en-US" sz="1900" dirty="0"/>
          </a:p>
        </p:txBody>
      </p:sp>
      <p:sp>
        <p:nvSpPr>
          <p:cNvPr id="17" name="teks-120"/>
          <p:cNvSpPr txBox="1"/>
          <p:nvPr/>
        </p:nvSpPr>
        <p:spPr>
          <a:xfrm>
            <a:off x="8515807" y="2697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Ranking risiko badan usaha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Lembar hasil scan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Antrean pemeriksaan petugas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Hasil pemeriksaan jadi label baru</a:t>
            </a:r>
            <a:endParaRPr lang="en-US" sz="1400" dirty="0"/>
          </a:p>
        </p:txBody>
      </p:sp>
      <p:sp>
        <p:nvSpPr>
          <p:cNvPr id="18" name="kartu-121"/>
          <p:cNvSpPr/>
          <p:nvPr/>
        </p:nvSpPr>
        <p:spPr>
          <a:xfrm>
            <a:off x="685800" y="4389120"/>
            <a:ext cx="598932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/>
        </p:spPr>
      </p:sp>
      <p:sp>
        <p:nvSpPr>
          <p:cNvPr id="19" name="teks-122"/>
          <p:cNvSpPr txBox="1"/>
          <p:nvPr/>
        </p:nvSpPr>
        <p:spPr>
          <a:xfrm>
            <a:off x="96012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RUMUS KALKULATOR</a:t>
            </a:r>
            <a:endParaRPr lang="en-US" sz="1200" dirty="0"/>
          </a:p>
        </p:txBody>
      </p:sp>
      <p:sp>
        <p:nvSpPr>
          <p:cNvPr id="20" name="teks-123"/>
          <p:cNvSpPr txBox="1"/>
          <p:nvPr/>
        </p:nvSpPr>
        <p:spPr>
          <a:xfrm>
            <a:off x="960120" y="48463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(min(upah wajar, plafon) − min(upah dilaporkan, plafon)) × 5% × pekerja × 12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iuran pekerja tak terdaftar &amp; yang dipindah ke PBPU. Plafon upah iuran Rp12 jt (Perpres 64/2020).</a:t>
            </a:r>
            <a:endParaRPr lang="en-US" sz="1400" dirty="0"/>
          </a:p>
        </p:txBody>
      </p:sp>
      <p:sp>
        <p:nvSpPr>
          <p:cNvPr id="21" name="kartu-124"/>
          <p:cNvSpPr/>
          <p:nvPr/>
        </p:nvSpPr>
        <p:spPr>
          <a:xfrm>
            <a:off x="6949440" y="4389120"/>
            <a:ext cx="455645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2" name="teks-125"/>
          <p:cNvSpPr txBox="1"/>
          <p:nvPr/>
        </p:nvSpPr>
        <p:spPr>
          <a:xfrm>
            <a:off x="7223760" y="4553712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KENAPA AI, BUKAN ATURAN SAJA</a:t>
            </a:r>
            <a:endParaRPr lang="en-US" sz="1200" dirty="0"/>
          </a:p>
        </p:txBody>
      </p:sp>
      <p:sp>
        <p:nvSpPr>
          <p:cNvPr id="23" name="teks-126"/>
          <p:cNvSpPr txBox="1"/>
          <p:nvPr/>
        </p:nvSpPr>
        <p:spPr>
          <a:xfrm>
            <a:off x="7223760" y="4846320"/>
            <a:ext cx="4053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Aturan menangkap modus yang sudah dikenal dan mudah dijelaskan. Isolation Forest menangkap kombinasi pola tak biasa yang belum dirumuskan. Hasil pemeriksaan melatih ulang urutan prioritas.</a:t>
            </a:r>
            <a:endParaRPr lang="en-US" sz="1400" dirty="0"/>
          </a:p>
        </p:txBody>
      </p:sp>
      <p:sp>
        <p:nvSpPr>
          <p:cNvPr id="24" name="teks-127"/>
          <p:cNvSpPr txBox="1"/>
          <p:nvPr/>
        </p:nvSpPr>
        <p:spPr>
          <a:xfrm>
            <a:off x="685800" y="605332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Stack: Python · FastAPI · PostgreSQL · scikit-learn · dashboard web   |   Keamanan: enkripsi, akses berbasis peran, audit log, NIK dipseudonimisasi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· DATA &amp; ASUMSI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yang dipakai, dan batasnya</a:t>
            </a:r>
            <a:endParaRPr lang="en-US" sz="4000" dirty="0"/>
          </a:p>
        </p:txBody>
      </p:sp>
      <p:graphicFrame>
        <p:nvGraphicFramePr>
          <p:cNvPr id="10" name="tabel-da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2009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91840"/>
                <a:gridCol w="41449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Data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Sumber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Status di prototype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Kepesertaan &amp; upah PPU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BPJS Kesehatan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Sintetis, pelanggaran disisipkan blind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Kepesertaan per segmen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Portal Data BPJS Kesehatan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Publik, sudah diambil (30 Sep 2026)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UMP / UMK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Kemnaker, Pemda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Publik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Upah per lapangan usaha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BPS Sakernas Agustus 2025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Publik; generator dikalibrasi (ρ = 0,90)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Skala usaha &amp; KBLI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OSS / NIB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Proxy sintetis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Kepesertaan BPJS TK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BPJS Ketenagakerjaan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Fase lanjut, butuh kerja sama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kartu-128"/>
          <p:cNvSpPr/>
          <p:nvPr/>
        </p:nvSpPr>
        <p:spPr>
          <a:xfrm>
            <a:off x="685800" y="4754880"/>
            <a:ext cx="10820095" cy="12801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</p:spPr>
      </p:sp>
      <p:sp>
        <p:nvSpPr>
          <p:cNvPr id="6" name="teks-129"/>
          <p:cNvSpPr txBox="1"/>
          <p:nvPr/>
        </p:nvSpPr>
        <p:spPr>
          <a:xfrm>
            <a:off x="960120" y="4901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ASUMSI &amp; KETERBATASAN</a:t>
            </a:r>
            <a:endParaRPr lang="en-US" sz="1200" dirty="0"/>
          </a:p>
        </p:txBody>
      </p:sp>
      <p:sp>
        <p:nvSpPr>
          <p:cNvPr id="7" name="teks-130"/>
          <p:cNvSpPr txBox="1"/>
          <p:nvPr/>
        </p:nvSpPr>
        <p:spPr>
          <a:xfrm>
            <a:off x="960120" y="521208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Pola data sintetis belum tentu sama dengan pola riil; divalidasi saat pilot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Benchmark sektor lemah di wilayah dengan data sedikit; skornya diberi keyakinan rendah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· DESAIN VALIDASI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sintetis yang sengaja dibuat sulit</a:t>
            </a:r>
            <a:endParaRPr lang="en-US" sz="4000" dirty="0"/>
          </a:p>
        </p:txBody>
      </p:sp>
      <p:sp>
        <p:nvSpPr>
          <p:cNvPr id="4" name="kartu-131"/>
          <p:cNvSpPr/>
          <p:nvPr/>
        </p:nvSpPr>
        <p:spPr>
          <a:xfrm>
            <a:off x="685800" y="1874520"/>
            <a:ext cx="2499284" cy="288036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lingkar-ikon-132"/>
          <p:cNvSpPr/>
          <p:nvPr/>
        </p:nvSpPr>
        <p:spPr>
          <a:xfrm>
            <a:off x="941832" y="2130552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kon-1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895" y="2266615"/>
            <a:ext cx="294803" cy="294803"/>
          </a:xfrm>
          <a:prstGeom prst="rect">
            <a:avLst/>
          </a:prstGeom>
        </p:spPr>
      </p:pic>
      <p:sp>
        <p:nvSpPr>
          <p:cNvPr id="7" name="teks-134"/>
          <p:cNvSpPr txBox="1"/>
          <p:nvPr/>
        </p:nvSpPr>
        <p:spPr>
          <a:xfrm>
            <a:off x="24992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ks-135"/>
          <p:cNvSpPr txBox="1"/>
          <p:nvPr/>
        </p:nvSpPr>
        <p:spPr>
          <a:xfrm>
            <a:off x="941832" y="285292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 truth</a:t>
            </a:r>
            <a:endParaRPr lang="en-US" sz="1800" dirty="0"/>
          </a:p>
        </p:txBody>
      </p:sp>
      <p:sp>
        <p:nvSpPr>
          <p:cNvPr id="9" name="teks-136"/>
          <p:cNvSpPr txBox="1"/>
          <p:nvPr/>
        </p:nvSpPr>
        <p:spPr>
          <a:xfrm>
            <a:off x="941832" y="3273552"/>
            <a:ext cx="20603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5.000 badan usaha, ±450 rb pekerja, 1,3 jt baris upah 2021–2025</a:t>
            </a:r>
            <a:endParaRPr lang="en-US" sz="1400" dirty="0"/>
          </a:p>
        </p:txBody>
      </p:sp>
      <p:sp>
        <p:nvSpPr>
          <p:cNvPr id="10" name="kartu-137"/>
          <p:cNvSpPr/>
          <p:nvPr/>
        </p:nvSpPr>
        <p:spPr>
          <a:xfrm>
            <a:off x="3459404" y="1874520"/>
            <a:ext cx="2499284" cy="288036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1" name="lingkar-ikon-138"/>
          <p:cNvSpPr/>
          <p:nvPr/>
        </p:nvSpPr>
        <p:spPr>
          <a:xfrm>
            <a:off x="3715436" y="2130552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kon-1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99" y="2266615"/>
            <a:ext cx="294803" cy="294803"/>
          </a:xfrm>
          <a:prstGeom prst="rect">
            <a:avLst/>
          </a:prstGeom>
        </p:spPr>
      </p:pic>
      <p:sp>
        <p:nvSpPr>
          <p:cNvPr id="13" name="teks-140"/>
          <p:cNvSpPr txBox="1"/>
          <p:nvPr/>
        </p:nvSpPr>
        <p:spPr>
          <a:xfrm>
            <a:off x="527288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ks-141"/>
          <p:cNvSpPr txBox="1"/>
          <p:nvPr/>
        </p:nvSpPr>
        <p:spPr>
          <a:xfrm>
            <a:off x="3715436" y="285292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Blind injection</a:t>
            </a:r>
            <a:endParaRPr lang="en-US" sz="1800" dirty="0"/>
          </a:p>
        </p:txBody>
      </p:sp>
      <p:sp>
        <p:nvSpPr>
          <p:cNvPr id="15" name="teks-142"/>
          <p:cNvSpPr txBox="1"/>
          <p:nvPr/>
        </p:nvSpPr>
        <p:spPr>
          <a:xfrm>
            <a:off x="3715436" y="3273552"/>
            <a:ext cx="20603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15% pelanggar, seed rahasia, easy &amp; hard case, 1–2 modus</a:t>
            </a:r>
            <a:endParaRPr lang="en-US" sz="1400" dirty="0"/>
          </a:p>
        </p:txBody>
      </p:sp>
      <p:sp>
        <p:nvSpPr>
          <p:cNvPr id="16" name="kartu-143"/>
          <p:cNvSpPr/>
          <p:nvPr/>
        </p:nvSpPr>
        <p:spPr>
          <a:xfrm>
            <a:off x="6233008" y="1874520"/>
            <a:ext cx="2499284" cy="288036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7" name="lingkar-ikon-144"/>
          <p:cNvSpPr/>
          <p:nvPr/>
        </p:nvSpPr>
        <p:spPr>
          <a:xfrm>
            <a:off x="6489040" y="2130552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kon-1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102" y="2266615"/>
            <a:ext cx="294803" cy="294803"/>
          </a:xfrm>
          <a:prstGeom prst="rect">
            <a:avLst/>
          </a:prstGeom>
        </p:spPr>
      </p:pic>
      <p:sp>
        <p:nvSpPr>
          <p:cNvPr id="19" name="teks-146"/>
          <p:cNvSpPr txBox="1"/>
          <p:nvPr/>
        </p:nvSpPr>
        <p:spPr>
          <a:xfrm>
            <a:off x="8046491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ks-147"/>
          <p:cNvSpPr txBox="1"/>
          <p:nvPr/>
        </p:nvSpPr>
        <p:spPr>
          <a:xfrm>
            <a:off x="6489040" y="285292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 negative</a:t>
            </a:r>
            <a:endParaRPr lang="en-US" sz="1800" dirty="0"/>
          </a:p>
        </p:txBody>
      </p:sp>
      <p:sp>
        <p:nvSpPr>
          <p:cNvPr id="21" name="teks-148"/>
          <p:cNvSpPr txBox="1"/>
          <p:nvPr/>
        </p:nvSpPr>
        <p:spPr>
          <a:xfrm>
            <a:off x="6489040" y="3273552"/>
            <a:ext cx="20603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±500 usaha patuh yang tampak mencurigakan: padat karya di UMK, UMKM sah di bawah UMK, PHK massal sah</a:t>
            </a:r>
            <a:endParaRPr lang="en-US" sz="1400" dirty="0"/>
          </a:p>
        </p:txBody>
      </p:sp>
      <p:sp>
        <p:nvSpPr>
          <p:cNvPr id="22" name="kartu-149"/>
          <p:cNvSpPr/>
          <p:nvPr/>
        </p:nvSpPr>
        <p:spPr>
          <a:xfrm>
            <a:off x="9006611" y="1874520"/>
            <a:ext cx="2499284" cy="2880360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3" name="lingkar-ikon-150"/>
          <p:cNvSpPr/>
          <p:nvPr/>
        </p:nvSpPr>
        <p:spPr>
          <a:xfrm>
            <a:off x="9262643" y="2130552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ikon-1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706" y="2266615"/>
            <a:ext cx="294803" cy="294803"/>
          </a:xfrm>
          <a:prstGeom prst="rect">
            <a:avLst/>
          </a:prstGeom>
        </p:spPr>
      </p:pic>
      <p:sp>
        <p:nvSpPr>
          <p:cNvPr id="25" name="teks-152"/>
          <p:cNvSpPr txBox="1"/>
          <p:nvPr/>
        </p:nvSpPr>
        <p:spPr>
          <a:xfrm>
            <a:off x="10820095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ks-153"/>
          <p:cNvSpPr txBox="1"/>
          <p:nvPr/>
        </p:nvSpPr>
        <p:spPr>
          <a:xfrm>
            <a:off x="9262643" y="285292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Holdout test</a:t>
            </a:r>
            <a:endParaRPr lang="en-US" sz="1800" dirty="0"/>
          </a:p>
        </p:txBody>
      </p:sp>
      <p:sp>
        <p:nvSpPr>
          <p:cNvPr id="27" name="teks-154"/>
          <p:cNvSpPr txBox="1"/>
          <p:nvPr/>
        </p:nvSpPr>
        <p:spPr>
          <a:xfrm>
            <a:off x="9262643" y="3273552"/>
            <a:ext cx="20603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Mesin dinilai pada dataset holdout yang tidak pernah dilihat saat tuning</a:t>
            </a:r>
            <a:endParaRPr lang="en-US" sz="1400" dirty="0"/>
          </a:p>
        </p:txBody>
      </p:sp>
      <p:sp>
        <p:nvSpPr>
          <p:cNvPr id="28" name="cek-155"/>
          <p:cNvSpPr/>
          <p:nvPr/>
        </p:nvSpPr>
        <p:spPr>
          <a:xfrm>
            <a:off x="685800" y="5029200"/>
            <a:ext cx="2567864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29" name="teks-156"/>
          <p:cNvSpPr txBox="1"/>
          <p:nvPr/>
        </p:nvSpPr>
        <p:spPr>
          <a:xfrm>
            <a:off x="822960" y="502920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Label leakage: AUC ≈ 0,5</a:t>
            </a:r>
            <a:endParaRPr lang="en-US" sz="1400" dirty="0"/>
          </a:p>
        </p:txBody>
      </p:sp>
      <p:sp>
        <p:nvSpPr>
          <p:cNvPr id="30" name="cek-157"/>
          <p:cNvSpPr/>
          <p:nvPr/>
        </p:nvSpPr>
        <p:spPr>
          <a:xfrm>
            <a:off x="3436544" y="5029200"/>
            <a:ext cx="2567864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1" name="teks-158"/>
          <p:cNvSpPr txBox="1"/>
          <p:nvPr/>
        </p:nvSpPr>
        <p:spPr>
          <a:xfrm>
            <a:off x="3573704" y="502920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Upah dikalibrasi ke BPS (ρ = 0,90)</a:t>
            </a:r>
            <a:endParaRPr lang="en-US" sz="1400" dirty="0"/>
          </a:p>
        </p:txBody>
      </p:sp>
      <p:sp>
        <p:nvSpPr>
          <p:cNvPr id="32" name="cek-159"/>
          <p:cNvSpPr/>
          <p:nvPr/>
        </p:nvSpPr>
        <p:spPr>
          <a:xfrm>
            <a:off x="6187288" y="5029200"/>
            <a:ext cx="2567864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3" name="teks-160"/>
          <p:cNvSpPr txBox="1"/>
          <p:nvPr/>
        </p:nvSpPr>
        <p:spPr>
          <a:xfrm>
            <a:off x="6324448" y="502920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Label hanya dibaca evaluator</a:t>
            </a:r>
            <a:endParaRPr lang="en-US" sz="1400" dirty="0"/>
          </a:p>
        </p:txBody>
      </p:sp>
      <p:sp>
        <p:nvSpPr>
          <p:cNvPr id="34" name="cek-161"/>
          <p:cNvSpPr/>
          <p:nvPr/>
        </p:nvSpPr>
        <p:spPr>
          <a:xfrm>
            <a:off x="8938031" y="5029200"/>
            <a:ext cx="2567864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5" name="teks-162"/>
          <p:cNvSpPr txBox="1"/>
          <p:nvPr/>
        </p:nvSpPr>
        <p:spPr>
          <a:xfrm>
            <a:off x="9075191" y="502920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Precision terpisah: easy vs hard case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· HASIL PROTOTYPE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Memeriksa yang tepat, lebih dulu</a:t>
            </a:r>
            <a:endParaRPr lang="en-US" sz="4000" dirty="0"/>
          </a:p>
        </p:txBody>
      </p:sp>
      <p:sp>
        <p:nvSpPr>
          <p:cNvPr id="4" name="kartu-163"/>
          <p:cNvSpPr/>
          <p:nvPr/>
        </p:nvSpPr>
        <p:spPr>
          <a:xfrm>
            <a:off x="685800" y="1828800"/>
            <a:ext cx="4572000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graphicFrame>
        <p:nvGraphicFramePr>
          <p:cNvPr id="5" name="grafik-precision" descr=""/>
          <p:cNvGraphicFramePr/>
          <p:nvPr/>
        </p:nvGraphicFramePr>
        <p:xfrm>
          <a:off x="822960" y="192024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artu-164"/>
          <p:cNvSpPr/>
          <p:nvPr/>
        </p:nvSpPr>
        <p:spPr>
          <a:xfrm>
            <a:off x="5532120" y="1828800"/>
            <a:ext cx="3200400" cy="416052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graphicFrame>
        <p:nvGraphicFramePr>
          <p:cNvPr id="7" name="grafik-iuran" descr=""/>
          <p:cNvGraphicFramePr/>
          <p:nvPr/>
        </p:nvGraphicFramePr>
        <p:xfrm>
          <a:off x="5669280" y="1920240"/>
          <a:ext cx="2926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ks-165"/>
          <p:cNvSpPr txBox="1"/>
          <p:nvPr/>
        </p:nvSpPr>
        <p:spPr>
          <a:xfrm>
            <a:off x="9006840" y="1828800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4,6×</a:t>
            </a:r>
            <a:endParaRPr lang="en-US" sz="3600" dirty="0"/>
          </a:p>
        </p:txBody>
      </p:sp>
      <p:sp>
        <p:nvSpPr>
          <p:cNvPr id="9" name="teks-166"/>
          <p:cNvSpPr txBox="1"/>
          <p:nvPr/>
        </p:nvSpPr>
        <p:spPr>
          <a:xfrm>
            <a:off x="9006840" y="2468880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lebih tepat sasaran dibanding pemilihan acak</a:t>
            </a:r>
            <a:endParaRPr lang="en-US" sz="1400" dirty="0"/>
          </a:p>
        </p:txBody>
      </p:sp>
      <p:sp>
        <p:nvSpPr>
          <p:cNvPr id="10" name="teks-167"/>
          <p:cNvSpPr txBox="1"/>
          <p:nvPr/>
        </p:nvSpPr>
        <p:spPr>
          <a:xfrm>
            <a:off x="9006840" y="3200400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14,6×</a:t>
            </a:r>
            <a:endParaRPr lang="en-US" sz="3600" dirty="0"/>
          </a:p>
        </p:txBody>
      </p:sp>
      <p:sp>
        <p:nvSpPr>
          <p:cNvPr id="11" name="teks-168"/>
          <p:cNvSpPr txBox="1"/>
          <p:nvPr/>
        </p:nvSpPr>
        <p:spPr>
          <a:xfrm>
            <a:off x="9006840" y="3840480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iuran tertangkap per 100 pemeriksaan vs acak</a:t>
            </a:r>
            <a:endParaRPr lang="en-US" sz="1400" dirty="0"/>
          </a:p>
        </p:txBody>
      </p:sp>
      <p:sp>
        <p:nvSpPr>
          <p:cNvPr id="12" name="teks-169"/>
          <p:cNvSpPr txBox="1"/>
          <p:nvPr/>
        </p:nvSpPr>
        <p:spPr>
          <a:xfrm>
            <a:off x="9006840" y="4572000"/>
            <a:ext cx="2499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2,7%</a:t>
            </a:r>
            <a:endParaRPr lang="en-US" sz="3600" dirty="0"/>
          </a:p>
        </p:txBody>
      </p:sp>
      <p:sp>
        <p:nvSpPr>
          <p:cNvPr id="13" name="teks-170"/>
          <p:cNvSpPr txBox="1"/>
          <p:nvPr/>
        </p:nvSpPr>
        <p:spPr>
          <a:xfrm>
            <a:off x="9006840" y="5212080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UMKM patuh salah ditandai (target ≤ 5%)</a:t>
            </a:r>
            <a:endParaRPr lang="en-US" sz="1400" dirty="0"/>
          </a:p>
        </p:txBody>
      </p:sp>
      <p:sp>
        <p:nvSpPr>
          <p:cNvPr id="14" name="teks-171"/>
          <p:cNvSpPr txBox="1"/>
          <p:nvPr/>
        </p:nvSpPr>
        <p:spPr>
          <a:xfrm>
            <a:off x="685800" y="605332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simulasi holdout (5.000 badan usaha, tidak pernah dilihat saat tuning). Mesin aturan + Isolation Forest menilai tanpa label.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· ALUR KERJA PETUGAS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PayRay di meja petugas pemeriksa</a:t>
            </a:r>
            <a:endParaRPr lang="en-US" sz="4000" dirty="0"/>
          </a:p>
        </p:txBody>
      </p:sp>
      <p:sp>
        <p:nvSpPr>
          <p:cNvPr id="4" name="kartu-172"/>
          <p:cNvSpPr/>
          <p:nvPr/>
        </p:nvSpPr>
        <p:spPr>
          <a:xfrm>
            <a:off x="630936" y="1728216"/>
            <a:ext cx="6876288" cy="4338828"/>
          </a:xfrm>
          <a:prstGeom prst="roundRect">
            <a:avLst>
              <a:gd name="adj" fmla="val 2529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pic>
        <p:nvPicPr>
          <p:cNvPr id="5" name="tangkapan-dashboard" descr="Screenshot dashboard PayRay: antrean pemeriksaan dan lembar hasil scan PT Cahaya Mandi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6766560" cy="4229100"/>
          </a:xfrm>
          <a:prstGeom prst="rect">
            <a:avLst/>
          </a:prstGeom>
        </p:spPr>
      </p:pic>
      <p:sp>
        <p:nvSpPr>
          <p:cNvPr id="6" name="teks-173"/>
          <p:cNvSpPr txBox="1"/>
          <p:nvPr/>
        </p:nvSpPr>
        <p:spPr>
          <a:xfrm>
            <a:off x="685800" y="61036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Screenshot asli prototype dashboard (data sintetis)</a:t>
            </a:r>
            <a:endParaRPr lang="en-US" sz="1200" dirty="0"/>
          </a:p>
        </p:txBody>
      </p:sp>
      <p:sp>
        <p:nvSpPr>
          <p:cNvPr id="7" name="lingkar-ikon-174"/>
          <p:cNvSpPr/>
          <p:nvPr/>
        </p:nvSpPr>
        <p:spPr>
          <a:xfrm>
            <a:off x="7818120" y="1801368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kon-1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459" y="1906707"/>
            <a:ext cx="228234" cy="228234"/>
          </a:xfrm>
          <a:prstGeom prst="rect">
            <a:avLst/>
          </a:prstGeom>
        </p:spPr>
      </p:pic>
      <p:sp>
        <p:nvSpPr>
          <p:cNvPr id="9" name="teks-176"/>
          <p:cNvSpPr txBox="1"/>
          <p:nvPr/>
        </p:nvSpPr>
        <p:spPr>
          <a:xfrm>
            <a:off x="8385048" y="1783080"/>
            <a:ext cx="312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berkala</a:t>
            </a:r>
            <a:endParaRPr lang="en-US" sz="1500" dirty="0"/>
          </a:p>
        </p:txBody>
      </p:sp>
      <p:sp>
        <p:nvSpPr>
          <p:cNvPr id="10" name="teks-177"/>
          <p:cNvSpPr txBox="1"/>
          <p:nvPr/>
        </p:nvSpPr>
        <p:spPr>
          <a:xfrm>
            <a:off x="8385048" y="2057400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Semua badan usaha diskor tiap periode</a:t>
            </a:r>
            <a:endParaRPr lang="en-US" sz="1300" dirty="0"/>
          </a:p>
        </p:txBody>
      </p:sp>
      <p:sp>
        <p:nvSpPr>
          <p:cNvPr id="11" name="lingkar-ikon-178"/>
          <p:cNvSpPr/>
          <p:nvPr/>
        </p:nvSpPr>
        <p:spPr>
          <a:xfrm>
            <a:off x="7818120" y="2386584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kon-17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459" y="2491923"/>
            <a:ext cx="228234" cy="228234"/>
          </a:xfrm>
          <a:prstGeom prst="rect">
            <a:avLst/>
          </a:prstGeom>
        </p:spPr>
      </p:pic>
      <p:sp>
        <p:nvSpPr>
          <p:cNvPr id="13" name="teks-180"/>
          <p:cNvSpPr txBox="1"/>
          <p:nvPr/>
        </p:nvSpPr>
        <p:spPr>
          <a:xfrm>
            <a:off x="8385048" y="2368296"/>
            <a:ext cx="312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Antrean prioritas</a:t>
            </a:r>
            <a:endParaRPr lang="en-US" sz="1500" dirty="0"/>
          </a:p>
        </p:txBody>
      </p:sp>
      <p:sp>
        <p:nvSpPr>
          <p:cNvPr id="14" name="teks-181"/>
          <p:cNvSpPr txBox="1"/>
          <p:nvPr/>
        </p:nvSpPr>
        <p:spPr>
          <a:xfrm>
            <a:off x="8385048" y="2642616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Urut skor × keyakinan, dengan estimasi Rp</a:t>
            </a:r>
            <a:endParaRPr lang="en-US" sz="1300" dirty="0"/>
          </a:p>
        </p:txBody>
      </p:sp>
      <p:sp>
        <p:nvSpPr>
          <p:cNvPr id="15" name="lingkar-ikon-182"/>
          <p:cNvSpPr/>
          <p:nvPr/>
        </p:nvSpPr>
        <p:spPr>
          <a:xfrm>
            <a:off x="7818120" y="2971800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kon-1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459" y="3077139"/>
            <a:ext cx="228234" cy="228234"/>
          </a:xfrm>
          <a:prstGeom prst="rect">
            <a:avLst/>
          </a:prstGeom>
        </p:spPr>
      </p:pic>
      <p:sp>
        <p:nvSpPr>
          <p:cNvPr id="17" name="teks-184"/>
          <p:cNvSpPr txBox="1"/>
          <p:nvPr/>
        </p:nvSpPr>
        <p:spPr>
          <a:xfrm>
            <a:off x="8385048" y="2953512"/>
            <a:ext cx="312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Lembar hasil scan</a:t>
            </a:r>
            <a:endParaRPr lang="en-US" sz="1500" dirty="0"/>
          </a:p>
        </p:txBody>
      </p:sp>
      <p:sp>
        <p:nvSpPr>
          <p:cNvPr id="18" name="teks-185"/>
          <p:cNvSpPr txBox="1"/>
          <p:nvPr/>
        </p:nvSpPr>
        <p:spPr>
          <a:xfrm>
            <a:off x="8385048" y="3227832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Alasan &amp; bukti yang bisa diverifikasi</a:t>
            </a:r>
            <a:endParaRPr lang="en-US" sz="1300" dirty="0"/>
          </a:p>
        </p:txBody>
      </p:sp>
      <p:sp>
        <p:nvSpPr>
          <p:cNvPr id="19" name="lingkar-ikon-186"/>
          <p:cNvSpPr/>
          <p:nvPr/>
        </p:nvSpPr>
        <p:spPr>
          <a:xfrm>
            <a:off x="7818120" y="3557016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kon-1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459" y="3662355"/>
            <a:ext cx="228234" cy="228234"/>
          </a:xfrm>
          <a:prstGeom prst="rect">
            <a:avLst/>
          </a:prstGeom>
        </p:spPr>
      </p:pic>
      <p:sp>
        <p:nvSpPr>
          <p:cNvPr id="21" name="teks-188"/>
          <p:cNvSpPr txBox="1"/>
          <p:nvPr/>
        </p:nvSpPr>
        <p:spPr>
          <a:xfrm>
            <a:off x="8385048" y="3538728"/>
            <a:ext cx="312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Pemeriksaan</a:t>
            </a:r>
            <a:endParaRPr lang="en-US" sz="1500" dirty="0"/>
          </a:p>
        </p:txBody>
      </p:sp>
      <p:sp>
        <p:nvSpPr>
          <p:cNvPr id="22" name="teks-189"/>
          <p:cNvSpPr txBox="1"/>
          <p:nvPr/>
        </p:nvSpPr>
        <p:spPr>
          <a:xfrm>
            <a:off x="8385048" y="3813048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Keputusan &amp; sanksi tetap di petugas</a:t>
            </a:r>
            <a:endParaRPr lang="en-US" sz="1300" dirty="0"/>
          </a:p>
        </p:txBody>
      </p:sp>
      <p:sp>
        <p:nvSpPr>
          <p:cNvPr id="23" name="lingkar-ikon-190"/>
          <p:cNvSpPr/>
          <p:nvPr/>
        </p:nvSpPr>
        <p:spPr>
          <a:xfrm>
            <a:off x="7818120" y="4142232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ikon-19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459" y="4247571"/>
            <a:ext cx="228234" cy="228234"/>
          </a:xfrm>
          <a:prstGeom prst="rect">
            <a:avLst/>
          </a:prstGeom>
        </p:spPr>
      </p:pic>
      <p:sp>
        <p:nvSpPr>
          <p:cNvPr id="25" name="teks-192"/>
          <p:cNvSpPr txBox="1"/>
          <p:nvPr/>
        </p:nvSpPr>
        <p:spPr>
          <a:xfrm>
            <a:off x="8385048" y="4123944"/>
            <a:ext cx="3120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Hasil jadi label</a:t>
            </a:r>
            <a:endParaRPr lang="en-US" sz="1500" dirty="0"/>
          </a:p>
        </p:txBody>
      </p:sp>
      <p:sp>
        <p:nvSpPr>
          <p:cNvPr id="26" name="teks-193"/>
          <p:cNvSpPr txBox="1"/>
          <p:nvPr/>
        </p:nvSpPr>
        <p:spPr>
          <a:xfrm>
            <a:off x="8385048" y="4398264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Urutan berikutnya makin tajam</a:t>
            </a:r>
            <a:endParaRPr lang="en-US" sz="1300" dirty="0"/>
          </a:p>
        </p:txBody>
      </p:sp>
      <p:sp>
        <p:nvSpPr>
          <p:cNvPr id="27" name="kartu-194"/>
          <p:cNvSpPr/>
          <p:nvPr/>
        </p:nvSpPr>
        <p:spPr>
          <a:xfrm>
            <a:off x="7818120" y="4846320"/>
            <a:ext cx="3687775" cy="1216152"/>
          </a:xfrm>
          <a:prstGeom prst="roundRect">
            <a:avLst>
              <a:gd name="adj" fmla="val 9023"/>
            </a:avLst>
          </a:prstGeom>
          <a:solidFill>
            <a:schemeClr val="accent6"/>
          </a:solidFill>
          <a:ln/>
        </p:spPr>
      </p:sp>
      <p:sp>
        <p:nvSpPr>
          <p:cNvPr id="28" name="teks-195"/>
          <p:cNvSpPr txBox="1"/>
          <p:nvPr/>
        </p:nvSpPr>
        <p:spPr>
          <a:xfrm>
            <a:off x="8046720" y="4956048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21,8% → 26,8%</a:t>
            </a:r>
            <a:endParaRPr lang="en-US" sz="2400" dirty="0"/>
          </a:p>
        </p:txBody>
      </p:sp>
      <p:sp>
        <p:nvSpPr>
          <p:cNvPr id="29" name="teks-196"/>
          <p:cNvSpPr txBox="1"/>
          <p:nvPr/>
        </p:nvSpPr>
        <p:spPr>
          <a:xfrm>
            <a:off x="8046720" y="5413248"/>
            <a:ext cx="3276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precision putaran berikutnya setelah belajar dari 500 hasil pemeriksaan (simulasi)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· TINGKAT KEMATANGAN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Posisi kami, dan target saat submit</a:t>
            </a:r>
            <a:endParaRPr lang="en-US" sz="4000" dirty="0"/>
          </a:p>
        </p:txBody>
      </p:sp>
      <p:sp>
        <p:nvSpPr>
          <p:cNvPr id="4" name="kartu-197"/>
          <p:cNvSpPr/>
          <p:nvPr/>
        </p:nvSpPr>
        <p:spPr>
          <a:xfrm>
            <a:off x="685800" y="1828800"/>
            <a:ext cx="201771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status-tahap-198"/>
          <p:cNvSpPr/>
          <p:nvPr/>
        </p:nvSpPr>
        <p:spPr>
          <a:xfrm>
            <a:off x="868680" y="1993392"/>
            <a:ext cx="1651955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eks-199"/>
          <p:cNvSpPr txBox="1"/>
          <p:nvPr/>
        </p:nvSpPr>
        <p:spPr>
          <a:xfrm>
            <a:off x="868680" y="1993392"/>
            <a:ext cx="1651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Selesai</a:t>
            </a:r>
            <a:endParaRPr lang="en-US" sz="1300" dirty="0"/>
          </a:p>
        </p:txBody>
      </p:sp>
      <p:sp>
        <p:nvSpPr>
          <p:cNvPr id="7" name="teks-200"/>
          <p:cNvSpPr txBox="1"/>
          <p:nvPr/>
        </p:nvSpPr>
        <p:spPr>
          <a:xfrm>
            <a:off x="868680" y="2395728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</a:t>
            </a:r>
            <a:endParaRPr lang="en-US" sz="1900" dirty="0"/>
          </a:p>
        </p:txBody>
      </p:sp>
      <p:sp>
        <p:nvSpPr>
          <p:cNvPr id="8" name="teks-201"/>
          <p:cNvSpPr txBox="1"/>
          <p:nvPr/>
        </p:nvSpPr>
        <p:spPr>
          <a:xfrm>
            <a:off x="868680" y="2788920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Konsep &amp; desain solusi</a:t>
            </a:r>
            <a:endParaRPr lang="en-US" sz="1400" dirty="0"/>
          </a:p>
        </p:txBody>
      </p:sp>
      <p:sp>
        <p:nvSpPr>
          <p:cNvPr id="9" name="kartu-202"/>
          <p:cNvSpPr/>
          <p:nvPr/>
        </p:nvSpPr>
        <p:spPr>
          <a:xfrm>
            <a:off x="2886395" y="1828800"/>
            <a:ext cx="201771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0" name="status-tahap-203"/>
          <p:cNvSpPr/>
          <p:nvPr/>
        </p:nvSpPr>
        <p:spPr>
          <a:xfrm>
            <a:off x="3069275" y="1993392"/>
            <a:ext cx="1651955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1" name="teks-204"/>
          <p:cNvSpPr txBox="1"/>
          <p:nvPr/>
        </p:nvSpPr>
        <p:spPr>
          <a:xfrm>
            <a:off x="3069275" y="1993392"/>
            <a:ext cx="1651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Selesai</a:t>
            </a:r>
            <a:endParaRPr lang="en-US" sz="1300" dirty="0"/>
          </a:p>
        </p:txBody>
      </p:sp>
      <p:sp>
        <p:nvSpPr>
          <p:cNvPr id="12" name="teks-205"/>
          <p:cNvSpPr txBox="1"/>
          <p:nvPr/>
        </p:nvSpPr>
        <p:spPr>
          <a:xfrm>
            <a:off x="3069275" y="2395728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Mockup</a:t>
            </a:r>
            <a:endParaRPr lang="en-US" sz="1900" dirty="0"/>
          </a:p>
        </p:txBody>
      </p:sp>
      <p:sp>
        <p:nvSpPr>
          <p:cNvPr id="13" name="teks-206"/>
          <p:cNvSpPr txBox="1"/>
          <p:nvPr/>
        </p:nvSpPr>
        <p:spPr>
          <a:xfrm>
            <a:off x="3069275" y="2788920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Rancangan layar</a:t>
            </a:r>
            <a:endParaRPr lang="en-US" sz="1400" dirty="0"/>
          </a:p>
        </p:txBody>
      </p:sp>
      <p:sp>
        <p:nvSpPr>
          <p:cNvPr id="14" name="kartu-207"/>
          <p:cNvSpPr/>
          <p:nvPr/>
        </p:nvSpPr>
        <p:spPr>
          <a:xfrm>
            <a:off x="5086990" y="1828800"/>
            <a:ext cx="2017715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9525">
            <a:solidFill>
              <a:srgbClr val="1B7F57"/>
            </a:solidFill>
            <a:prstDash val="solid"/>
          </a:ln>
        </p:spPr>
      </p:sp>
      <p:sp>
        <p:nvSpPr>
          <p:cNvPr id="15" name="status-tahap-208"/>
          <p:cNvSpPr/>
          <p:nvPr/>
        </p:nvSpPr>
        <p:spPr>
          <a:xfrm>
            <a:off x="5269870" y="1993392"/>
            <a:ext cx="165195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ks-209"/>
          <p:cNvSpPr txBox="1"/>
          <p:nvPr/>
        </p:nvSpPr>
        <p:spPr>
          <a:xfrm>
            <a:off x="5269870" y="1993392"/>
            <a:ext cx="1651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Target submit</a:t>
            </a:r>
            <a:endParaRPr lang="en-US" sz="1300" dirty="0"/>
          </a:p>
        </p:txBody>
      </p:sp>
      <p:sp>
        <p:nvSpPr>
          <p:cNvPr id="17" name="teks-210"/>
          <p:cNvSpPr txBox="1"/>
          <p:nvPr/>
        </p:nvSpPr>
        <p:spPr>
          <a:xfrm>
            <a:off x="5269870" y="2395728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endParaRPr lang="en-US" sz="1900" dirty="0"/>
          </a:p>
        </p:txBody>
      </p:sp>
      <p:sp>
        <p:nvSpPr>
          <p:cNvPr id="18" name="teks-211"/>
          <p:cNvSpPr txBox="1"/>
          <p:nvPr/>
        </p:nvSpPr>
        <p:spPr>
          <a:xfrm>
            <a:off x="5269870" y="2788920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Fitur inti berjalan, bisa didemokan</a:t>
            </a:r>
            <a:endParaRPr lang="en-US" sz="1400" dirty="0"/>
          </a:p>
        </p:txBody>
      </p:sp>
      <p:sp>
        <p:nvSpPr>
          <p:cNvPr id="19" name="kartu-212"/>
          <p:cNvSpPr/>
          <p:nvPr/>
        </p:nvSpPr>
        <p:spPr>
          <a:xfrm>
            <a:off x="7287585" y="1828800"/>
            <a:ext cx="201771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0" name="teks-213"/>
          <p:cNvSpPr txBox="1"/>
          <p:nvPr/>
        </p:nvSpPr>
        <p:spPr>
          <a:xfrm>
            <a:off x="7470465" y="2395728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</a:t>
            </a:r>
            <a:endParaRPr lang="en-US" sz="1900" dirty="0"/>
          </a:p>
        </p:txBody>
      </p:sp>
      <p:sp>
        <p:nvSpPr>
          <p:cNvPr id="21" name="teks-214"/>
          <p:cNvSpPr txBox="1"/>
          <p:nvPr/>
        </p:nvSpPr>
        <p:spPr>
          <a:xfrm>
            <a:off x="7470465" y="2788920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Dipakai pengguna nyata</a:t>
            </a:r>
            <a:endParaRPr lang="en-US" sz="1400" dirty="0"/>
          </a:p>
        </p:txBody>
      </p:sp>
      <p:sp>
        <p:nvSpPr>
          <p:cNvPr id="22" name="kartu-215"/>
          <p:cNvSpPr/>
          <p:nvPr/>
        </p:nvSpPr>
        <p:spPr>
          <a:xfrm>
            <a:off x="9488180" y="1828800"/>
            <a:ext cx="201771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3" name="teks-216"/>
          <p:cNvSpPr txBox="1"/>
          <p:nvPr/>
        </p:nvSpPr>
        <p:spPr>
          <a:xfrm>
            <a:off x="9671060" y="2395728"/>
            <a:ext cx="165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Produk</a:t>
            </a:r>
            <a:endParaRPr lang="en-US" sz="1900" dirty="0"/>
          </a:p>
        </p:txBody>
      </p:sp>
      <p:sp>
        <p:nvSpPr>
          <p:cNvPr id="24" name="teks-217"/>
          <p:cNvSpPr txBox="1"/>
          <p:nvPr/>
        </p:nvSpPr>
        <p:spPr>
          <a:xfrm>
            <a:off x="9671060" y="2788920"/>
            <a:ext cx="16519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Teruji &amp; siap skala</a:t>
            </a:r>
            <a:endParaRPr lang="en-US" sz="1400" dirty="0"/>
          </a:p>
        </p:txBody>
      </p:sp>
      <p:sp>
        <p:nvSpPr>
          <p:cNvPr id="25" name="teks-218"/>
          <p:cNvSpPr txBox="1"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Sudah berjalan</a:t>
            </a:r>
            <a:endParaRPr lang="en-US" sz="1900" dirty="0"/>
          </a:p>
        </p:txBody>
      </p:sp>
      <p:pic>
        <p:nvPicPr>
          <p:cNvPr id="26" name="status-item-2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24528"/>
            <a:ext cx="246888" cy="246888"/>
          </a:xfrm>
          <a:prstGeom prst="rect">
            <a:avLst/>
          </a:prstGeom>
        </p:spPr>
      </p:pic>
      <p:sp>
        <p:nvSpPr>
          <p:cNvPr id="27" name="teks-220"/>
          <p:cNvSpPr txBox="1"/>
          <p:nvPr/>
        </p:nvSpPr>
        <p:spPr>
          <a:xfrm>
            <a:off x="1069848" y="4187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Generator data sintetis tervalidasi</a:t>
            </a:r>
            <a:endParaRPr lang="en-US" sz="1500" dirty="0"/>
          </a:p>
        </p:txBody>
      </p:sp>
      <p:pic>
        <p:nvPicPr>
          <p:cNvPr id="28" name="status-item-22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54296"/>
            <a:ext cx="246888" cy="246888"/>
          </a:xfrm>
          <a:prstGeom prst="rect">
            <a:avLst/>
          </a:prstGeom>
        </p:spPr>
      </p:pic>
      <p:sp>
        <p:nvSpPr>
          <p:cNvPr id="29" name="teks-222"/>
          <p:cNvSpPr txBox="1"/>
          <p:nvPr/>
        </p:nvSpPr>
        <p:spPr>
          <a:xfrm>
            <a:off x="1069848" y="4617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Tiga modul scan + skor gabungan + reason code</a:t>
            </a:r>
            <a:endParaRPr lang="en-US" sz="1500" dirty="0"/>
          </a:p>
        </p:txBody>
      </p:sp>
      <p:pic>
        <p:nvPicPr>
          <p:cNvPr id="30" name="status-item-2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84064"/>
            <a:ext cx="246888" cy="246888"/>
          </a:xfrm>
          <a:prstGeom prst="rect">
            <a:avLst/>
          </a:prstGeom>
        </p:spPr>
      </p:pic>
      <p:sp>
        <p:nvSpPr>
          <p:cNvPr id="31" name="teks-224"/>
          <p:cNvSpPr txBox="1"/>
          <p:nvPr/>
        </p:nvSpPr>
        <p:spPr>
          <a:xfrm>
            <a:off x="1069848" y="50474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Kalkulator estimasi, laporan akurasi &amp; uji bias</a:t>
            </a:r>
            <a:endParaRPr lang="en-US" sz="1500" dirty="0"/>
          </a:p>
        </p:txBody>
      </p:sp>
      <p:pic>
        <p:nvPicPr>
          <p:cNvPr id="32" name="status-item-2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13832"/>
            <a:ext cx="246888" cy="246888"/>
          </a:xfrm>
          <a:prstGeom prst="rect">
            <a:avLst/>
          </a:prstGeom>
        </p:spPr>
      </p:pic>
      <p:sp>
        <p:nvSpPr>
          <p:cNvPr id="33" name="teks-226"/>
          <p:cNvSpPr txBox="1"/>
          <p:nvPr/>
        </p:nvSpPr>
        <p:spPr>
          <a:xfrm>
            <a:off x="1069848" y="5477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Dashboard &amp; lembar scan interaktif (HTML)</a:t>
            </a:r>
            <a:endParaRPr lang="en-US" sz="1500" dirty="0"/>
          </a:p>
        </p:txBody>
      </p:sp>
      <p:sp>
        <p:nvSpPr>
          <p:cNvPr id="34" name="teks-227"/>
          <p:cNvSpPr txBox="1"/>
          <p:nvPr/>
        </p:nvSpPr>
        <p:spPr>
          <a:xfrm>
            <a:off x="67208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Bukti yang dilampirkan</a:t>
            </a:r>
            <a:endParaRPr lang="en-US" sz="1900" dirty="0"/>
          </a:p>
        </p:txBody>
      </p:sp>
      <p:sp>
        <p:nvSpPr>
          <p:cNvPr id="35" name="teks-228"/>
          <p:cNvSpPr txBox="1"/>
          <p:nvPr/>
        </p:nvSpPr>
        <p:spPr>
          <a:xfrm>
            <a:off x="6720840" y="418795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Link demo: rachdiaan.github.io/healthkathon-bpjs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Video demo: [__]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Repositori: github.com/rachdiaan/healthkathon-bpjs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Status uji: internal, data sintetis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· RENCANA &amp; KELAYAKAN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Delapan minggu menuju prototype</a:t>
            </a:r>
            <a:endParaRPr lang="en-US" sz="4000" dirty="0"/>
          </a:p>
        </p:txBody>
      </p:sp>
      <p:graphicFrame>
        <p:nvGraphicFramePr>
          <p:cNvPr id="15" name="tabel-rencan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200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5120640"/>
                <a:gridCol w="25904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Minggu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Fokus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Deliverable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Status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1–2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Fondasi data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Generator data sintetis + data benchmark publik terkumpul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Selesai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3–4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Mesin scan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Tiga modul scan + skor gabungan + reason code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Selesai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5–6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Produk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Dashboard, lembar hasil scan, kalkulator estimasi iuran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Prototype HTML selesai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7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Validasi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Laporan akurasi + uji bias per skala usaha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Otomatis, tinggal finalisasi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Siap demo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Video demo + proposal final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Belum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ks-229"/>
          <p:cNvSpPr txBox="1"/>
          <p:nvPr/>
        </p:nvSpPr>
        <p:spPr>
          <a:xfrm>
            <a:off x="685800" y="4800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Durasi disesuaikan dengan jadwal resmi Healthkathon 2026. Sumber daya: tim 3 orang, cloud server kecil, data publik + sintetis.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· SETELAH KOMPETISI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Dari prototype ke skala nasional</a:t>
            </a:r>
            <a:endParaRPr lang="en-US" sz="4000" dirty="0"/>
          </a:p>
        </p:txBody>
      </p:sp>
      <p:sp>
        <p:nvSpPr>
          <p:cNvPr id="4" name="kartu-230"/>
          <p:cNvSpPr/>
          <p:nvPr/>
        </p:nvSpPr>
        <p:spPr>
          <a:xfrm>
            <a:off x="685800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teks-231"/>
          <p:cNvSpPr txBox="1"/>
          <p:nvPr/>
        </p:nvSpPr>
        <p:spPr>
          <a:xfrm>
            <a:off x="941832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FASE 1 · ±3 BULAN</a:t>
            </a:r>
            <a:endParaRPr lang="en-US" sz="1200" dirty="0"/>
          </a:p>
        </p:txBody>
      </p:sp>
      <p:sp>
        <p:nvSpPr>
          <p:cNvPr id="6" name="teks-232"/>
          <p:cNvSpPr txBox="1"/>
          <p:nvPr/>
        </p:nvSpPr>
        <p:spPr>
          <a:xfrm>
            <a:off x="941832" y="23774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</a:t>
            </a:r>
            <a:endParaRPr lang="en-US" sz="2100" dirty="0"/>
          </a:p>
        </p:txBody>
      </p:sp>
      <p:sp>
        <p:nvSpPr>
          <p:cNvPr id="7" name="teks-233"/>
          <p:cNvSpPr txBox="1"/>
          <p:nvPr/>
        </p:nvSpPr>
        <p:spPr>
          <a:xfrm>
            <a:off x="941832" y="288036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Kantor Cabang, data riil berizin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Kalibrasi model dengan hasil pemeriksaan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Ukur hit rate vs cara saat ini</a:t>
            </a:r>
            <a:endParaRPr lang="en-US" sz="1500" dirty="0"/>
          </a:p>
        </p:txBody>
      </p:sp>
      <p:sp>
        <p:nvSpPr>
          <p:cNvPr id="8" name="panah-fase-234"/>
          <p:cNvSpPr/>
          <p:nvPr/>
        </p:nvSpPr>
        <p:spPr>
          <a:xfrm>
            <a:off x="4019474" y="31089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kartu-235"/>
          <p:cNvSpPr/>
          <p:nvPr/>
        </p:nvSpPr>
        <p:spPr>
          <a:xfrm>
            <a:off x="4472788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0" name="teks-236"/>
          <p:cNvSpPr txBox="1"/>
          <p:nvPr/>
        </p:nvSpPr>
        <p:spPr>
          <a:xfrm>
            <a:off x="472882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FASE 2 · ±6 BULAN</a:t>
            </a:r>
            <a:endParaRPr lang="en-US" sz="1200" dirty="0"/>
          </a:p>
        </p:txBody>
      </p:sp>
      <p:sp>
        <p:nvSpPr>
          <p:cNvPr id="11" name="teks-237"/>
          <p:cNvSpPr txBox="1"/>
          <p:nvPr/>
        </p:nvSpPr>
        <p:spPr>
          <a:xfrm>
            <a:off x="4728820" y="23774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Integrasi</a:t>
            </a:r>
            <a:endParaRPr lang="en-US" sz="2100" dirty="0"/>
          </a:p>
        </p:txBody>
      </p:sp>
      <p:sp>
        <p:nvSpPr>
          <p:cNvPr id="12" name="teks-238"/>
          <p:cNvSpPr txBox="1"/>
          <p:nvPr/>
        </p:nvSpPr>
        <p:spPr>
          <a:xfrm>
            <a:off x="4728820" y="288036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Kerja sama data BPJS TK &amp; OSS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 Headcount &amp; Status versi penuh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Terhubung ke sistem internal</a:t>
            </a:r>
            <a:endParaRPr lang="en-US" sz="1500" dirty="0"/>
          </a:p>
        </p:txBody>
      </p:sp>
      <p:sp>
        <p:nvSpPr>
          <p:cNvPr id="13" name="panah-fase-239"/>
          <p:cNvSpPr/>
          <p:nvPr/>
        </p:nvSpPr>
        <p:spPr>
          <a:xfrm>
            <a:off x="7806461" y="3108960"/>
            <a:ext cx="3657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kartu-240"/>
          <p:cNvSpPr/>
          <p:nvPr/>
        </p:nvSpPr>
        <p:spPr>
          <a:xfrm>
            <a:off x="8259775" y="1828800"/>
            <a:ext cx="32461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5" name="teks-241"/>
          <p:cNvSpPr txBox="1"/>
          <p:nvPr/>
        </p:nvSpPr>
        <p:spPr>
          <a:xfrm>
            <a:off x="8515807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FASE 3 · BERTAHAP</a:t>
            </a:r>
            <a:endParaRPr lang="en-US" sz="1200" dirty="0"/>
          </a:p>
        </p:txBody>
      </p:sp>
      <p:sp>
        <p:nvSpPr>
          <p:cNvPr id="16" name="teks-242"/>
          <p:cNvSpPr txBox="1"/>
          <p:nvPr/>
        </p:nvSpPr>
        <p:spPr>
          <a:xfrm>
            <a:off x="8515807" y="23774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Skala nasional</a:t>
            </a:r>
            <a:endParaRPr lang="en-US" sz="2100" dirty="0"/>
          </a:p>
        </p:txBody>
      </p:sp>
      <p:sp>
        <p:nvSpPr>
          <p:cNvPr id="17" name="teks-243"/>
          <p:cNvSpPr txBox="1"/>
          <p:nvPr/>
        </p:nvSpPr>
        <p:spPr>
          <a:xfrm>
            <a:off x="8515807" y="288036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 rutin setiap periode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diperbarui dari feedback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per wilayah</a:t>
            </a:r>
            <a:endParaRPr lang="en-US" sz="1500" dirty="0"/>
          </a:p>
        </p:txBody>
      </p:sp>
      <p:sp>
        <p:nvSpPr>
          <p:cNvPr id="18" name="teks-244"/>
          <p:cNvSpPr txBox="1"/>
          <p:nvPr/>
        </p:nvSpPr>
        <p:spPr>
          <a:xfrm>
            <a:off x="685800" y="5074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KEBUTUHAN</a:t>
            </a:r>
            <a:endParaRPr lang="en-US" sz="1200" dirty="0"/>
          </a:p>
        </p:txBody>
      </p:sp>
      <p:sp>
        <p:nvSpPr>
          <p:cNvPr id="19" name="kebutuhan-245"/>
          <p:cNvSpPr/>
          <p:nvPr/>
        </p:nvSpPr>
        <p:spPr>
          <a:xfrm>
            <a:off x="2286000" y="4983480"/>
            <a:ext cx="1929384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0" name="teks-246"/>
          <p:cNvSpPr txBox="1"/>
          <p:nvPr/>
        </p:nvSpPr>
        <p:spPr>
          <a:xfrm>
            <a:off x="2286000" y="49834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Akses data berizin</a:t>
            </a:r>
            <a:endParaRPr lang="en-US" sz="1400" dirty="0"/>
          </a:p>
        </p:txBody>
      </p:sp>
      <p:sp>
        <p:nvSpPr>
          <p:cNvPr id="21" name="kebutuhan-247"/>
          <p:cNvSpPr/>
          <p:nvPr/>
        </p:nvSpPr>
        <p:spPr>
          <a:xfrm>
            <a:off x="4398264" y="4983480"/>
            <a:ext cx="2025396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2" name="teks-248"/>
          <p:cNvSpPr txBox="1"/>
          <p:nvPr/>
        </p:nvSpPr>
        <p:spPr>
          <a:xfrm>
            <a:off x="4398264" y="4983480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Mitra Kantor Cabang</a:t>
            </a:r>
            <a:endParaRPr lang="en-US" sz="1400" dirty="0"/>
          </a:p>
        </p:txBody>
      </p:sp>
      <p:sp>
        <p:nvSpPr>
          <p:cNvPr id="23" name="kebutuhan-249"/>
          <p:cNvSpPr/>
          <p:nvPr/>
        </p:nvSpPr>
        <p:spPr>
          <a:xfrm>
            <a:off x="6606540" y="4983480"/>
            <a:ext cx="1929384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ks-250"/>
          <p:cNvSpPr txBox="1"/>
          <p:nvPr/>
        </p:nvSpPr>
        <p:spPr>
          <a:xfrm>
            <a:off x="6606540" y="498348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Infrastruktur aman</a:t>
            </a:r>
            <a:endParaRPr lang="en-US" sz="1400" dirty="0"/>
          </a:p>
        </p:txBody>
      </p:sp>
      <p:sp>
        <p:nvSpPr>
          <p:cNvPr id="25" name="kebutuhan-251"/>
          <p:cNvSpPr/>
          <p:nvPr/>
        </p:nvSpPr>
        <p:spPr>
          <a:xfrm>
            <a:off x="8718804" y="4983480"/>
            <a:ext cx="2313432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teks-252"/>
          <p:cNvSpPr txBox="1"/>
          <p:nvPr/>
        </p:nvSpPr>
        <p:spPr>
          <a:xfrm>
            <a:off x="8718804" y="49834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Pendampingan pemeriksa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· DAMPAK &amp; METRIK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 kami mengukur keberhasilan</a:t>
            </a:r>
            <a:endParaRPr lang="en-US" sz="4000" dirty="0"/>
          </a:p>
        </p:txBody>
      </p:sp>
      <p:graphicFrame>
        <p:nvGraphicFramePr>
          <p:cNvPr id="17" name="tabel-metri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200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2377440"/>
                <a:gridCol w="28648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Metrik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Target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Hasil prototype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Cara ukur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Precision pada 10% skor tertinggi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≥ 70%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68,4%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Data sintetis berlabel (holdout)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Hit rate vs pemilihan acak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≈ 4,7×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4,6×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Simulasi, lalu pilot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Iuran tertangkap per 100 pemeriksaan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&gt; acak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Rp7,7 M vs Rp0,53 M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Kalkulator PayRay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Waktu menyusun daftar target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Hari ke menit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Detik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Uji alur kerja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Salah tandai pada UMKM patuh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≤ 5%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2,7%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Uji bias per skala usaha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kartu-253"/>
          <p:cNvSpPr/>
          <p:nvPr/>
        </p:nvSpPr>
        <p:spPr>
          <a:xfrm>
            <a:off x="685800" y="4846320"/>
            <a:ext cx="10820095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/>
        </p:spPr>
      </p:sp>
      <p:pic>
        <p:nvPicPr>
          <p:cNvPr id="6" name="ikon-peringata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074920"/>
            <a:ext cx="310896" cy="310896"/>
          </a:xfrm>
          <a:prstGeom prst="rect">
            <a:avLst/>
          </a:prstGeom>
        </p:spPr>
      </p:pic>
      <p:sp>
        <p:nvSpPr>
          <p:cNvPr id="7" name="catatan-metrik"/>
          <p:cNvSpPr txBox="1"/>
          <p:nvPr/>
        </p:nvSpPr>
        <p:spPr>
          <a:xfrm>
            <a:off x="1463040" y="484632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Semua angka adalah hasil pada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simulasi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Nilai riil baru diukur saat pilot.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· PENERIMA MANFAAT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Siapa yang diuntungkan</a:t>
            </a:r>
            <a:endParaRPr lang="en-US" sz="4000" dirty="0"/>
          </a:p>
        </p:txBody>
      </p:sp>
      <p:sp>
        <p:nvSpPr>
          <p:cNvPr id="4" name="kartu-254"/>
          <p:cNvSpPr/>
          <p:nvPr/>
        </p:nvSpPr>
        <p:spPr>
          <a:xfrm>
            <a:off x="685800" y="1828800"/>
            <a:ext cx="5272888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lingkar-ikon-255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kon-2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239183"/>
            <a:ext cx="294803" cy="294803"/>
          </a:xfrm>
          <a:prstGeom prst="rect">
            <a:avLst/>
          </a:prstGeom>
        </p:spPr>
      </p:pic>
      <p:sp>
        <p:nvSpPr>
          <p:cNvPr id="7" name="teks-257"/>
          <p:cNvSpPr txBox="1"/>
          <p:nvPr/>
        </p:nvSpPr>
        <p:spPr>
          <a:xfrm>
            <a:off x="1783080" y="21214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BPJS Kesehatan</a:t>
            </a:r>
            <a:endParaRPr lang="en-US" sz="2000" dirty="0"/>
          </a:p>
        </p:txBody>
      </p:sp>
      <p:sp>
        <p:nvSpPr>
          <p:cNvPr id="8" name="teks-258"/>
          <p:cNvSpPr txBox="1"/>
          <p:nvPr/>
        </p:nvSpPr>
        <p:spPr>
          <a:xfrm>
            <a:off x="1783080" y="2578608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Pemeriksaan lebih tepat sasaran, penerimaan iuran naik.</a:t>
            </a:r>
            <a:endParaRPr lang="en-US" sz="1600" dirty="0"/>
          </a:p>
        </p:txBody>
      </p:sp>
      <p:sp>
        <p:nvSpPr>
          <p:cNvPr id="9" name="kartu-259"/>
          <p:cNvSpPr/>
          <p:nvPr/>
        </p:nvSpPr>
        <p:spPr>
          <a:xfrm>
            <a:off x="6233008" y="1828800"/>
            <a:ext cx="5272888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0" name="lingkar-ikon-260"/>
          <p:cNvSpPr/>
          <p:nvPr/>
        </p:nvSpPr>
        <p:spPr>
          <a:xfrm>
            <a:off x="6507328" y="21031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kon-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390" y="2239183"/>
            <a:ext cx="294803" cy="294803"/>
          </a:xfrm>
          <a:prstGeom prst="rect">
            <a:avLst/>
          </a:prstGeom>
        </p:spPr>
      </p:pic>
      <p:sp>
        <p:nvSpPr>
          <p:cNvPr id="12" name="teks-262"/>
          <p:cNvSpPr txBox="1"/>
          <p:nvPr/>
        </p:nvSpPr>
        <p:spPr>
          <a:xfrm>
            <a:off x="7330288" y="212140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Pekerja</a:t>
            </a:r>
            <a:endParaRPr lang="en-US" sz="2000" dirty="0"/>
          </a:p>
        </p:txBody>
      </p:sp>
      <p:sp>
        <p:nvSpPr>
          <p:cNvPr id="13" name="teks-263"/>
          <p:cNvSpPr txBox="1"/>
          <p:nvPr/>
        </p:nvSpPr>
        <p:spPr>
          <a:xfrm>
            <a:off x="7330288" y="2578608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Terdaftar sesuai upah dan status sebenarnya, tidak dipindah diam-diam ke segmen mandiri.</a:t>
            </a:r>
            <a:endParaRPr lang="en-US" sz="1600" dirty="0"/>
          </a:p>
        </p:txBody>
      </p:sp>
      <p:sp>
        <p:nvSpPr>
          <p:cNvPr id="14" name="kartu-264"/>
          <p:cNvSpPr/>
          <p:nvPr/>
        </p:nvSpPr>
        <p:spPr>
          <a:xfrm>
            <a:off x="685800" y="3840480"/>
            <a:ext cx="5272888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5" name="lingkar-ikon-265"/>
          <p:cNvSpPr/>
          <p:nvPr/>
        </p:nvSpPr>
        <p:spPr>
          <a:xfrm>
            <a:off x="960120" y="411480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kon-2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4250863"/>
            <a:ext cx="294803" cy="294803"/>
          </a:xfrm>
          <a:prstGeom prst="rect">
            <a:avLst/>
          </a:prstGeom>
        </p:spPr>
      </p:pic>
      <p:sp>
        <p:nvSpPr>
          <p:cNvPr id="17" name="teks-267"/>
          <p:cNvSpPr txBox="1"/>
          <p:nvPr/>
        </p:nvSpPr>
        <p:spPr>
          <a:xfrm>
            <a:off x="1783080" y="413308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Pemberi kerja yang patuh</a:t>
            </a:r>
            <a:endParaRPr lang="en-US" sz="2000" dirty="0"/>
          </a:p>
        </p:txBody>
      </p:sp>
      <p:sp>
        <p:nvSpPr>
          <p:cNvPr id="18" name="teks-268"/>
          <p:cNvSpPr txBox="1"/>
          <p:nvPr/>
        </p:nvSpPr>
        <p:spPr>
          <a:xfrm>
            <a:off x="1783080" y="4590288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Persaingan lebih adil, dan tidak diperiksa tanpa alasan yang jelas.</a:t>
            </a:r>
            <a:endParaRPr lang="en-US" sz="1600" dirty="0"/>
          </a:p>
        </p:txBody>
      </p:sp>
      <p:sp>
        <p:nvSpPr>
          <p:cNvPr id="19" name="kartu-269"/>
          <p:cNvSpPr/>
          <p:nvPr/>
        </p:nvSpPr>
        <p:spPr>
          <a:xfrm>
            <a:off x="6233008" y="3840480"/>
            <a:ext cx="5272888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0" name="lingkar-ikon-270"/>
          <p:cNvSpPr/>
          <p:nvPr/>
        </p:nvSpPr>
        <p:spPr>
          <a:xfrm>
            <a:off x="6507328" y="411480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kon-2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390" y="4250863"/>
            <a:ext cx="294803" cy="294803"/>
          </a:xfrm>
          <a:prstGeom prst="rect">
            <a:avLst/>
          </a:prstGeom>
        </p:spPr>
      </p:pic>
      <p:sp>
        <p:nvSpPr>
          <p:cNvPr id="22" name="teks-272"/>
          <p:cNvSpPr txBox="1"/>
          <p:nvPr/>
        </p:nvSpPr>
        <p:spPr>
          <a:xfrm>
            <a:off x="7330288" y="4133088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 JKN</a:t>
            </a:r>
            <a:endParaRPr lang="en-US" sz="2000" dirty="0"/>
          </a:p>
        </p:txBody>
      </p:sp>
      <p:sp>
        <p:nvSpPr>
          <p:cNvPr id="23" name="teks-273"/>
          <p:cNvSpPr txBox="1"/>
          <p:nvPr/>
        </p:nvSpPr>
        <p:spPr>
          <a:xfrm>
            <a:off x="7330288" y="4590288"/>
            <a:ext cx="3901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Dana lebih berkelanjutan, gotong royong lebih adil.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 · RISIKO, PRIVASI &amp; ETIKA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Dirancang aman sejak awal</a:t>
            </a:r>
            <a:endParaRPr lang="en-US" sz="4000" dirty="0"/>
          </a:p>
        </p:txBody>
      </p:sp>
      <p:sp>
        <p:nvSpPr>
          <p:cNvPr id="4" name="kartu-274"/>
          <p:cNvSpPr/>
          <p:nvPr/>
        </p:nvSpPr>
        <p:spPr>
          <a:xfrm>
            <a:off x="685800" y="1783080"/>
            <a:ext cx="5272888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lingkar-ikon-275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kon-2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237744" cy="237744"/>
          </a:xfrm>
          <a:prstGeom prst="rect">
            <a:avLst/>
          </a:prstGeom>
        </p:spPr>
      </p:pic>
      <p:sp>
        <p:nvSpPr>
          <p:cNvPr id="7" name="teks-277"/>
          <p:cNvSpPr txBox="1"/>
          <p:nvPr/>
        </p:nvSpPr>
        <p:spPr>
          <a:xfrm>
            <a:off x="1554480" y="2039112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Perlindungan data (UU PDP)</a:t>
            </a:r>
            <a:endParaRPr lang="en-US" sz="1800" dirty="0"/>
          </a:p>
        </p:txBody>
      </p:sp>
      <p:sp>
        <p:nvSpPr>
          <p:cNvPr id="8" name="teks-278"/>
          <p:cNvSpPr txBox="1"/>
          <p:nvPr/>
        </p:nvSpPr>
        <p:spPr>
          <a:xfrm>
            <a:off x="960120" y="25603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Prototype 100% data sintetis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Analisis agregat per badan usaha, NIK dipseudonimisasi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Enkripsi, akses berbasis peran, audit log</a:t>
            </a:r>
            <a:endParaRPr lang="en-US" sz="1400" dirty="0"/>
          </a:p>
        </p:txBody>
      </p:sp>
      <p:sp>
        <p:nvSpPr>
          <p:cNvPr id="9" name="kartu-279"/>
          <p:cNvSpPr/>
          <p:nvPr/>
        </p:nvSpPr>
        <p:spPr>
          <a:xfrm>
            <a:off x="6233008" y="1783080"/>
            <a:ext cx="5272888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0" name="lingkar-ikon-280"/>
          <p:cNvSpPr/>
          <p:nvPr/>
        </p:nvSpPr>
        <p:spPr>
          <a:xfrm>
            <a:off x="6507328" y="2011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kon-2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056" y="2121408"/>
            <a:ext cx="237744" cy="237744"/>
          </a:xfrm>
          <a:prstGeom prst="rect">
            <a:avLst/>
          </a:prstGeom>
        </p:spPr>
      </p:pic>
      <p:sp>
        <p:nvSpPr>
          <p:cNvPr id="12" name="teks-282"/>
          <p:cNvSpPr txBox="1"/>
          <p:nvPr/>
        </p:nvSpPr>
        <p:spPr>
          <a:xfrm>
            <a:off x="7101688" y="2039112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&amp; keterbatasan</a:t>
            </a:r>
            <a:endParaRPr lang="en-US" sz="1800" dirty="0"/>
          </a:p>
        </p:txBody>
      </p:sp>
      <p:sp>
        <p:nvSpPr>
          <p:cNvPr id="13" name="teks-283"/>
          <p:cNvSpPr txBox="1"/>
          <p:nvPr/>
        </p:nvSpPr>
        <p:spPr>
          <a:xfrm>
            <a:off x="6507328" y="25603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UMKM dikecualikan dari upah minimum (PP 36/2021): aturan dibedakan per skala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Wilayah minim data diberi keyakinan rendah</a:t>
            </a:r>
            <a:endParaRPr lang="en-US" sz="1400" dirty="0"/>
          </a:p>
        </p:txBody>
      </p:sp>
      <p:sp>
        <p:nvSpPr>
          <p:cNvPr id="14" name="kartu-284"/>
          <p:cNvSpPr/>
          <p:nvPr/>
        </p:nvSpPr>
        <p:spPr>
          <a:xfrm>
            <a:off x="685800" y="3840480"/>
            <a:ext cx="5272888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5" name="lingkar-ikon-285"/>
          <p:cNvSpPr/>
          <p:nvPr/>
        </p:nvSpPr>
        <p:spPr>
          <a:xfrm>
            <a:off x="960120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kon-28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178808"/>
            <a:ext cx="237744" cy="237744"/>
          </a:xfrm>
          <a:prstGeom prst="rect">
            <a:avLst/>
          </a:prstGeom>
        </p:spPr>
      </p:pic>
      <p:sp>
        <p:nvSpPr>
          <p:cNvPr id="17" name="teks-287"/>
          <p:cNvSpPr txBox="1"/>
          <p:nvPr/>
        </p:nvSpPr>
        <p:spPr>
          <a:xfrm>
            <a:off x="1554480" y="4096512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18" name="teks-288"/>
          <p:cNvSpPr txBox="1"/>
          <p:nvPr/>
        </p:nvSpPr>
        <p:spPr>
          <a:xfrm>
            <a:off x="960120" y="46177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PayRay hanya mengurutkan prioritas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Keputusan pemeriksaan &amp; sanksi tetap di petugas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Hasil pemeriksaan kembali jadi label</a:t>
            </a:r>
            <a:endParaRPr lang="en-US" sz="1400" dirty="0"/>
          </a:p>
        </p:txBody>
      </p:sp>
      <p:sp>
        <p:nvSpPr>
          <p:cNvPr id="19" name="kartu-289"/>
          <p:cNvSpPr/>
          <p:nvPr/>
        </p:nvSpPr>
        <p:spPr>
          <a:xfrm>
            <a:off x="6233008" y="3840480"/>
            <a:ext cx="5272888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20" name="lingkar-ikon-290"/>
          <p:cNvSpPr/>
          <p:nvPr/>
        </p:nvSpPr>
        <p:spPr>
          <a:xfrm>
            <a:off x="6507328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kon-29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56" y="4178808"/>
            <a:ext cx="237744" cy="237744"/>
          </a:xfrm>
          <a:prstGeom prst="rect">
            <a:avLst/>
          </a:prstGeom>
        </p:spPr>
      </p:pic>
      <p:sp>
        <p:nvSpPr>
          <p:cNvPr id="22" name="teks-292"/>
          <p:cNvSpPr txBox="1"/>
          <p:nvPr/>
        </p:nvSpPr>
        <p:spPr>
          <a:xfrm>
            <a:off x="7101688" y="4096512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Mitigasi risiko utama</a:t>
            </a:r>
            <a:endParaRPr lang="en-US" sz="1800" dirty="0"/>
          </a:p>
        </p:txBody>
      </p:sp>
      <p:sp>
        <p:nvSpPr>
          <p:cNvPr id="23" name="teks-293"/>
          <p:cNvSpPr txBox="1"/>
          <p:nvPr/>
        </p:nvSpPr>
        <p:spPr>
          <a:xfrm>
            <a:off x="6507328" y="46177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Salah tandai → ambang skor + review petugas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usang → retrain berkala dari feedback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Kebocoran data → minimisasi data + enkripsi</a:t>
            </a:r>
            <a:endParaRPr lang="en-US" sz="1400" dirty="0"/>
          </a:p>
        </p:txBody>
      </p:sp>
      <p:sp>
        <p:nvSpPr>
          <p:cNvPr id="24" name="teks-294"/>
          <p:cNvSpPr txBox="1"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Tidak menggunakan data peserta JKN riil tanpa izin resmi dari pihak berwenang.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 · PROFIL TIM · PLAN WITH US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85800" y="8686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Teknis, data, dan produk</a:t>
            </a:r>
            <a:endParaRPr lang="en-US" sz="4000" dirty="0"/>
          </a:p>
        </p:txBody>
      </p:sp>
      <p:sp>
        <p:nvSpPr>
          <p:cNvPr id="4" name="kartu-295"/>
          <p:cNvSpPr/>
          <p:nvPr/>
        </p:nvSpPr>
        <p:spPr>
          <a:xfrm>
            <a:off x="685800" y="1828800"/>
            <a:ext cx="3423818" cy="370332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5" name="avatar-296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1B7F57"/>
          </a:solidFill>
          <a:ln/>
        </p:spPr>
      </p:sp>
      <p:sp>
        <p:nvSpPr>
          <p:cNvPr id="6" name="teks-297"/>
          <p:cNvSpPr txBox="1"/>
          <p:nvPr/>
        </p:nvSpPr>
        <p:spPr>
          <a:xfrm>
            <a:off x="9601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RH</a:t>
            </a:r>
            <a:endParaRPr lang="en-US" sz="2400" dirty="0"/>
          </a:p>
        </p:txBody>
      </p:sp>
      <p:pic>
        <p:nvPicPr>
          <p:cNvPr id="7" name="ikon-linkedin-2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331720"/>
            <a:ext cx="219456" cy="219456"/>
          </a:xfrm>
          <a:prstGeom prst="rect">
            <a:avLst/>
          </a:prstGeom>
        </p:spPr>
      </p:pic>
      <p:sp>
        <p:nvSpPr>
          <p:cNvPr id="8" name="teks-299"/>
          <p:cNvSpPr txBox="1"/>
          <p:nvPr/>
        </p:nvSpPr>
        <p:spPr>
          <a:xfrm>
            <a:off x="2103120" y="2286000"/>
            <a:ext cx="1777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2" invalidUrl="" action="" tgtFrame="" tooltip="LinkedIn Rachdian Habi Yahy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/in/rachdiaaan</a:t>
            </a:r>
            <a:endParaRPr lang="en-US" sz="1300" dirty="0"/>
          </a:p>
        </p:txBody>
      </p:sp>
      <p:sp>
        <p:nvSpPr>
          <p:cNvPr id="9" name="teks-300"/>
          <p:cNvSpPr txBox="1"/>
          <p:nvPr/>
        </p:nvSpPr>
        <p:spPr>
          <a:xfrm>
            <a:off x="960120" y="29260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Rachdian Habi Yahya</a:t>
            </a:r>
            <a:endParaRPr lang="en-US" sz="1800" dirty="0"/>
          </a:p>
        </p:txBody>
      </p:sp>
      <p:sp>
        <p:nvSpPr>
          <p:cNvPr id="10" name="teks-301"/>
          <p:cNvSpPr txBox="1"/>
          <p:nvPr/>
        </p:nvSpPr>
        <p:spPr>
          <a:xfrm>
            <a:off x="960120" y="32918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Ketua Tim · Data Scientist</a:t>
            </a:r>
            <a:endParaRPr lang="en-US" sz="1400" dirty="0"/>
          </a:p>
        </p:txBody>
      </p:sp>
      <p:sp>
        <p:nvSpPr>
          <p:cNvPr id="11" name="teks-302"/>
          <p:cNvSpPr txBox="1"/>
          <p:nvPr/>
        </p:nvSpPr>
        <p:spPr>
          <a:xfrm>
            <a:off x="960120" y="3703320"/>
            <a:ext cx="2920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Mahasiswa S2 Digital Business Strategy, Telkom University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Peran: pemodelan, evaluasi, uji bias per skala usaha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Menerjemahkan hasil model ke nilai bisnis &amp; kebijakan</a:t>
            </a:r>
            <a:endParaRPr lang="en-US" sz="1400" dirty="0"/>
          </a:p>
        </p:txBody>
      </p:sp>
      <p:sp>
        <p:nvSpPr>
          <p:cNvPr id="12" name="kartu-303"/>
          <p:cNvSpPr/>
          <p:nvPr/>
        </p:nvSpPr>
        <p:spPr>
          <a:xfrm>
            <a:off x="4383938" y="1828800"/>
            <a:ext cx="3423818" cy="370332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3" name="avatar-304"/>
          <p:cNvSpPr/>
          <p:nvPr/>
        </p:nvSpPr>
        <p:spPr>
          <a:xfrm>
            <a:off x="4658258" y="2103120"/>
            <a:ext cx="685800" cy="685800"/>
          </a:xfrm>
          <a:prstGeom prst="ellipse">
            <a:avLst/>
          </a:prstGeom>
          <a:solidFill>
            <a:srgbClr val="2A9D6F"/>
          </a:solidFill>
          <a:ln/>
        </p:spPr>
      </p:sp>
      <p:sp>
        <p:nvSpPr>
          <p:cNvPr id="14" name="teks-305"/>
          <p:cNvSpPr txBox="1"/>
          <p:nvPr/>
        </p:nvSpPr>
        <p:spPr>
          <a:xfrm>
            <a:off x="4658258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</a:t>
            </a:r>
            <a:endParaRPr lang="en-US" sz="2400" dirty="0"/>
          </a:p>
        </p:txBody>
      </p:sp>
      <p:sp>
        <p:nvSpPr>
          <p:cNvPr id="15" name="teks-306"/>
          <p:cNvSpPr txBox="1"/>
          <p:nvPr/>
        </p:nvSpPr>
        <p:spPr>
          <a:xfrm>
            <a:off x="4658258" y="29260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Rifqi Sigwan Nugraha</a:t>
            </a:r>
            <a:endParaRPr lang="en-US" sz="1800" dirty="0"/>
          </a:p>
        </p:txBody>
      </p:sp>
      <p:sp>
        <p:nvSpPr>
          <p:cNvPr id="16" name="teks-307"/>
          <p:cNvSpPr txBox="1"/>
          <p:nvPr/>
        </p:nvSpPr>
        <p:spPr>
          <a:xfrm>
            <a:off x="4658258" y="32918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Lead Engineer · Backend &amp; AI</a:t>
            </a:r>
            <a:endParaRPr lang="en-US" sz="1400" dirty="0"/>
          </a:p>
        </p:txBody>
      </p:sp>
      <p:sp>
        <p:nvSpPr>
          <p:cNvPr id="17" name="teks-308"/>
          <p:cNvSpPr txBox="1"/>
          <p:nvPr/>
        </p:nvSpPr>
        <p:spPr>
          <a:xfrm>
            <a:off x="4658258" y="3703320"/>
            <a:ext cx="2920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Lulusan IT, Telkom University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Co-founder Plus The Site (agensi web &amp; software)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Python, FastAPI, PostgreSQL, multi-agent AI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Publikasi ICORIS 2024 (pemodelan data IoT)</a:t>
            </a:r>
            <a:endParaRPr lang="en-US" sz="1400" dirty="0"/>
          </a:p>
        </p:txBody>
      </p:sp>
      <p:sp>
        <p:nvSpPr>
          <p:cNvPr id="18" name="kartu-309"/>
          <p:cNvSpPr/>
          <p:nvPr/>
        </p:nvSpPr>
        <p:spPr>
          <a:xfrm>
            <a:off x="8082077" y="1828800"/>
            <a:ext cx="3423818" cy="3703320"/>
          </a:xfrm>
          <a:prstGeom prst="roundRect">
            <a:avLst>
              <a:gd name="adj" fmla="val 3205"/>
            </a:avLst>
          </a:prstGeom>
          <a:solidFill>
            <a:schemeClr val="bg1"/>
          </a:solidFill>
          <a:ln w="9525">
            <a:solidFill>
              <a:srgbClr val="DEDCD4"/>
            </a:solidFill>
            <a:prstDash val="solid"/>
          </a:ln>
        </p:spPr>
      </p:sp>
      <p:sp>
        <p:nvSpPr>
          <p:cNvPr id="19" name="avatar-310"/>
          <p:cNvSpPr/>
          <p:nvPr/>
        </p:nvSpPr>
        <p:spPr>
          <a:xfrm>
            <a:off x="8356397" y="2103120"/>
            <a:ext cx="685800" cy="685800"/>
          </a:xfrm>
          <a:prstGeom prst="ellipse">
            <a:avLst/>
          </a:prstGeom>
          <a:solidFill>
            <a:srgbClr val="A6CE39"/>
          </a:solidFill>
          <a:ln/>
        </p:spPr>
      </p:sp>
      <p:sp>
        <p:nvSpPr>
          <p:cNvPr id="20" name="teks-311"/>
          <p:cNvSpPr txBox="1"/>
          <p:nvPr/>
        </p:nvSpPr>
        <p:spPr>
          <a:xfrm>
            <a:off x="8356397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MG</a:t>
            </a:r>
            <a:endParaRPr lang="en-US" sz="2400" dirty="0"/>
          </a:p>
        </p:txBody>
      </p:sp>
      <p:pic>
        <p:nvPicPr>
          <p:cNvPr id="21" name="ikon-linkedin-3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077" y="2331720"/>
            <a:ext cx="219456" cy="219456"/>
          </a:xfrm>
          <a:prstGeom prst="rect">
            <a:avLst/>
          </a:prstGeom>
        </p:spPr>
      </p:pic>
      <p:sp>
        <p:nvSpPr>
          <p:cNvPr id="22" name="teks-313"/>
          <p:cNvSpPr txBox="1"/>
          <p:nvPr/>
        </p:nvSpPr>
        <p:spPr>
          <a:xfrm>
            <a:off x="9499397" y="2286000"/>
            <a:ext cx="1777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LinkedIn Muhammad Al Ghan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/in/muhammad-al-ghani</a:t>
            </a:r>
            <a:endParaRPr lang="en-US" sz="1300" dirty="0"/>
          </a:p>
        </p:txBody>
      </p:sp>
      <p:sp>
        <p:nvSpPr>
          <p:cNvPr id="23" name="teks-314"/>
          <p:cNvSpPr txBox="1"/>
          <p:nvPr/>
        </p:nvSpPr>
        <p:spPr>
          <a:xfrm>
            <a:off x="8356397" y="292608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Al Ghani</a:t>
            </a:r>
            <a:endParaRPr lang="en-US" sz="1800" dirty="0"/>
          </a:p>
        </p:txBody>
      </p:sp>
      <p:sp>
        <p:nvSpPr>
          <p:cNvPr id="24" name="teks-315"/>
          <p:cNvSpPr txBox="1"/>
          <p:nvPr/>
        </p:nvSpPr>
        <p:spPr>
          <a:xfrm>
            <a:off x="8356397" y="32918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Product Manager</a:t>
            </a:r>
            <a:endParaRPr lang="en-US" sz="1400" dirty="0"/>
          </a:p>
        </p:txBody>
      </p:sp>
      <p:sp>
        <p:nvSpPr>
          <p:cNvPr id="25" name="teks-316"/>
          <p:cNvSpPr txBox="1"/>
          <p:nvPr/>
        </p:nvSpPr>
        <p:spPr>
          <a:xfrm>
            <a:off x="8356397" y="3703320"/>
            <a:ext cx="29208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UI/UX Designer di Torch.id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Peran: kebutuhan petugas &amp; alur kerja pemeriksaan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Desain dashboard &amp; lembar hasil scan, proposal &amp; demo</a:t>
            </a:r>
            <a:endParaRPr lang="en-US" sz="1400" dirty="0"/>
          </a:p>
        </p:txBody>
      </p:sp>
      <p:sp>
        <p:nvSpPr>
          <p:cNvPr id="26" name="teks-317"/>
          <p:cNvSpPr txBox="1"/>
          <p:nvPr/>
        </p:nvSpPr>
        <p:spPr>
          <a:xfrm>
            <a:off x="685800" y="57607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Kami membangun, mengukur, dan memastikan PayRay masuk akal di lapangan.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-penutup"/>
          <p:cNvSpPr txBox="1"/>
          <p:nvPr/>
        </p:nvSpPr>
        <p:spPr>
          <a:xfrm>
            <a:off x="0" y="1874520"/>
            <a:ext cx="12191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</a:t>
            </a:r>
            <a:pPr algn="ctr" indent="0" marL="0">
              <a:buNone/>
            </a:pPr>
            <a:r>
              <a:rPr lang="en-US" sz="9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Ray</a:t>
            </a:r>
            <a:endParaRPr lang="en-US" sz="9200" dirty="0"/>
          </a:p>
        </p:txBody>
      </p:sp>
      <p:sp>
        <p:nvSpPr>
          <p:cNvPr id="3" name="teks-318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Memeriksa yang tepat, lebih dulu.</a:t>
            </a:r>
            <a:endParaRPr lang="en-US" sz="3000" dirty="0"/>
          </a:p>
        </p:txBody>
      </p:sp>
      <p:sp>
        <p:nvSpPr>
          <p:cNvPr id="4" name="teks-319"/>
          <p:cNvSpPr txBox="1"/>
          <p:nvPr/>
        </p:nvSpPr>
        <p:spPr>
          <a:xfrm>
            <a:off x="0" y="39319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7C9"/>
                </a:solidFill>
              </a:rPr>
              <a:t>Rontgen kepatuhan pemberi kerja untuk JKN yang lebih kuat.</a:t>
            </a:r>
            <a:endParaRPr lang="en-US" sz="2000" dirty="0"/>
          </a:p>
        </p:txBody>
      </p:sp>
      <p:sp>
        <p:nvSpPr>
          <p:cNvPr id="5" name="teks-320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7C9"/>
                </a:solidFill>
              </a:rPr>
              <a:t>Tim Plan with Us · rachdiaaan@gmail.com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Ray">
  <a:themeElements>
    <a:clrScheme name="PayRay">
      <a:dk1>
        <a:srgbClr val="172A30"/>
      </a:dk1>
      <a:lt1>
        <a:srgbClr val="FFFFFF"/>
      </a:lt1>
      <a:dk2>
        <a:srgbClr val="0E1C20"/>
      </a:dk2>
      <a:lt2>
        <a:srgbClr val="F3F2EE"/>
      </a:lt2>
      <a:accent1>
        <a:srgbClr val="1B7F57"/>
      </a:accent1>
      <a:accent2>
        <a:srgbClr val="A6CE39"/>
      </a:accent2>
      <a:accent3>
        <a:srgbClr val="17343A"/>
      </a:accent3>
      <a:accent4>
        <a:srgbClr val="9A3B12"/>
      </a:accent4>
      <a:accent5>
        <a:srgbClr val="5B6B70"/>
      </a:accent5>
      <a:accent6>
        <a:srgbClr val="E3EFE7"/>
      </a:accent6>
      <a:hlink>
        <a:srgbClr val="1B7F57"/>
      </a:hlink>
      <a:folHlink>
        <a:srgbClr val="5B6B70"/>
      </a:folHlink>
    </a:clrScheme>
    <a:fontScheme name="PayRay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PayRay · Healthkathon 2026</dc:title>
  <dc:subject>PptxGenJS Presentation</dc:subject>
  <dc:creator>Tim PayRay</dc:creator>
  <cp:lastModifiedBy>Tim PayRay</cp:lastModifiedBy>
  <cp:revision>1</cp:revision>
  <dcterms:created xsi:type="dcterms:W3CDTF">2026-10-10T11:36:58Z</dcterms:created>
  <dcterms:modified xsi:type="dcterms:W3CDTF">2026-10-10T11:36:58Z</dcterms:modified>
</cp:coreProperties>
</file>